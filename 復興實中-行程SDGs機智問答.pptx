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 id="257" r:id="rId3"/>
    <p:sldId id="259" r:id="rId4"/>
    <p:sldId id="258" r:id="rId5"/>
    <p:sldId id="261" r:id="rId6"/>
    <p:sldId id="260" r:id="rId7"/>
    <p:sldId id="262" r:id="rId8"/>
    <p:sldId id="263" r:id="rId9"/>
    <p:sldId id="264" r:id="rId10"/>
    <p:sldId id="265" r:id="rId11"/>
    <p:sldId id="266" r:id="rId12"/>
    <p:sldId id="267" r:id="rId13"/>
    <p:sldId id="268" r:id="rId1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B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58"/>
  </p:normalViewPr>
  <p:slideViewPr>
    <p:cSldViewPr snapToGrid="0">
      <p:cViewPr>
        <p:scale>
          <a:sx n="98" d="100"/>
          <a:sy n="98" d="100"/>
        </p:scale>
        <p:origin x="1632"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zh-TW" altLang="en-US"/>
              <a:t>按一下以編輯母片標題樣式</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C4508BF2-0F77-4F44-BE6A-27F8770BC88A}" type="datetimeFigureOut">
              <a:rPr kumimoji="1" lang="zh-TW" altLang="en-US" smtClean="0"/>
              <a:t>2026/5/12</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899C84BA-4AFD-974B-9C66-4050DEA1355D}" type="slidenum">
              <a:rPr kumimoji="1" lang="zh-TW" altLang="en-US" smtClean="0"/>
              <a:t>‹#›</a:t>
            </a:fld>
            <a:endParaRPr kumimoji="1" lang="zh-TW" altLang="en-US"/>
          </a:p>
        </p:txBody>
      </p:sp>
    </p:spTree>
    <p:extLst>
      <p:ext uri="{BB962C8B-B14F-4D97-AF65-F5344CB8AC3E}">
        <p14:creationId xmlns:p14="http://schemas.microsoft.com/office/powerpoint/2010/main" val="1232502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C4508BF2-0F77-4F44-BE6A-27F8770BC88A}" type="datetimeFigureOut">
              <a:rPr kumimoji="1" lang="zh-TW" altLang="en-US" smtClean="0"/>
              <a:t>2026/5/12</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899C84BA-4AFD-974B-9C66-4050DEA1355D}" type="slidenum">
              <a:rPr kumimoji="1" lang="zh-TW" altLang="en-US" smtClean="0"/>
              <a:t>‹#›</a:t>
            </a:fld>
            <a:endParaRPr kumimoji="1" lang="zh-TW" altLang="en-US"/>
          </a:p>
        </p:txBody>
      </p:sp>
    </p:spTree>
    <p:extLst>
      <p:ext uri="{BB962C8B-B14F-4D97-AF65-F5344CB8AC3E}">
        <p14:creationId xmlns:p14="http://schemas.microsoft.com/office/powerpoint/2010/main" val="123061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zh-TW" altLang="en-US"/>
              <a:t>按一下以編輯母片標題樣式</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C4508BF2-0F77-4F44-BE6A-27F8770BC88A}" type="datetimeFigureOut">
              <a:rPr kumimoji="1" lang="zh-TW" altLang="en-US" smtClean="0"/>
              <a:t>2026/5/12</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899C84BA-4AFD-974B-9C66-4050DEA1355D}" type="slidenum">
              <a:rPr kumimoji="1" lang="zh-TW" altLang="en-US" smtClean="0"/>
              <a:t>‹#›</a:t>
            </a:fld>
            <a:endParaRPr kumimoji="1" lang="zh-TW" altLang="en-US"/>
          </a:p>
        </p:txBody>
      </p:sp>
    </p:spTree>
    <p:extLst>
      <p:ext uri="{BB962C8B-B14F-4D97-AF65-F5344CB8AC3E}">
        <p14:creationId xmlns:p14="http://schemas.microsoft.com/office/powerpoint/2010/main" val="933813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C4508BF2-0F77-4F44-BE6A-27F8770BC88A}" type="datetimeFigureOut">
              <a:rPr kumimoji="1" lang="zh-TW" altLang="en-US" smtClean="0"/>
              <a:t>2026/5/12</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899C84BA-4AFD-974B-9C66-4050DEA1355D}" type="slidenum">
              <a:rPr kumimoji="1" lang="zh-TW" altLang="en-US" smtClean="0"/>
              <a:t>‹#›</a:t>
            </a:fld>
            <a:endParaRPr kumimoji="1" lang="zh-TW" altLang="en-US"/>
          </a:p>
        </p:txBody>
      </p:sp>
    </p:spTree>
    <p:extLst>
      <p:ext uri="{BB962C8B-B14F-4D97-AF65-F5344CB8AC3E}">
        <p14:creationId xmlns:p14="http://schemas.microsoft.com/office/powerpoint/2010/main" val="13178935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a:t>按一下以編輯母片文字樣式</a:t>
            </a:r>
          </a:p>
        </p:txBody>
      </p:sp>
      <p:sp>
        <p:nvSpPr>
          <p:cNvPr id="4" name="Content Placeholder 3"/>
          <p:cNvSpPr>
            <a:spLocks noGrp="1"/>
          </p:cNvSpPr>
          <p:nvPr>
            <p:ph sz="half" idx="2"/>
          </p:nvPr>
        </p:nvSpPr>
        <p:spPr>
          <a:xfrm>
            <a:off x="472381" y="3618442"/>
            <a:ext cx="2901255" cy="5322183"/>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a:t>按一下以編輯母片文字樣式</a:t>
            </a:r>
          </a:p>
        </p:txBody>
      </p:sp>
      <p:sp>
        <p:nvSpPr>
          <p:cNvPr id="6" name="Content Placeholder 5"/>
          <p:cNvSpPr>
            <a:spLocks noGrp="1"/>
          </p:cNvSpPr>
          <p:nvPr>
            <p:ph sz="quarter" idx="4"/>
          </p:nvPr>
        </p:nvSpPr>
        <p:spPr>
          <a:xfrm>
            <a:off x="3471863" y="3618442"/>
            <a:ext cx="2915543" cy="5322183"/>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C4508BF2-0F77-4F44-BE6A-27F8770BC88A}" type="datetimeFigureOut">
              <a:rPr kumimoji="1" lang="zh-TW" altLang="en-US" smtClean="0"/>
              <a:t>2026/5/12</a:t>
            </a:fld>
            <a:endParaRPr kumimoji="1" lang="zh-TW" altLang="en-US"/>
          </a:p>
        </p:txBody>
      </p:sp>
      <p:sp>
        <p:nvSpPr>
          <p:cNvPr id="8" name="Footer Placeholder 7"/>
          <p:cNvSpPr>
            <a:spLocks noGrp="1"/>
          </p:cNvSpPr>
          <p:nvPr>
            <p:ph type="ftr" sz="quarter" idx="11"/>
          </p:nvPr>
        </p:nvSpPr>
        <p:spPr/>
        <p:txBody>
          <a:bodyPr/>
          <a:lstStyle/>
          <a:p>
            <a:endParaRPr kumimoji="1" lang="zh-TW" altLang="en-US"/>
          </a:p>
        </p:txBody>
      </p:sp>
      <p:sp>
        <p:nvSpPr>
          <p:cNvPr id="9" name="Slide Number Placeholder 8"/>
          <p:cNvSpPr>
            <a:spLocks noGrp="1"/>
          </p:cNvSpPr>
          <p:nvPr>
            <p:ph type="sldNum" sz="quarter" idx="12"/>
          </p:nvPr>
        </p:nvSpPr>
        <p:spPr/>
        <p:txBody>
          <a:bodyPr/>
          <a:lstStyle/>
          <a:p>
            <a:fld id="{899C84BA-4AFD-974B-9C66-4050DEA1355D}" type="slidenum">
              <a:rPr kumimoji="1" lang="zh-TW" altLang="en-US" smtClean="0"/>
              <a:t>‹#›</a:t>
            </a:fld>
            <a:endParaRPr kumimoji="1" lang="zh-TW" altLang="en-US"/>
          </a:p>
        </p:txBody>
      </p:sp>
    </p:spTree>
    <p:extLst>
      <p:ext uri="{BB962C8B-B14F-4D97-AF65-F5344CB8AC3E}">
        <p14:creationId xmlns:p14="http://schemas.microsoft.com/office/powerpoint/2010/main" val="2911987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C4508BF2-0F77-4F44-BE6A-27F8770BC88A}" type="datetimeFigureOut">
              <a:rPr kumimoji="1" lang="zh-TW" altLang="en-US" smtClean="0"/>
              <a:t>2026/5/12</a:t>
            </a:fld>
            <a:endParaRPr kumimoji="1" lang="zh-TW" altLang="en-US"/>
          </a:p>
        </p:txBody>
      </p:sp>
      <p:sp>
        <p:nvSpPr>
          <p:cNvPr id="4" name="Footer Placeholder 3"/>
          <p:cNvSpPr>
            <a:spLocks noGrp="1"/>
          </p:cNvSpPr>
          <p:nvPr>
            <p:ph type="ftr" sz="quarter" idx="11"/>
          </p:nvPr>
        </p:nvSpPr>
        <p:spPr/>
        <p:txBody>
          <a:bodyPr/>
          <a:lstStyle/>
          <a:p>
            <a:endParaRPr kumimoji="1" lang="zh-TW" altLang="en-US"/>
          </a:p>
        </p:txBody>
      </p:sp>
      <p:sp>
        <p:nvSpPr>
          <p:cNvPr id="5" name="Slide Number Placeholder 4"/>
          <p:cNvSpPr>
            <a:spLocks noGrp="1"/>
          </p:cNvSpPr>
          <p:nvPr>
            <p:ph type="sldNum" sz="quarter" idx="12"/>
          </p:nvPr>
        </p:nvSpPr>
        <p:spPr/>
        <p:txBody>
          <a:bodyPr/>
          <a:lstStyle/>
          <a:p>
            <a:fld id="{899C84BA-4AFD-974B-9C66-4050DEA1355D}" type="slidenum">
              <a:rPr kumimoji="1" lang="zh-TW" altLang="en-US" smtClean="0"/>
              <a:t>‹#›</a:t>
            </a:fld>
            <a:endParaRPr kumimoji="1" lang="zh-TW" altLang="en-US"/>
          </a:p>
        </p:txBody>
      </p:sp>
    </p:spTree>
    <p:extLst>
      <p:ext uri="{BB962C8B-B14F-4D97-AF65-F5344CB8AC3E}">
        <p14:creationId xmlns:p14="http://schemas.microsoft.com/office/powerpoint/2010/main" val="3459223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508BF2-0F77-4F44-BE6A-27F8770BC88A}" type="datetimeFigureOut">
              <a:rPr kumimoji="1" lang="zh-TW" altLang="en-US" smtClean="0"/>
              <a:t>2026/5/12</a:t>
            </a:fld>
            <a:endParaRPr kumimoji="1" lang="zh-TW" altLang="en-US"/>
          </a:p>
        </p:txBody>
      </p:sp>
      <p:sp>
        <p:nvSpPr>
          <p:cNvPr id="3" name="Footer Placeholder 2"/>
          <p:cNvSpPr>
            <a:spLocks noGrp="1"/>
          </p:cNvSpPr>
          <p:nvPr>
            <p:ph type="ftr" sz="quarter" idx="11"/>
          </p:nvPr>
        </p:nvSpPr>
        <p:spPr/>
        <p:txBody>
          <a:bodyPr/>
          <a:lstStyle/>
          <a:p>
            <a:endParaRPr kumimoji="1" lang="zh-TW" altLang="en-US"/>
          </a:p>
        </p:txBody>
      </p:sp>
      <p:sp>
        <p:nvSpPr>
          <p:cNvPr id="4" name="Slide Number Placeholder 3"/>
          <p:cNvSpPr>
            <a:spLocks noGrp="1"/>
          </p:cNvSpPr>
          <p:nvPr>
            <p:ph type="sldNum" sz="quarter" idx="12"/>
          </p:nvPr>
        </p:nvSpPr>
        <p:spPr/>
        <p:txBody>
          <a:bodyPr/>
          <a:lstStyle/>
          <a:p>
            <a:fld id="{899C84BA-4AFD-974B-9C66-4050DEA1355D}" type="slidenum">
              <a:rPr kumimoji="1" lang="zh-TW" altLang="en-US" smtClean="0"/>
              <a:t>‹#›</a:t>
            </a:fld>
            <a:endParaRPr kumimoji="1" lang="zh-TW" altLang="en-US"/>
          </a:p>
        </p:txBody>
      </p:sp>
    </p:spTree>
    <p:extLst>
      <p:ext uri="{BB962C8B-B14F-4D97-AF65-F5344CB8AC3E}">
        <p14:creationId xmlns:p14="http://schemas.microsoft.com/office/powerpoint/2010/main" val="3652336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zh-TW" altLang="en-US"/>
              <a:t>按一下以編輯母片標題樣式</a:t>
            </a:r>
            <a:endParaRPr lang="en-US" dirty="0"/>
          </a:p>
        </p:txBody>
      </p:sp>
      <p:sp>
        <p:nvSpPr>
          <p:cNvPr id="3" name="Content Placeholder 2"/>
          <p:cNvSpPr>
            <a:spLocks noGrp="1"/>
          </p:cNvSpPr>
          <p:nvPr>
            <p:ph idx="1"/>
          </p:nvPr>
        </p:nvSpPr>
        <p:spPr>
          <a:xfrm>
            <a:off x="2915543" y="1426282"/>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C4508BF2-0F77-4F44-BE6A-27F8770BC88A}" type="datetimeFigureOut">
              <a:rPr kumimoji="1" lang="zh-TW" altLang="en-US" smtClean="0"/>
              <a:t>2026/5/12</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899C84BA-4AFD-974B-9C66-4050DEA1355D}" type="slidenum">
              <a:rPr kumimoji="1" lang="zh-TW" altLang="en-US" smtClean="0"/>
              <a:t>‹#›</a:t>
            </a:fld>
            <a:endParaRPr kumimoji="1" lang="zh-TW" altLang="en-US"/>
          </a:p>
        </p:txBody>
      </p:sp>
    </p:spTree>
    <p:extLst>
      <p:ext uri="{BB962C8B-B14F-4D97-AF65-F5344CB8AC3E}">
        <p14:creationId xmlns:p14="http://schemas.microsoft.com/office/powerpoint/2010/main" val="1274868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2915543" y="1426282"/>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TW" altLang="en-US"/>
              <a:t>按一下圖示以新增圖片</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C4508BF2-0F77-4F44-BE6A-27F8770BC88A}" type="datetimeFigureOut">
              <a:rPr kumimoji="1" lang="zh-TW" altLang="en-US" smtClean="0"/>
              <a:t>2026/5/12</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899C84BA-4AFD-974B-9C66-4050DEA1355D}" type="slidenum">
              <a:rPr kumimoji="1" lang="zh-TW" altLang="en-US" smtClean="0"/>
              <a:t>‹#›</a:t>
            </a:fld>
            <a:endParaRPr kumimoji="1" lang="zh-TW" altLang="en-US"/>
          </a:p>
        </p:txBody>
      </p:sp>
    </p:spTree>
    <p:extLst>
      <p:ext uri="{BB962C8B-B14F-4D97-AF65-F5344CB8AC3E}">
        <p14:creationId xmlns:p14="http://schemas.microsoft.com/office/powerpoint/2010/main" val="16701621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C4508BF2-0F77-4F44-BE6A-27F8770BC88A}" type="datetimeFigureOut">
              <a:rPr kumimoji="1" lang="zh-TW" altLang="en-US" smtClean="0"/>
              <a:t>2026/5/12</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899C84BA-4AFD-974B-9C66-4050DEA1355D}" type="slidenum">
              <a:rPr kumimoji="1" lang="zh-TW" altLang="en-US" smtClean="0"/>
              <a:t>‹#›</a:t>
            </a:fld>
            <a:endParaRPr kumimoji="1" lang="zh-TW" altLang="en-US"/>
          </a:p>
        </p:txBody>
      </p:sp>
    </p:spTree>
    <p:extLst>
      <p:ext uri="{BB962C8B-B14F-4D97-AF65-F5344CB8AC3E}">
        <p14:creationId xmlns:p14="http://schemas.microsoft.com/office/powerpoint/2010/main" val="1979255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C4508BF2-0F77-4F44-BE6A-27F8770BC88A}" type="datetimeFigureOut">
              <a:rPr kumimoji="1" lang="zh-TW" altLang="en-US" smtClean="0"/>
              <a:t>2026/5/12</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899C84BA-4AFD-974B-9C66-4050DEA1355D}" type="slidenum">
              <a:rPr kumimoji="1" lang="zh-TW" altLang="en-US" smtClean="0"/>
              <a:t>‹#›</a:t>
            </a:fld>
            <a:endParaRPr kumimoji="1" lang="zh-TW" altLang="en-US"/>
          </a:p>
        </p:txBody>
      </p:sp>
    </p:spTree>
    <p:extLst>
      <p:ext uri="{BB962C8B-B14F-4D97-AF65-F5344CB8AC3E}">
        <p14:creationId xmlns:p14="http://schemas.microsoft.com/office/powerpoint/2010/main" val="666366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471487"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C4508BF2-0F77-4F44-BE6A-27F8770BC88A}" type="datetimeFigureOut">
              <a:rPr kumimoji="1" lang="zh-TW" altLang="en-US" smtClean="0"/>
              <a:t>2026/5/12</a:t>
            </a:fld>
            <a:endParaRPr kumimoji="1" lang="zh-TW"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kumimoji="1" lang="zh-TW"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899C84BA-4AFD-974B-9C66-4050DEA1355D}" type="slidenum">
              <a:rPr kumimoji="1" lang="zh-TW" altLang="en-US" smtClean="0"/>
              <a:t>‹#›</a:t>
            </a:fld>
            <a:endParaRPr kumimoji="1" lang="zh-TW" altLang="en-US"/>
          </a:p>
        </p:txBody>
      </p:sp>
    </p:spTree>
    <p:extLst>
      <p:ext uri="{BB962C8B-B14F-4D97-AF65-F5344CB8AC3E}">
        <p14:creationId xmlns:p14="http://schemas.microsoft.com/office/powerpoint/2010/main" val="148231183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A7ECF5FD-7338-B090-4E5D-79BBE165F64E}"/>
              </a:ext>
            </a:extLst>
          </p:cNvPr>
          <p:cNvSpPr txBox="1"/>
          <p:nvPr/>
        </p:nvSpPr>
        <p:spPr>
          <a:xfrm>
            <a:off x="336884" y="303371"/>
            <a:ext cx="6288505" cy="30839212"/>
          </a:xfrm>
          <a:prstGeom prst="rect">
            <a:avLst/>
          </a:prstGeom>
          <a:noFill/>
        </p:spPr>
        <p:txBody>
          <a:bodyPr wrap="square">
            <a:spAutoFit/>
          </a:bodyPr>
          <a:lstStyle/>
          <a:p>
            <a:r>
              <a:rPr lang="zh-TW" altLang="en-US" dirty="0">
                <a:latin typeface="DFYuanLight-B5" panose="020F0309000000000000" pitchFamily="49" charset="-120"/>
                <a:ea typeface="DFYuanLight-B5" panose="020F0309000000000000" pitchFamily="49" charset="-120"/>
              </a:rPr>
              <a:t>新加坡落實 </a:t>
            </a:r>
            <a:r>
              <a:rPr lang="en" altLang="zh-TW" dirty="0">
                <a:latin typeface="DFYuanLight-B5" panose="020F0309000000000000" pitchFamily="49" charset="-120"/>
                <a:ea typeface="DFYuanLight-B5" panose="020F0309000000000000" pitchFamily="49" charset="-120"/>
              </a:rPr>
              <a:t>SDGs</a:t>
            </a:r>
            <a:r>
              <a:rPr lang="zh-TW" altLang="en" dirty="0">
                <a:latin typeface="DFYuanLight-B5" panose="020F0309000000000000" pitchFamily="49" charset="-120"/>
                <a:ea typeface="DFYuanLight-B5" panose="020F0309000000000000" pitchFamily="49" charset="-120"/>
              </a:rPr>
              <a:t>（</a:t>
            </a:r>
            <a:r>
              <a:rPr lang="zh-TW" altLang="en-US" dirty="0">
                <a:latin typeface="DFYuanLight-B5" panose="020F0309000000000000" pitchFamily="49" charset="-120"/>
                <a:ea typeface="DFYuanLight-B5" panose="020F0309000000000000" pitchFamily="49" charset="-120"/>
              </a:rPr>
              <a:t>聯合國永續發展目標）時，可以將其核心策略歸納為「小島大智慧」。</a:t>
            </a:r>
          </a:p>
          <a:p>
            <a:r>
              <a:rPr lang="zh-TW" altLang="en-US" dirty="0">
                <a:latin typeface="DFYuanLight-B5" panose="020F0309000000000000" pitchFamily="49" charset="-120"/>
                <a:ea typeface="DFYuanLight-B5" panose="020F0309000000000000" pitchFamily="49" charset="-120"/>
              </a:rPr>
              <a:t>新加坡因為土地與資源極度匱乏，所以他們不是把永續當成「口號」，而是當成「生存之道」。</a:t>
            </a:r>
            <a:endParaRPr lang="en-US" altLang="zh-TW" dirty="0">
              <a:latin typeface="DFYuanLight-B5" panose="020F0309000000000000" pitchFamily="49" charset="-120"/>
              <a:ea typeface="DFYuanLight-B5" panose="020F0309000000000000" pitchFamily="49" charset="-120"/>
            </a:endParaRPr>
          </a:p>
          <a:p>
            <a:r>
              <a:rPr lang="zh-TW" altLang="en-US" dirty="0">
                <a:latin typeface="DFYuanLight-B5" panose="020F0309000000000000" pitchFamily="49" charset="-120"/>
                <a:ea typeface="DFYuanLight-B5" panose="020F0309000000000000" pitchFamily="49" charset="-120"/>
              </a:rPr>
              <a:t>以下是三個最關鍵的切入點：</a:t>
            </a:r>
          </a:p>
          <a:p>
            <a:pPr marL="342900" indent="-342900">
              <a:buAutoNum type="arabicPeriod"/>
            </a:pPr>
            <a:r>
              <a:rPr lang="zh-TW" altLang="en-US" b="1" dirty="0">
                <a:latin typeface="DFYuanLight-B5" panose="020F0309000000000000" pitchFamily="49" charset="-120"/>
                <a:ea typeface="DFYuanLight-B5" panose="020F0309000000000000" pitchFamily="49" charset="-120"/>
              </a:rPr>
              <a:t>願景核心：新加坡 </a:t>
            </a:r>
            <a:r>
              <a:rPr lang="en-US" altLang="zh-TW" b="1" dirty="0">
                <a:latin typeface="DFYuanLight-B5" panose="020F0309000000000000" pitchFamily="49" charset="-120"/>
                <a:ea typeface="DFYuanLight-B5" panose="020F0309000000000000" pitchFamily="49" charset="-120"/>
              </a:rPr>
              <a:t>2030 </a:t>
            </a:r>
            <a:r>
              <a:rPr lang="zh-TW" altLang="en-US" b="1" dirty="0">
                <a:latin typeface="DFYuanLight-B5" panose="020F0309000000000000" pitchFamily="49" charset="-120"/>
                <a:ea typeface="DFYuanLight-B5" panose="020F0309000000000000" pitchFamily="49" charset="-120"/>
              </a:rPr>
              <a:t>綠色發展藍圖</a:t>
            </a:r>
            <a:endParaRPr lang="en-US" altLang="zh-TW" b="1" dirty="0">
              <a:latin typeface="DFYuanLight-B5" panose="020F0309000000000000" pitchFamily="49" charset="-120"/>
              <a:ea typeface="DFYuanLight-B5" panose="020F0309000000000000" pitchFamily="49" charset="-120"/>
            </a:endParaRPr>
          </a:p>
          <a:p>
            <a:r>
              <a:rPr lang="zh-TW" altLang="en-US" dirty="0">
                <a:latin typeface="DFYuanLight-B5" panose="020F0309000000000000" pitchFamily="49" charset="-120"/>
                <a:ea typeface="DFYuanLight-B5" panose="020F0309000000000000" pitchFamily="49" charset="-120"/>
              </a:rPr>
              <a:t>   新加坡政府整合了多個部門，推出了 </a:t>
            </a:r>
            <a:r>
              <a:rPr lang="en" altLang="zh-TW" b="1" dirty="0">
                <a:latin typeface="DFYuanLight-B5" panose="020F0309000000000000" pitchFamily="49" charset="-120"/>
                <a:ea typeface="DFYuanLight-B5" panose="020F0309000000000000" pitchFamily="49" charset="-120"/>
              </a:rPr>
              <a:t>Singapore Green </a:t>
            </a:r>
          </a:p>
          <a:p>
            <a:r>
              <a:rPr lang="zh-TW" altLang="en-US" b="1" dirty="0">
                <a:latin typeface="DFYuanLight-B5" panose="020F0309000000000000" pitchFamily="49" charset="-120"/>
                <a:ea typeface="DFYuanLight-B5" panose="020F0309000000000000" pitchFamily="49" charset="-120"/>
              </a:rPr>
              <a:t>   </a:t>
            </a:r>
            <a:r>
              <a:rPr lang="en" altLang="zh-TW" b="1" dirty="0">
                <a:latin typeface="DFYuanLight-B5" panose="020F0309000000000000" pitchFamily="49" charset="-120"/>
                <a:ea typeface="DFYuanLight-B5" panose="020F0309000000000000" pitchFamily="49" charset="-120"/>
              </a:rPr>
              <a:t>Plan 2030</a:t>
            </a:r>
            <a:r>
              <a:rPr lang="zh-TW" altLang="en" dirty="0">
                <a:latin typeface="DFYuanLight-B5" panose="020F0309000000000000" pitchFamily="49" charset="-120"/>
                <a:ea typeface="DFYuanLight-B5" panose="020F0309000000000000" pitchFamily="49" charset="-120"/>
              </a:rPr>
              <a:t>。</a:t>
            </a:r>
            <a:r>
              <a:rPr lang="zh-TW" altLang="en-US" dirty="0">
                <a:latin typeface="DFYuanLight-B5" panose="020F0309000000000000" pitchFamily="49" charset="-120"/>
                <a:ea typeface="DFYuanLight-B5" panose="020F0309000000000000" pitchFamily="49" charset="-120"/>
              </a:rPr>
              <a:t>這是一份將永續發展融入城市規劃、經濟和</a:t>
            </a:r>
            <a:endParaRPr lang="en-US" altLang="zh-TW" dirty="0">
              <a:latin typeface="DFYuanLight-B5" panose="020F0309000000000000" pitchFamily="49" charset="-120"/>
              <a:ea typeface="DFYuanLight-B5" panose="020F0309000000000000" pitchFamily="49" charset="-120"/>
            </a:endParaRPr>
          </a:p>
          <a:p>
            <a:r>
              <a:rPr lang="zh-TW" altLang="en-US" dirty="0">
                <a:latin typeface="DFYuanLight-B5" panose="020F0309000000000000" pitchFamily="49" charset="-120"/>
                <a:ea typeface="DFYuanLight-B5" panose="020F0309000000000000" pitchFamily="49" charset="-120"/>
              </a:rPr>
              <a:t>   生活方式的全面藍圖。</a:t>
            </a:r>
            <a:endParaRPr lang="en-US" altLang="zh-TW" dirty="0">
              <a:latin typeface="DFYuanLight-B5" panose="020F0309000000000000" pitchFamily="49" charset="-120"/>
              <a:ea typeface="DFYuanLight-B5" panose="020F0309000000000000" pitchFamily="49" charset="-120"/>
            </a:endParaRPr>
          </a:p>
          <a:p>
            <a:pPr marL="342900" indent="-342900">
              <a:buFont typeface="+mj-lt"/>
              <a:buAutoNum type="arabicPeriod" startAt="2"/>
            </a:pPr>
            <a:r>
              <a:rPr lang="zh-TW" altLang="en-US" b="1" dirty="0">
                <a:latin typeface="DFYuanLight-B5" panose="020F0309000000000000" pitchFamily="49" charset="-120"/>
                <a:ea typeface="DFYuanLight-B5" panose="020F0309000000000000" pitchFamily="49" charset="-120"/>
              </a:rPr>
              <a:t>水資源的奇蹟：四大國家水喉</a:t>
            </a:r>
          </a:p>
          <a:p>
            <a:r>
              <a:rPr lang="zh-TW" altLang="en-US" dirty="0">
                <a:latin typeface="DFYuanLight-B5" panose="020F0309000000000000" pitchFamily="49" charset="-120"/>
                <a:ea typeface="DFYuanLight-B5" panose="020F0309000000000000" pitchFamily="49" charset="-120"/>
              </a:rPr>
              <a:t>   新加坡曾面臨嚴重缺水，現在卻成為全球水處理技術的領</a:t>
            </a:r>
            <a:endParaRPr lang="en-US" altLang="zh-TW" dirty="0">
              <a:latin typeface="DFYuanLight-B5" panose="020F0309000000000000" pitchFamily="49" charset="-120"/>
              <a:ea typeface="DFYuanLight-B5" panose="020F0309000000000000" pitchFamily="49" charset="-120"/>
            </a:endParaRPr>
          </a:p>
          <a:p>
            <a:r>
              <a:rPr lang="zh-TW" altLang="en-US" dirty="0">
                <a:latin typeface="DFYuanLight-B5" panose="020F0309000000000000" pitchFamily="49" charset="-120"/>
                <a:ea typeface="DFYuanLight-B5" panose="020F0309000000000000" pitchFamily="49" charset="-120"/>
              </a:rPr>
              <a:t>   航者。他們透過科技實現了水資源的完全循環。</a:t>
            </a:r>
            <a:endParaRPr lang="en-US" altLang="zh-TW" dirty="0">
              <a:latin typeface="DFYuanLight-B5" panose="020F0309000000000000" pitchFamily="49" charset="-120"/>
              <a:ea typeface="DFYuanLight-B5" panose="020F0309000000000000" pitchFamily="49" charset="-120"/>
            </a:endParaRPr>
          </a:p>
          <a:p>
            <a:pPr marL="342900" indent="-342900">
              <a:buFont typeface="+mj-lt"/>
              <a:buAutoNum type="arabicPeriod" startAt="3"/>
            </a:pPr>
            <a:r>
              <a:rPr lang="zh-TW" altLang="en-US" b="1" dirty="0">
                <a:latin typeface="DFYuanLight-B5" panose="020F0309000000000000" pitchFamily="49" charset="-120"/>
                <a:ea typeface="DFYuanLight-B5" panose="020F0309000000000000" pitchFamily="49" charset="-120"/>
              </a:rPr>
              <a:t>花園中的城市：垂直綠化與生物多樣性</a:t>
            </a:r>
          </a:p>
          <a:p>
            <a:r>
              <a:rPr lang="zh-TW" altLang="en-US" dirty="0">
                <a:latin typeface="DFYuanLight-B5" panose="020F0309000000000000" pitchFamily="49" charset="-120"/>
                <a:ea typeface="DFYuanLight-B5" panose="020F0309000000000000" pitchFamily="49" charset="-120"/>
              </a:rPr>
              <a:t>   新加坡不只是在城市裡種樹，而是要把城市「建在森林</a:t>
            </a:r>
            <a:endParaRPr lang="en-US" altLang="zh-TW" dirty="0">
              <a:latin typeface="DFYuanLight-B5" panose="020F0309000000000000" pitchFamily="49" charset="-120"/>
              <a:ea typeface="DFYuanLight-B5" panose="020F0309000000000000" pitchFamily="49" charset="-120"/>
            </a:endParaRPr>
          </a:p>
          <a:p>
            <a:r>
              <a:rPr lang="zh-TW" altLang="en-US" dirty="0">
                <a:latin typeface="DFYuanLight-B5" panose="020F0309000000000000" pitchFamily="49" charset="-120"/>
                <a:ea typeface="DFYuanLight-B5" panose="020F0309000000000000" pitchFamily="49" charset="-120"/>
              </a:rPr>
              <a:t>   裡」。</a:t>
            </a:r>
          </a:p>
          <a:p>
            <a:endParaRPr lang="en-US" altLang="zh-TW" dirty="0">
              <a:latin typeface="DFYuanLight-B5" panose="020F0309000000000000" pitchFamily="49" charset="-120"/>
              <a:ea typeface="DFYuanLight-B5" panose="020F0309000000000000" pitchFamily="49" charset="-120"/>
            </a:endParaRPr>
          </a:p>
          <a:p>
            <a:r>
              <a:rPr lang="zh-TW" altLang="en-US" dirty="0">
                <a:latin typeface="DFYuanLight-B5" panose="020F0309000000000000" pitchFamily="49" charset="-120"/>
                <a:ea typeface="DFYuanLight-B5" panose="020F0309000000000000" pitchFamily="49" charset="-120"/>
              </a:rPr>
              <a:t>這一次來到新加坡，我們將帶著各位同學們透過每天不同的景點，好好的來認識新加坡在這些地方是如何做到永續與科技在日常中的結合～</a:t>
            </a:r>
          </a:p>
          <a:p>
            <a:endParaRPr lang="en-US" altLang="zh-TW" dirty="0">
              <a:latin typeface="DFYuanLight-B5" panose="020F0309000000000000" pitchFamily="49" charset="-120"/>
              <a:ea typeface="DFYuanLight-B5" panose="020F0309000000000000" pitchFamily="49" charset="-120"/>
            </a:endParaRPr>
          </a:p>
          <a:p>
            <a:endParaRPr lang="en-US" altLang="zh-TW" dirty="0">
              <a:latin typeface="DFYuanLight-B5" panose="020F0309000000000000" pitchFamily="49" charset="-120"/>
              <a:ea typeface="DFYuanLight-B5" panose="020F0309000000000000" pitchFamily="49" charset="-120"/>
            </a:endParaRPr>
          </a:p>
          <a:p>
            <a:endParaRPr lang="en-US" altLang="zh-TW" dirty="0">
              <a:latin typeface="DFYuanLight-B5" panose="020F0309000000000000" pitchFamily="49" charset="-120"/>
              <a:ea typeface="DFYuanLight-B5" panose="020F0309000000000000" pitchFamily="49" charset="-120"/>
            </a:endParaRPr>
          </a:p>
          <a:p>
            <a:endParaRPr lang="en-US" altLang="zh-TW" dirty="0">
              <a:latin typeface="DFYuanLight-B5" panose="020F0309000000000000" pitchFamily="49" charset="-120"/>
              <a:ea typeface="DFYuanLight-B5" panose="020F0309000000000000" pitchFamily="49" charset="-120"/>
            </a:endParaRPr>
          </a:p>
          <a:p>
            <a:endParaRPr lang="en-US" altLang="zh-TW" dirty="0">
              <a:latin typeface="DFYuanLight-B5" panose="020F0309000000000000" pitchFamily="49" charset="-120"/>
              <a:ea typeface="DFYuanLight-B5" panose="020F0309000000000000" pitchFamily="49" charset="-120"/>
            </a:endParaRPr>
          </a:p>
          <a:p>
            <a:endParaRPr lang="en-US" altLang="zh-TW" dirty="0">
              <a:latin typeface="DFYuanLight-B5" panose="020F0309000000000000" pitchFamily="49" charset="-120"/>
              <a:ea typeface="DFYuanLight-B5" panose="020F0309000000000000" pitchFamily="49" charset="-120"/>
            </a:endParaRPr>
          </a:p>
          <a:p>
            <a:endParaRPr lang="en-US" altLang="zh-TW" dirty="0">
              <a:latin typeface="DFYuanLight-B5" panose="020F0309000000000000" pitchFamily="49" charset="-120"/>
              <a:ea typeface="DFYuanLight-B5" panose="020F0309000000000000" pitchFamily="49" charset="-120"/>
            </a:endParaRPr>
          </a:p>
          <a:p>
            <a:endParaRPr lang="en-US" altLang="zh-TW" dirty="0">
              <a:latin typeface="DFYuanLight-B5" panose="020F0309000000000000" pitchFamily="49" charset="-120"/>
              <a:ea typeface="DFYuanLight-B5" panose="020F0309000000000000" pitchFamily="49" charset="-120"/>
            </a:endParaRPr>
          </a:p>
          <a:p>
            <a:endParaRPr lang="en-US" altLang="zh-TW" dirty="0">
              <a:latin typeface="DFYuanLight-B5" panose="020F0309000000000000" pitchFamily="49" charset="-120"/>
              <a:ea typeface="DFYuanLight-B5" panose="020F0309000000000000" pitchFamily="49" charset="-120"/>
            </a:endParaRPr>
          </a:p>
          <a:p>
            <a:endParaRPr lang="en-US" altLang="zh-TW" dirty="0">
              <a:latin typeface="DFYuanLight-B5" panose="020F0309000000000000" pitchFamily="49" charset="-120"/>
              <a:ea typeface="DFYuanLight-B5" panose="020F0309000000000000" pitchFamily="49" charset="-120"/>
            </a:endParaRPr>
          </a:p>
          <a:p>
            <a:endParaRPr lang="en-US" altLang="zh-TW" dirty="0">
              <a:latin typeface="DFYuanLight-B5" panose="020F0309000000000000" pitchFamily="49" charset="-120"/>
              <a:ea typeface="DFYuanLight-B5" panose="020F0309000000000000" pitchFamily="49" charset="-120"/>
            </a:endParaRPr>
          </a:p>
          <a:p>
            <a:endParaRPr lang="en-US" altLang="zh-TW" dirty="0">
              <a:latin typeface="DFYuanLight-B5" panose="020F0309000000000000" pitchFamily="49" charset="-120"/>
              <a:ea typeface="DFYuanLight-B5" panose="020F0309000000000000" pitchFamily="49" charset="-120"/>
            </a:endParaRPr>
          </a:p>
          <a:p>
            <a:endParaRPr lang="en-US" altLang="zh-TW" dirty="0">
              <a:latin typeface="DFYuanLight-B5" panose="020F0309000000000000" pitchFamily="49" charset="-120"/>
              <a:ea typeface="DFYuanLight-B5" panose="020F0309000000000000" pitchFamily="49" charset="-120"/>
            </a:endParaRPr>
          </a:p>
          <a:p>
            <a:endParaRPr lang="en-US" altLang="zh-TW" dirty="0">
              <a:latin typeface="DFYuanLight-B5" panose="020F0309000000000000" pitchFamily="49" charset="-120"/>
              <a:ea typeface="DFYuanLight-B5" panose="020F0309000000000000" pitchFamily="49" charset="-120"/>
            </a:endParaRPr>
          </a:p>
          <a:p>
            <a:endParaRPr lang="en-US" altLang="zh-TW" dirty="0">
              <a:latin typeface="DFYuanLight-B5" panose="020F0309000000000000" pitchFamily="49" charset="-120"/>
              <a:ea typeface="DFYuanLight-B5" panose="020F0309000000000000" pitchFamily="49" charset="-120"/>
            </a:endParaRPr>
          </a:p>
          <a:p>
            <a:endParaRPr lang="en-US" altLang="zh-TW" dirty="0">
              <a:latin typeface="DFYuanLight-B5" panose="020F0309000000000000" pitchFamily="49" charset="-120"/>
              <a:ea typeface="DFYuanLight-B5" panose="020F0309000000000000" pitchFamily="49" charset="-120"/>
            </a:endParaRPr>
          </a:p>
          <a:p>
            <a:br>
              <a:rPr lang="zh-TW" altLang="en-US" dirty="0">
                <a:latin typeface="DFYuanLight-B5" panose="020F0309000000000000" pitchFamily="49" charset="-120"/>
                <a:ea typeface="DFYuanLight-B5" panose="020F0309000000000000" pitchFamily="49" charset="-120"/>
              </a:rPr>
            </a:br>
            <a:r>
              <a:rPr lang="en-US" altLang="zh-TW" b="1" dirty="0">
                <a:latin typeface="DFYuanBold-B5" panose="020F0709000000000000" pitchFamily="49" charset="-120"/>
                <a:ea typeface="DFYuanBold-B5" panose="020F0709000000000000" pitchFamily="49" charset="-120"/>
              </a:rPr>
              <a:t>[ Day1 ]</a:t>
            </a:r>
            <a:endParaRPr lang="zh-TW" altLang="en-US" b="1" dirty="0">
              <a:latin typeface="DFYuanBold-B5" panose="020F0709000000000000" pitchFamily="49" charset="-120"/>
              <a:ea typeface="DFYuanBold-B5" panose="020F0709000000000000" pitchFamily="49" charset="-120"/>
            </a:endParaRPr>
          </a:p>
          <a:p>
            <a:pPr>
              <a:buNone/>
            </a:pPr>
            <a:r>
              <a:rPr lang="en-US" altLang="zh-TW" b="1" dirty="0">
                <a:latin typeface="DFYuanLight-B5" panose="020F0309000000000000" pitchFamily="49" charset="-120"/>
                <a:ea typeface="DFYuanLight-B5" panose="020F0309000000000000" pitchFamily="49" charset="-120"/>
              </a:rPr>
              <a:t>1. </a:t>
            </a:r>
            <a:r>
              <a:rPr lang="zh-TW" altLang="en-US" b="1" dirty="0">
                <a:latin typeface="DFYuanLight-B5" panose="020F0309000000000000" pitchFamily="49" charset="-120"/>
                <a:ea typeface="DFYuanLight-B5" panose="020F0309000000000000" pitchFamily="49" charset="-120"/>
              </a:rPr>
              <a:t>星耀樟宜 </a:t>
            </a:r>
            <a:r>
              <a:rPr lang="en-US" altLang="zh-TW" b="1" dirty="0">
                <a:latin typeface="DFYuanLight-B5" panose="020F0309000000000000" pitchFamily="49" charset="-120"/>
                <a:ea typeface="DFYuanLight-B5" panose="020F0309000000000000" pitchFamily="49" charset="-120"/>
              </a:rPr>
              <a:t>(</a:t>
            </a:r>
            <a:r>
              <a:rPr lang="en" altLang="zh-TW" b="1" dirty="0">
                <a:latin typeface="DFYuanLight-B5" panose="020F0309000000000000" pitchFamily="49" charset="-120"/>
                <a:ea typeface="DFYuanLight-B5" panose="020F0309000000000000" pitchFamily="49" charset="-120"/>
              </a:rPr>
              <a:t>Jewel Changi Airport)</a:t>
            </a:r>
          </a:p>
          <a:p>
            <a:pPr>
              <a:buNone/>
            </a:pPr>
            <a:r>
              <a:rPr lang="en-US" altLang="zh-TW" dirty="0">
                <a:latin typeface="DFYuanLight-B5" panose="020F0309000000000000" pitchFamily="49" charset="-120"/>
                <a:ea typeface="DFYuanLight-B5" panose="020F0309000000000000" pitchFamily="49" charset="-120"/>
              </a:rPr>
              <a:t>   </a:t>
            </a:r>
            <a:r>
              <a:rPr lang="zh-TW" altLang="en-US" dirty="0">
                <a:latin typeface="DFYuanLight-B5" panose="020F0309000000000000" pitchFamily="49" charset="-120"/>
                <a:ea typeface="DFYuanLight-B5" panose="020F0309000000000000" pitchFamily="49" charset="-120"/>
              </a:rPr>
              <a:t>這裡不只是機場，更是一個室內的微型生態系統。</a:t>
            </a:r>
          </a:p>
          <a:p>
            <a:pPr marL="365125"/>
            <a:r>
              <a:rPr lang="en-US" altLang="zh-TW" dirty="0"/>
              <a:t>【</a:t>
            </a:r>
            <a:r>
              <a:rPr lang="zh-TW" altLang="en-US" b="1" dirty="0">
                <a:latin typeface="DFYuanLight-B5" panose="020F0309000000000000" pitchFamily="49" charset="-120"/>
                <a:ea typeface="DFYuanLight-B5" panose="020F0309000000000000" pitchFamily="49" charset="-120"/>
              </a:rPr>
              <a:t>對應 </a:t>
            </a:r>
            <a:r>
              <a:rPr lang="en" altLang="zh-TW" b="1" dirty="0">
                <a:latin typeface="DFYuanLight-B5" panose="020F0309000000000000" pitchFamily="49" charset="-120"/>
                <a:ea typeface="DFYuanLight-B5" panose="020F0309000000000000" pitchFamily="49" charset="-120"/>
              </a:rPr>
              <a:t>SDGs </a:t>
            </a:r>
            <a:r>
              <a:rPr lang="zh-TW" altLang="en-US" b="1" dirty="0">
                <a:latin typeface="DFYuanLight-B5" panose="020F0309000000000000" pitchFamily="49" charset="-120"/>
                <a:ea typeface="DFYuanLight-B5" panose="020F0309000000000000" pitchFamily="49" charset="-120"/>
              </a:rPr>
              <a:t>目標</a:t>
            </a:r>
            <a:r>
              <a:rPr lang="en-US" altLang="zh-TW" dirty="0"/>
              <a:t>】</a:t>
            </a:r>
            <a:endParaRPr lang="zh-TW" altLang="en-US" dirty="0">
              <a:latin typeface="DFYuanLight-B5" panose="020F0309000000000000" pitchFamily="49" charset="-120"/>
              <a:ea typeface="DFYuanLight-B5" panose="020F0309000000000000" pitchFamily="49" charset="-120"/>
            </a:endParaRPr>
          </a:p>
          <a:p>
            <a:pPr marL="742950" lvl="1" indent="-285750">
              <a:buFont typeface="Arial" panose="020B0604020202020204" pitchFamily="34" charset="0"/>
              <a:buChar char="•"/>
            </a:pPr>
            <a:r>
              <a:rPr lang="en" altLang="zh-TW" b="1" dirty="0">
                <a:latin typeface="DFYuanLight-B5" panose="020F0309000000000000" pitchFamily="49" charset="-120"/>
                <a:ea typeface="DFYuanLight-B5" panose="020F0309000000000000" pitchFamily="49" charset="-120"/>
              </a:rPr>
              <a:t>SDG 9</a:t>
            </a:r>
            <a:r>
              <a:rPr lang="zh-TW" altLang="en" b="1" dirty="0">
                <a:latin typeface="DFYuanLight-B5" panose="020F0309000000000000" pitchFamily="49" charset="-120"/>
                <a:ea typeface="DFYuanLight-B5" panose="020F0309000000000000" pitchFamily="49" charset="-120"/>
              </a:rPr>
              <a:t>：</a:t>
            </a:r>
            <a:r>
              <a:rPr lang="zh-TW" altLang="en-US" b="1" dirty="0">
                <a:latin typeface="DFYuanLight-B5" panose="020F0309000000000000" pitchFamily="49" charset="-120"/>
                <a:ea typeface="DFYuanLight-B5" panose="020F0309000000000000" pitchFamily="49" charset="-120"/>
              </a:rPr>
              <a:t>產業、創新與基礎建設</a:t>
            </a:r>
            <a:r>
              <a:rPr lang="zh-TW" altLang="en-US" dirty="0">
                <a:latin typeface="DFYuanLight-B5" panose="020F0309000000000000" pitchFamily="49" charset="-120"/>
                <a:ea typeface="DFYuanLight-B5" panose="020F0309000000000000" pitchFamily="49" charset="-120"/>
              </a:rPr>
              <a:t>（將自然與尖端交通設施完美融合）。</a:t>
            </a:r>
          </a:p>
          <a:p>
            <a:pPr marL="742950" lvl="1" indent="-285750">
              <a:buFont typeface="Arial" panose="020B0604020202020204" pitchFamily="34" charset="0"/>
              <a:buChar char="•"/>
            </a:pPr>
            <a:r>
              <a:rPr lang="en" altLang="zh-TW" b="1" dirty="0">
                <a:latin typeface="DFYuanLight-B5" panose="020F0309000000000000" pitchFamily="49" charset="-120"/>
                <a:ea typeface="DFYuanLight-B5" panose="020F0309000000000000" pitchFamily="49" charset="-120"/>
              </a:rPr>
              <a:t>SDG 11</a:t>
            </a:r>
            <a:r>
              <a:rPr lang="zh-TW" altLang="en" b="1" dirty="0">
                <a:latin typeface="DFYuanLight-B5" panose="020F0309000000000000" pitchFamily="49" charset="-120"/>
                <a:ea typeface="DFYuanLight-B5" panose="020F0309000000000000" pitchFamily="49" charset="-120"/>
              </a:rPr>
              <a:t>：</a:t>
            </a:r>
            <a:r>
              <a:rPr lang="zh-TW" altLang="en-US" b="1" dirty="0">
                <a:latin typeface="DFYuanLight-B5" panose="020F0309000000000000" pitchFamily="49" charset="-120"/>
                <a:ea typeface="DFYuanLight-B5" panose="020F0309000000000000" pitchFamily="49" charset="-120"/>
              </a:rPr>
              <a:t>永續城市與社區</a:t>
            </a:r>
            <a:r>
              <a:rPr lang="zh-TW" altLang="en-US" dirty="0">
                <a:latin typeface="DFYuanLight-B5" panose="020F0309000000000000" pitchFamily="49" charset="-120"/>
                <a:ea typeface="DFYuanLight-B5" panose="020F0309000000000000" pitchFamily="49" charset="-120"/>
              </a:rPr>
              <a:t>（打造城市綠洲，提升城市生活品質）。</a:t>
            </a:r>
          </a:p>
          <a:p>
            <a:pPr marL="742950" lvl="1" indent="-285750">
              <a:buFont typeface="Arial" panose="020B0604020202020204" pitchFamily="34" charset="0"/>
              <a:buChar char="•"/>
            </a:pPr>
            <a:r>
              <a:rPr lang="en" altLang="zh-TW" b="1" dirty="0">
                <a:latin typeface="DFYuanLight-B5" panose="020F0309000000000000" pitchFamily="49" charset="-120"/>
                <a:ea typeface="DFYuanLight-B5" panose="020F0309000000000000" pitchFamily="49" charset="-120"/>
              </a:rPr>
              <a:t>SDG 12</a:t>
            </a:r>
            <a:r>
              <a:rPr lang="zh-TW" altLang="en" b="1" dirty="0">
                <a:latin typeface="DFYuanLight-B5" panose="020F0309000000000000" pitchFamily="49" charset="-120"/>
                <a:ea typeface="DFYuanLight-B5" panose="020F0309000000000000" pitchFamily="49" charset="-120"/>
              </a:rPr>
              <a:t>：</a:t>
            </a:r>
            <a:r>
              <a:rPr lang="zh-TW" altLang="en-US" b="1" dirty="0">
                <a:latin typeface="DFYuanLight-B5" panose="020F0309000000000000" pitchFamily="49" charset="-120"/>
                <a:ea typeface="DFYuanLight-B5" panose="020F0309000000000000" pitchFamily="49" charset="-120"/>
              </a:rPr>
              <a:t>責任消費與生產</a:t>
            </a:r>
            <a:r>
              <a:rPr lang="zh-TW" altLang="en-US" dirty="0">
                <a:latin typeface="DFYuanLight-B5" panose="020F0309000000000000" pitchFamily="49" charset="-120"/>
                <a:ea typeface="DFYuanLight-B5" panose="020F0309000000000000" pitchFamily="49" charset="-120"/>
              </a:rPr>
              <a:t>（其著名的雨漩渦使用的是循環過濾的雨水）。</a:t>
            </a:r>
          </a:p>
          <a:p>
            <a:pPr>
              <a:buNone/>
            </a:pPr>
            <a:r>
              <a:rPr lang="zh-TW" altLang="en-US" b="1" dirty="0">
                <a:latin typeface="DFYuanLight-B5" panose="020F0309000000000000" pitchFamily="49" charset="-120"/>
                <a:ea typeface="DFYuanLight-B5" panose="020F0309000000000000" pitchFamily="49" charset="-120"/>
              </a:rPr>
              <a:t>💡 機智問答時間</a:t>
            </a:r>
          </a:p>
          <a:p>
            <a:pPr>
              <a:buFont typeface="Arial" panose="020B0604020202020204" pitchFamily="34" charset="0"/>
              <a:buChar char="•"/>
            </a:pPr>
            <a:r>
              <a:rPr lang="zh-TW" altLang="en-US" b="1" dirty="0">
                <a:latin typeface="DFYuanLight-B5" panose="020F0309000000000000" pitchFamily="49" charset="-120"/>
                <a:ea typeface="DFYuanLight-B5" panose="020F0309000000000000" pitchFamily="49" charset="-120"/>
              </a:rPr>
              <a:t>問題：</a:t>
            </a:r>
            <a:r>
              <a:rPr lang="zh-TW" altLang="en-US" dirty="0">
                <a:latin typeface="DFYuanLight-B5" panose="020F0309000000000000" pitchFamily="49" charset="-120"/>
                <a:ea typeface="DFYuanLight-B5" panose="020F0309000000000000" pitchFamily="49" charset="-120"/>
              </a:rPr>
              <a:t> 星耀樟宜中心最著名的「雨漩渦」</a:t>
            </a:r>
            <a:r>
              <a:rPr lang="en-US" altLang="zh-TW" dirty="0">
                <a:latin typeface="DFYuanLight-B5" panose="020F0309000000000000" pitchFamily="49" charset="-120"/>
                <a:ea typeface="DFYuanLight-B5" panose="020F0309000000000000" pitchFamily="49" charset="-120"/>
              </a:rPr>
              <a:t>(</a:t>
            </a:r>
            <a:r>
              <a:rPr lang="en" altLang="zh-TW" dirty="0">
                <a:latin typeface="DFYuanLight-B5" panose="020F0309000000000000" pitchFamily="49" charset="-120"/>
                <a:ea typeface="DFYuanLight-B5" panose="020F0309000000000000" pitchFamily="49" charset="-120"/>
              </a:rPr>
              <a:t>Rain Vortex) </a:t>
            </a:r>
            <a:r>
              <a:rPr lang="zh-TW" altLang="en-US" dirty="0">
                <a:latin typeface="DFYuanLight-B5" panose="020F0309000000000000" pitchFamily="49" charset="-120"/>
                <a:ea typeface="DFYuanLight-B5" panose="020F0309000000000000" pitchFamily="49" charset="-120"/>
              </a:rPr>
              <a:t>是世界最高的室內瀑布，請問它的水源主要是從哪裡來的？</a:t>
            </a:r>
          </a:p>
          <a:p>
            <a:pPr marL="742950" lvl="1" indent="-285750">
              <a:buFont typeface="Arial" panose="020B0604020202020204" pitchFamily="34" charset="0"/>
              <a:buChar char="•"/>
            </a:pPr>
            <a:r>
              <a:rPr lang="en-US" altLang="zh-TW" dirty="0">
                <a:latin typeface="DFYuanLight-B5" panose="020F0309000000000000" pitchFamily="49" charset="-120"/>
                <a:ea typeface="DFYuanLight-B5" panose="020F0309000000000000" pitchFamily="49" charset="-120"/>
              </a:rPr>
              <a:t>(</a:t>
            </a:r>
            <a:r>
              <a:rPr lang="en" altLang="zh-TW" dirty="0">
                <a:latin typeface="DFYuanLight-B5" panose="020F0309000000000000" pitchFamily="49" charset="-120"/>
                <a:ea typeface="DFYuanLight-B5" panose="020F0309000000000000" pitchFamily="49" charset="-120"/>
              </a:rPr>
              <a:t>A) </a:t>
            </a:r>
            <a:r>
              <a:rPr lang="zh-TW" altLang="en-US" dirty="0">
                <a:latin typeface="DFYuanLight-B5" panose="020F0309000000000000" pitchFamily="49" charset="-120"/>
                <a:ea typeface="DFYuanLight-B5" panose="020F0309000000000000" pitchFamily="49" charset="-120"/>
              </a:rPr>
              <a:t>新加坡自來水公司</a:t>
            </a:r>
          </a:p>
          <a:p>
            <a:pPr marL="742950" lvl="1" indent="-285750">
              <a:buFont typeface="Arial" panose="020B0604020202020204" pitchFamily="34" charset="0"/>
              <a:buChar char="•"/>
            </a:pPr>
            <a:r>
              <a:rPr lang="en-US" altLang="zh-TW" dirty="0">
                <a:latin typeface="DFYuanLight-B5" panose="020F0309000000000000" pitchFamily="49" charset="-120"/>
                <a:ea typeface="DFYuanLight-B5" panose="020F0309000000000000" pitchFamily="49" charset="-120"/>
              </a:rPr>
              <a:t>(</a:t>
            </a:r>
            <a:r>
              <a:rPr lang="en" altLang="zh-TW" dirty="0">
                <a:latin typeface="DFYuanLight-B5" panose="020F0309000000000000" pitchFamily="49" charset="-120"/>
                <a:ea typeface="DFYuanLight-B5" panose="020F0309000000000000" pitchFamily="49" charset="-120"/>
              </a:rPr>
              <a:t>B) </a:t>
            </a:r>
            <a:r>
              <a:rPr lang="zh-TW" altLang="en-US" dirty="0">
                <a:latin typeface="DFYuanLight-B5" panose="020F0309000000000000" pitchFamily="49" charset="-120"/>
                <a:ea typeface="DFYuanLight-B5" panose="020F0309000000000000" pitchFamily="49" charset="-120"/>
              </a:rPr>
              <a:t>收集並過濾後的天然雨水</a:t>
            </a:r>
          </a:p>
          <a:p>
            <a:pPr marL="742950" lvl="1" indent="-285750">
              <a:buFont typeface="Arial" panose="020B0604020202020204" pitchFamily="34" charset="0"/>
              <a:buChar char="•"/>
            </a:pPr>
            <a:r>
              <a:rPr lang="en-US" altLang="zh-TW" dirty="0">
                <a:latin typeface="DFYuanLight-B5" panose="020F0309000000000000" pitchFamily="49" charset="-120"/>
                <a:ea typeface="DFYuanLight-B5" panose="020F0309000000000000" pitchFamily="49" charset="-120"/>
              </a:rPr>
              <a:t>(</a:t>
            </a:r>
            <a:r>
              <a:rPr lang="en" altLang="zh-TW" dirty="0">
                <a:latin typeface="DFYuanLight-B5" panose="020F0309000000000000" pitchFamily="49" charset="-120"/>
                <a:ea typeface="DFYuanLight-B5" panose="020F0309000000000000" pitchFamily="49" charset="-120"/>
              </a:rPr>
              <a:t>C) </a:t>
            </a:r>
            <a:r>
              <a:rPr lang="zh-TW" altLang="en-US" dirty="0">
                <a:latin typeface="DFYuanLight-B5" panose="020F0309000000000000" pitchFamily="49" charset="-120"/>
                <a:ea typeface="DFYuanLight-B5" panose="020F0309000000000000" pitchFamily="49" charset="-120"/>
              </a:rPr>
              <a:t>海水淡化廠</a:t>
            </a:r>
          </a:p>
          <a:p>
            <a:pPr marL="742950" lvl="1" indent="-285750">
              <a:buFont typeface="Arial" panose="020B0604020202020204" pitchFamily="34" charset="0"/>
              <a:buChar char="•"/>
            </a:pPr>
            <a:r>
              <a:rPr lang="en-US" altLang="zh-TW" dirty="0">
                <a:latin typeface="DFYuanLight-B5" panose="020F0309000000000000" pitchFamily="49" charset="-120"/>
                <a:ea typeface="DFYuanLight-B5" panose="020F0309000000000000" pitchFamily="49" charset="-120"/>
              </a:rPr>
              <a:t>(</a:t>
            </a:r>
            <a:r>
              <a:rPr lang="en" altLang="zh-TW" dirty="0">
                <a:latin typeface="DFYuanLight-B5" panose="020F0309000000000000" pitchFamily="49" charset="-120"/>
                <a:ea typeface="DFYuanLight-B5" panose="020F0309000000000000" pitchFamily="49" charset="-120"/>
              </a:rPr>
              <a:t>D) </a:t>
            </a:r>
            <a:r>
              <a:rPr lang="zh-TW" altLang="en-US" dirty="0">
                <a:latin typeface="DFYuanLight-B5" panose="020F0309000000000000" pitchFamily="49" charset="-120"/>
                <a:ea typeface="DFYuanLight-B5" panose="020F0309000000000000" pitchFamily="49" charset="-120"/>
              </a:rPr>
              <a:t>附近居民的回收廢水</a:t>
            </a:r>
          </a:p>
          <a:p>
            <a:pPr>
              <a:buFont typeface="Arial" panose="020B0604020202020204" pitchFamily="34" charset="0"/>
              <a:buChar char="•"/>
            </a:pPr>
            <a:r>
              <a:rPr lang="zh-TW" altLang="en-US" b="1" dirty="0">
                <a:latin typeface="DFYuanLight-B5" panose="020F0309000000000000" pitchFamily="49" charset="-120"/>
                <a:ea typeface="DFYuanLight-B5" panose="020F0309000000000000" pitchFamily="49" charset="-120"/>
              </a:rPr>
              <a:t>答案：</a:t>
            </a:r>
            <a:r>
              <a:rPr lang="en-US" altLang="zh-TW" dirty="0">
                <a:latin typeface="DFYuanLight-B5" panose="020F0309000000000000" pitchFamily="49" charset="-120"/>
                <a:ea typeface="DFYuanLight-B5" panose="020F0309000000000000" pitchFamily="49" charset="-120"/>
              </a:rPr>
              <a:t>(</a:t>
            </a:r>
            <a:r>
              <a:rPr lang="en" altLang="zh-TW" dirty="0">
                <a:latin typeface="DFYuanLight-B5" panose="020F0309000000000000" pitchFamily="49" charset="-120"/>
                <a:ea typeface="DFYuanLight-B5" panose="020F0309000000000000" pitchFamily="49" charset="-120"/>
              </a:rPr>
              <a:t>B)</a:t>
            </a:r>
          </a:p>
          <a:p>
            <a:pPr>
              <a:buFont typeface="Arial" panose="020B0604020202020204" pitchFamily="34" charset="0"/>
              <a:buChar char="•"/>
            </a:pPr>
            <a:r>
              <a:rPr lang="zh-TW" altLang="en-US" b="1" dirty="0">
                <a:latin typeface="DFYuanLight-B5" panose="020F0309000000000000" pitchFamily="49" charset="-120"/>
                <a:ea typeface="DFYuanLight-B5" panose="020F0309000000000000" pitchFamily="49" charset="-120"/>
              </a:rPr>
              <a:t>解析：</a:t>
            </a:r>
            <a:r>
              <a:rPr lang="zh-TW" altLang="en-US" dirty="0">
                <a:latin typeface="DFYuanLight-B5" panose="020F0309000000000000" pitchFamily="49" charset="-120"/>
                <a:ea typeface="DFYuanLight-B5" panose="020F0309000000000000" pitchFamily="49" charset="-120"/>
              </a:rPr>
              <a:t> 雨漩渦在下雨時會收集雨水，經過過濾後循環使用。這不僅節省水資源，還能幫助建築室內降溫，減少空調耗能。這就是</a:t>
            </a:r>
            <a:r>
              <a:rPr lang="zh-TW" altLang="en-US" b="1" dirty="0">
                <a:latin typeface="DFYuanLight-B5" panose="020F0309000000000000" pitchFamily="49" charset="-120"/>
                <a:ea typeface="DFYuanLight-B5" panose="020F0309000000000000" pitchFamily="49" charset="-120"/>
              </a:rPr>
              <a:t>永續建築</a:t>
            </a:r>
            <a:r>
              <a:rPr lang="zh-TW" altLang="en-US" dirty="0">
                <a:latin typeface="DFYuanLight-B5" panose="020F0309000000000000" pitchFamily="49" charset="-120"/>
                <a:ea typeface="DFYuanLight-B5" panose="020F0309000000000000" pitchFamily="49" charset="-120"/>
              </a:rPr>
              <a:t>的智慧！</a:t>
            </a:r>
          </a:p>
          <a:p>
            <a:pPr>
              <a:buNone/>
            </a:pPr>
            <a:br>
              <a:rPr lang="zh-TW" altLang="en-US" dirty="0">
                <a:latin typeface="DFYuanLight-B5" panose="020F0309000000000000" pitchFamily="49" charset="-120"/>
                <a:ea typeface="DFYuanLight-B5" panose="020F0309000000000000" pitchFamily="49" charset="-120"/>
              </a:rPr>
            </a:br>
            <a:endParaRPr lang="zh-TW" altLang="en-US" dirty="0">
              <a:latin typeface="DFYuanLight-B5" panose="020F0309000000000000" pitchFamily="49" charset="-120"/>
              <a:ea typeface="DFYuanLight-B5" panose="020F0309000000000000" pitchFamily="49" charset="-120"/>
            </a:endParaRPr>
          </a:p>
          <a:p>
            <a:pPr>
              <a:buNone/>
            </a:pPr>
            <a:r>
              <a:rPr lang="en-US" altLang="zh-TW" b="1" dirty="0">
                <a:latin typeface="DFYuanLight-B5" panose="020F0309000000000000" pitchFamily="49" charset="-120"/>
                <a:ea typeface="DFYuanLight-B5" panose="020F0309000000000000" pitchFamily="49" charset="-120"/>
              </a:rPr>
              <a:t>2. </a:t>
            </a:r>
            <a:r>
              <a:rPr lang="zh-TW" altLang="en-US" b="1" dirty="0">
                <a:latin typeface="DFYuanLight-B5" panose="020F0309000000000000" pitchFamily="49" charset="-120"/>
                <a:ea typeface="DFYuanLight-B5" panose="020F0309000000000000" pitchFamily="49" charset="-120"/>
              </a:rPr>
              <a:t>魚尾獅公園 </a:t>
            </a:r>
            <a:r>
              <a:rPr lang="en-US" altLang="zh-TW" b="1" dirty="0">
                <a:latin typeface="DFYuanLight-B5" panose="020F0309000000000000" pitchFamily="49" charset="-120"/>
                <a:ea typeface="DFYuanLight-B5" panose="020F0309000000000000" pitchFamily="49" charset="-120"/>
              </a:rPr>
              <a:t>(</a:t>
            </a:r>
            <a:r>
              <a:rPr lang="en" altLang="zh-TW" b="1" dirty="0">
                <a:latin typeface="DFYuanLight-B5" panose="020F0309000000000000" pitchFamily="49" charset="-120"/>
                <a:ea typeface="DFYuanLight-B5" panose="020F0309000000000000" pitchFamily="49" charset="-120"/>
              </a:rPr>
              <a:t>Merlion Park)</a:t>
            </a:r>
          </a:p>
          <a:p>
            <a:pPr>
              <a:buNone/>
            </a:pPr>
            <a:r>
              <a:rPr lang="zh-TW" altLang="en-US" dirty="0">
                <a:latin typeface="DFYuanLight-B5" panose="020F0309000000000000" pitchFamily="49" charset="-120"/>
                <a:ea typeface="DFYuanLight-B5" panose="020F0309000000000000" pitchFamily="49" charset="-120"/>
              </a:rPr>
              <a:t>這裡是新加坡的象徵，連結了過去的漁村歷史與現在的繁榮。</a:t>
            </a:r>
          </a:p>
          <a:p>
            <a:pPr>
              <a:buFont typeface="Arial" panose="020B0604020202020204" pitchFamily="34" charset="0"/>
              <a:buChar char="•"/>
            </a:pPr>
            <a:r>
              <a:rPr lang="zh-TW" altLang="en-US" b="1" dirty="0">
                <a:latin typeface="DFYuanLight-B5" panose="020F0309000000000000" pitchFamily="49" charset="-120"/>
                <a:ea typeface="DFYuanLight-B5" panose="020F0309000000000000" pitchFamily="49" charset="-120"/>
              </a:rPr>
              <a:t>對應 </a:t>
            </a:r>
            <a:r>
              <a:rPr lang="en" altLang="zh-TW" b="1" dirty="0">
                <a:latin typeface="DFYuanLight-B5" panose="020F0309000000000000" pitchFamily="49" charset="-120"/>
                <a:ea typeface="DFYuanLight-B5" panose="020F0309000000000000" pitchFamily="49" charset="-120"/>
              </a:rPr>
              <a:t>SDGs </a:t>
            </a:r>
            <a:r>
              <a:rPr lang="zh-TW" altLang="en-US" b="1" dirty="0">
                <a:latin typeface="DFYuanLight-B5" panose="020F0309000000000000" pitchFamily="49" charset="-120"/>
                <a:ea typeface="DFYuanLight-B5" panose="020F0309000000000000" pitchFamily="49" charset="-120"/>
              </a:rPr>
              <a:t>目標：</a:t>
            </a:r>
            <a:endParaRPr lang="zh-TW" altLang="en-US" dirty="0">
              <a:latin typeface="DFYuanLight-B5" panose="020F0309000000000000" pitchFamily="49" charset="-120"/>
              <a:ea typeface="DFYuanLight-B5" panose="020F0309000000000000" pitchFamily="49" charset="-120"/>
            </a:endParaRPr>
          </a:p>
          <a:p>
            <a:pPr marL="742950" lvl="1" indent="-285750">
              <a:buFont typeface="Arial" panose="020B0604020202020204" pitchFamily="34" charset="0"/>
              <a:buChar char="•"/>
            </a:pPr>
            <a:r>
              <a:rPr lang="en" altLang="zh-TW" b="1" dirty="0">
                <a:latin typeface="DFYuanLight-B5" panose="020F0309000000000000" pitchFamily="49" charset="-120"/>
                <a:ea typeface="DFYuanLight-B5" panose="020F0309000000000000" pitchFamily="49" charset="-120"/>
              </a:rPr>
              <a:t>SDG 14</a:t>
            </a:r>
            <a:r>
              <a:rPr lang="zh-TW" altLang="en" b="1" dirty="0">
                <a:latin typeface="DFYuanLight-B5" panose="020F0309000000000000" pitchFamily="49" charset="-120"/>
                <a:ea typeface="DFYuanLight-B5" panose="020F0309000000000000" pitchFamily="49" charset="-120"/>
              </a:rPr>
              <a:t>：</a:t>
            </a:r>
            <a:r>
              <a:rPr lang="zh-TW" altLang="en-US" b="1" dirty="0">
                <a:latin typeface="DFYuanLight-B5" panose="020F0309000000000000" pitchFamily="49" charset="-120"/>
                <a:ea typeface="DFYuanLight-B5" panose="020F0309000000000000" pitchFamily="49" charset="-120"/>
              </a:rPr>
              <a:t>海洋生態</a:t>
            </a:r>
            <a:r>
              <a:rPr lang="zh-TW" altLang="en-US" dirty="0">
                <a:latin typeface="DFYuanLight-B5" panose="020F0309000000000000" pitchFamily="49" charset="-120"/>
                <a:ea typeface="DFYuanLight-B5" panose="020F0309000000000000" pitchFamily="49" charset="-120"/>
              </a:rPr>
              <a:t>（提醒大眾海洋文化對新加坡的重要性）。</a:t>
            </a:r>
          </a:p>
          <a:p>
            <a:pPr marL="742950" lvl="1" indent="-285750">
              <a:buFont typeface="Arial" panose="020B0604020202020204" pitchFamily="34" charset="0"/>
              <a:buChar char="•"/>
            </a:pPr>
            <a:r>
              <a:rPr lang="en" altLang="zh-TW" b="1" dirty="0">
                <a:latin typeface="DFYuanLight-B5" panose="020F0309000000000000" pitchFamily="49" charset="-120"/>
                <a:ea typeface="DFYuanLight-B5" panose="020F0309000000000000" pitchFamily="49" charset="-120"/>
              </a:rPr>
              <a:t>SDG 6</a:t>
            </a:r>
            <a:r>
              <a:rPr lang="zh-TW" altLang="en" b="1" dirty="0">
                <a:latin typeface="DFYuanLight-B5" panose="020F0309000000000000" pitchFamily="49" charset="-120"/>
                <a:ea typeface="DFYuanLight-B5" panose="020F0309000000000000" pitchFamily="49" charset="-120"/>
              </a:rPr>
              <a:t>：</a:t>
            </a:r>
            <a:r>
              <a:rPr lang="zh-TW" altLang="en-US" b="1" dirty="0">
                <a:latin typeface="DFYuanLight-B5" panose="020F0309000000000000" pitchFamily="49" charset="-120"/>
                <a:ea typeface="DFYuanLight-B5" panose="020F0309000000000000" pitchFamily="49" charset="-120"/>
              </a:rPr>
              <a:t>清潔飲水與衛生</a:t>
            </a:r>
            <a:r>
              <a:rPr lang="zh-TW" altLang="en-US" dirty="0">
                <a:latin typeface="DFYuanLight-B5" panose="020F0309000000000000" pitchFamily="49" charset="-120"/>
                <a:ea typeface="DFYuanLight-B5" panose="020F0309000000000000" pitchFamily="49" charset="-120"/>
              </a:rPr>
              <a:t>（魚尾獅所在地新加坡河口的清理，是新加坡水資源管理的成功典範）。</a:t>
            </a:r>
          </a:p>
          <a:p>
            <a:pPr>
              <a:buNone/>
            </a:pPr>
            <a:r>
              <a:rPr lang="zh-TW" altLang="en-US" b="1" dirty="0">
                <a:latin typeface="DFYuanLight-B5" panose="020F0309000000000000" pitchFamily="49" charset="-120"/>
                <a:ea typeface="DFYuanLight-B5" panose="020F0309000000000000" pitchFamily="49" charset="-120"/>
              </a:rPr>
              <a:t>💡 機智問答時間</a:t>
            </a:r>
          </a:p>
          <a:p>
            <a:pPr>
              <a:buFont typeface="Arial" panose="020B0604020202020204" pitchFamily="34" charset="0"/>
              <a:buChar char="•"/>
            </a:pPr>
            <a:r>
              <a:rPr lang="zh-TW" altLang="en-US" b="1" dirty="0">
                <a:latin typeface="DFYuanLight-B5" panose="020F0309000000000000" pitchFamily="49" charset="-120"/>
                <a:ea typeface="DFYuanLight-B5" panose="020F0309000000000000" pitchFamily="49" charset="-120"/>
              </a:rPr>
              <a:t>問題：</a:t>
            </a:r>
            <a:r>
              <a:rPr lang="zh-TW" altLang="en-US" dirty="0">
                <a:latin typeface="DFYuanLight-B5" panose="020F0309000000000000" pitchFamily="49" charset="-120"/>
                <a:ea typeface="DFYuanLight-B5" panose="020F0309000000000000" pitchFamily="49" charset="-120"/>
              </a:rPr>
              <a:t> 魚尾獅的形狀是「獅頭魚身」。魚身代表新加坡最初是一個名為「淡馬錫」</a:t>
            </a:r>
            <a:r>
              <a:rPr lang="en-US" altLang="zh-TW" dirty="0">
                <a:latin typeface="DFYuanLight-B5" panose="020F0309000000000000" pitchFamily="49" charset="-120"/>
                <a:ea typeface="DFYuanLight-B5" panose="020F0309000000000000" pitchFamily="49" charset="-120"/>
              </a:rPr>
              <a:t>(</a:t>
            </a:r>
            <a:r>
              <a:rPr lang="en" altLang="zh-TW" dirty="0">
                <a:latin typeface="DFYuanLight-B5" panose="020F0309000000000000" pitchFamily="49" charset="-120"/>
                <a:ea typeface="DFYuanLight-B5" panose="020F0309000000000000" pitchFamily="49" charset="-120"/>
              </a:rPr>
              <a:t>Temasek) </a:t>
            </a:r>
            <a:r>
              <a:rPr lang="zh-TW" altLang="en-US" dirty="0">
                <a:latin typeface="DFYuanLight-B5" panose="020F0309000000000000" pitchFamily="49" charset="-120"/>
                <a:ea typeface="DFYuanLight-B5" panose="020F0309000000000000" pitchFamily="49" charset="-120"/>
              </a:rPr>
              <a:t>的小漁村，那「獅頭」是代表什麼歷史典故？</a:t>
            </a:r>
          </a:p>
          <a:p>
            <a:pPr marL="742950" lvl="1" indent="-285750">
              <a:buFont typeface="Arial" panose="020B0604020202020204" pitchFamily="34" charset="0"/>
              <a:buChar char="•"/>
            </a:pPr>
            <a:r>
              <a:rPr lang="en-US" altLang="zh-TW" dirty="0">
                <a:latin typeface="DFYuanLight-B5" panose="020F0309000000000000" pitchFamily="49" charset="-120"/>
                <a:ea typeface="DFYuanLight-B5" panose="020F0309000000000000" pitchFamily="49" charset="-120"/>
              </a:rPr>
              <a:t>(</a:t>
            </a:r>
            <a:r>
              <a:rPr lang="en" altLang="zh-TW" dirty="0">
                <a:latin typeface="DFYuanLight-B5" panose="020F0309000000000000" pitchFamily="49" charset="-120"/>
                <a:ea typeface="DFYuanLight-B5" panose="020F0309000000000000" pitchFamily="49" charset="-120"/>
              </a:rPr>
              <a:t>A) </a:t>
            </a:r>
            <a:r>
              <a:rPr lang="zh-TW" altLang="en-US" dirty="0">
                <a:latin typeface="DFYuanLight-B5" panose="020F0309000000000000" pitchFamily="49" charset="-120"/>
                <a:ea typeface="DFYuanLight-B5" panose="020F0309000000000000" pitchFamily="49" charset="-120"/>
              </a:rPr>
              <a:t>這裡曾經有很多野生獅子</a:t>
            </a:r>
          </a:p>
          <a:p>
            <a:pPr marL="742950" lvl="1" indent="-285750">
              <a:buFont typeface="Arial" panose="020B0604020202020204" pitchFamily="34" charset="0"/>
              <a:buChar char="•"/>
            </a:pPr>
            <a:r>
              <a:rPr lang="en-US" altLang="zh-TW" dirty="0">
                <a:latin typeface="DFYuanLight-B5" panose="020F0309000000000000" pitchFamily="49" charset="-120"/>
                <a:ea typeface="DFYuanLight-B5" panose="020F0309000000000000" pitchFamily="49" charset="-120"/>
              </a:rPr>
              <a:t>(</a:t>
            </a:r>
            <a:r>
              <a:rPr lang="en" altLang="zh-TW" dirty="0">
                <a:latin typeface="DFYuanLight-B5" panose="020F0309000000000000" pitchFamily="49" charset="-120"/>
                <a:ea typeface="DFYuanLight-B5" panose="020F0309000000000000" pitchFamily="49" charset="-120"/>
              </a:rPr>
              <a:t>B) </a:t>
            </a:r>
            <a:r>
              <a:rPr lang="zh-TW" altLang="en-US" dirty="0">
                <a:latin typeface="DFYuanLight-B5" panose="020F0309000000000000" pitchFamily="49" charset="-120"/>
                <a:ea typeface="DFYuanLight-B5" panose="020F0309000000000000" pitchFamily="49" charset="-120"/>
              </a:rPr>
              <a:t>王子桑尼拉烏他瑪看見了一頭神獸，將此地命名為「獅城」</a:t>
            </a:r>
          </a:p>
          <a:p>
            <a:pPr marL="742950" lvl="1" indent="-285750">
              <a:buFont typeface="Arial" panose="020B0604020202020204" pitchFamily="34" charset="0"/>
              <a:buChar char="•"/>
            </a:pPr>
            <a:r>
              <a:rPr lang="en-US" altLang="zh-TW" dirty="0">
                <a:latin typeface="DFYuanLight-B5" panose="020F0309000000000000" pitchFamily="49" charset="-120"/>
                <a:ea typeface="DFYuanLight-B5" panose="020F0309000000000000" pitchFamily="49" charset="-120"/>
              </a:rPr>
              <a:t>(</a:t>
            </a:r>
            <a:r>
              <a:rPr lang="en" altLang="zh-TW" dirty="0">
                <a:latin typeface="DFYuanLight-B5" panose="020F0309000000000000" pitchFamily="49" charset="-120"/>
                <a:ea typeface="DFYuanLight-B5" panose="020F0309000000000000" pitchFamily="49" charset="-120"/>
              </a:rPr>
              <a:t>C) </a:t>
            </a:r>
            <a:r>
              <a:rPr lang="zh-TW" altLang="en-US" dirty="0">
                <a:latin typeface="DFYuanLight-B5" panose="020F0309000000000000" pitchFamily="49" charset="-120"/>
                <a:ea typeface="DFYuanLight-B5" panose="020F0309000000000000" pitchFamily="49" charset="-120"/>
              </a:rPr>
              <a:t>為了嚇跑海盜而設計的造型</a:t>
            </a:r>
          </a:p>
          <a:p>
            <a:pPr marL="742950" lvl="1" indent="-285750">
              <a:buFont typeface="Arial" panose="020B0604020202020204" pitchFamily="34" charset="0"/>
              <a:buChar char="•"/>
            </a:pPr>
            <a:r>
              <a:rPr lang="en-US" altLang="zh-TW" dirty="0">
                <a:latin typeface="DFYuanLight-B5" panose="020F0309000000000000" pitchFamily="49" charset="-120"/>
                <a:ea typeface="DFYuanLight-B5" panose="020F0309000000000000" pitchFamily="49" charset="-120"/>
              </a:rPr>
              <a:t>(</a:t>
            </a:r>
            <a:r>
              <a:rPr lang="en" altLang="zh-TW" dirty="0">
                <a:latin typeface="DFYuanLight-B5" panose="020F0309000000000000" pitchFamily="49" charset="-120"/>
                <a:ea typeface="DFYuanLight-B5" panose="020F0309000000000000" pitchFamily="49" charset="-120"/>
              </a:rPr>
              <a:t>D) </a:t>
            </a:r>
            <a:r>
              <a:rPr lang="zh-TW" altLang="en-US" dirty="0">
                <a:latin typeface="DFYuanLight-B5" panose="020F0309000000000000" pitchFamily="49" charset="-120"/>
                <a:ea typeface="DFYuanLight-B5" panose="020F0309000000000000" pitchFamily="49" charset="-120"/>
              </a:rPr>
              <a:t>代表新加坡人的勇猛</a:t>
            </a:r>
          </a:p>
          <a:p>
            <a:pPr>
              <a:buFont typeface="Arial" panose="020B0604020202020204" pitchFamily="34" charset="0"/>
              <a:buChar char="•"/>
            </a:pPr>
            <a:r>
              <a:rPr lang="zh-TW" altLang="en-US" b="1" dirty="0">
                <a:latin typeface="DFYuanLight-B5" panose="020F0309000000000000" pitchFamily="49" charset="-120"/>
                <a:ea typeface="DFYuanLight-B5" panose="020F0309000000000000" pitchFamily="49" charset="-120"/>
              </a:rPr>
              <a:t>答案：</a:t>
            </a:r>
            <a:r>
              <a:rPr lang="en-US" altLang="zh-TW" dirty="0">
                <a:latin typeface="DFYuanLight-B5" panose="020F0309000000000000" pitchFamily="49" charset="-120"/>
                <a:ea typeface="DFYuanLight-B5" panose="020F0309000000000000" pitchFamily="49" charset="-120"/>
              </a:rPr>
              <a:t>(</a:t>
            </a:r>
            <a:r>
              <a:rPr lang="en" altLang="zh-TW" dirty="0">
                <a:latin typeface="DFYuanLight-B5" panose="020F0309000000000000" pitchFamily="49" charset="-120"/>
                <a:ea typeface="DFYuanLight-B5" panose="020F0309000000000000" pitchFamily="49" charset="-120"/>
              </a:rPr>
              <a:t>B)</a:t>
            </a:r>
          </a:p>
          <a:p>
            <a:pPr>
              <a:buFont typeface="Arial" panose="020B0604020202020204" pitchFamily="34" charset="0"/>
              <a:buChar char="•"/>
            </a:pPr>
            <a:r>
              <a:rPr lang="zh-TW" altLang="en-US" b="1" dirty="0">
                <a:latin typeface="DFYuanLight-B5" panose="020F0309000000000000" pitchFamily="49" charset="-120"/>
                <a:ea typeface="DFYuanLight-B5" panose="020F0309000000000000" pitchFamily="49" charset="-120"/>
              </a:rPr>
              <a:t>解析：</a:t>
            </a:r>
            <a:r>
              <a:rPr lang="zh-TW" altLang="en-US" dirty="0">
                <a:latin typeface="DFYuanLight-B5" panose="020F0309000000000000" pitchFamily="49" charset="-120"/>
                <a:ea typeface="DFYuanLight-B5" panose="020F0309000000000000" pitchFamily="49" charset="-120"/>
              </a:rPr>
              <a:t> 根據傳說，蘇門答臘王子在島上看到一隻長得像獅子的生物，因此將此地命名為 </a:t>
            </a:r>
            <a:r>
              <a:rPr lang="en-US" altLang="zh-TW" dirty="0">
                <a:latin typeface="DFYuanLight-B5" panose="020F0309000000000000" pitchFamily="49" charset="-120"/>
                <a:ea typeface="DFYuanLight-B5" panose="020F0309000000000000" pitchFamily="49" charset="-120"/>
              </a:rPr>
              <a:t>"</a:t>
            </a:r>
            <a:r>
              <a:rPr lang="en" altLang="zh-TW" dirty="0">
                <a:latin typeface="DFYuanLight-B5" panose="020F0309000000000000" pitchFamily="49" charset="-120"/>
                <a:ea typeface="DFYuanLight-B5" panose="020F0309000000000000" pitchFamily="49" charset="-120"/>
              </a:rPr>
              <a:t>Singapura"</a:t>
            </a:r>
            <a:r>
              <a:rPr lang="zh-TW" altLang="en" dirty="0">
                <a:latin typeface="DFYuanLight-B5" panose="020F0309000000000000" pitchFamily="49" charset="-120"/>
                <a:ea typeface="DFYuanLight-B5" panose="020F0309000000000000" pitchFamily="49" charset="-120"/>
              </a:rPr>
              <a:t>（</a:t>
            </a:r>
            <a:r>
              <a:rPr lang="zh-TW" altLang="en-US" dirty="0">
                <a:latin typeface="DFYuanLight-B5" panose="020F0309000000000000" pitchFamily="49" charset="-120"/>
                <a:ea typeface="DFYuanLight-B5" panose="020F0309000000000000" pitchFamily="49" charset="-120"/>
              </a:rPr>
              <a:t>梵語意為獅子城）。雖然現在新加坡沒獅子，但這個標誌象徵了</a:t>
            </a:r>
            <a:r>
              <a:rPr lang="zh-TW" altLang="en-US" b="1" dirty="0">
                <a:latin typeface="DFYuanLight-B5" panose="020F0309000000000000" pitchFamily="49" charset="-120"/>
                <a:ea typeface="DFYuanLight-B5" panose="020F0309000000000000" pitchFamily="49" charset="-120"/>
              </a:rPr>
              <a:t>文化保存與歷史連結</a:t>
            </a:r>
            <a:r>
              <a:rPr lang="zh-TW" altLang="en-US" dirty="0">
                <a:latin typeface="DFYuanLight-B5" panose="020F0309000000000000" pitchFamily="49" charset="-120"/>
                <a:ea typeface="DFYuanLight-B5" panose="020F0309000000000000" pitchFamily="49" charset="-120"/>
              </a:rPr>
              <a:t>。</a:t>
            </a:r>
          </a:p>
          <a:p>
            <a:pPr>
              <a:buNone/>
            </a:pPr>
            <a:br>
              <a:rPr lang="zh-TW" altLang="en-US" dirty="0">
                <a:latin typeface="DFYuanLight-B5" panose="020F0309000000000000" pitchFamily="49" charset="-120"/>
                <a:ea typeface="DFYuanLight-B5" panose="020F0309000000000000" pitchFamily="49" charset="-120"/>
              </a:rPr>
            </a:br>
            <a:endParaRPr lang="zh-TW" altLang="en-US" dirty="0">
              <a:latin typeface="DFYuanLight-B5" panose="020F0309000000000000" pitchFamily="49" charset="-120"/>
              <a:ea typeface="DFYuanLight-B5" panose="020F0309000000000000" pitchFamily="49" charset="-120"/>
            </a:endParaRPr>
          </a:p>
          <a:p>
            <a:pPr>
              <a:buNone/>
            </a:pPr>
            <a:r>
              <a:rPr lang="en-US" altLang="zh-TW" b="1" dirty="0">
                <a:latin typeface="DFYuanLight-B5" panose="020F0309000000000000" pitchFamily="49" charset="-120"/>
                <a:ea typeface="DFYuanLight-B5" panose="020F0309000000000000" pitchFamily="49" charset="-120"/>
              </a:rPr>
              <a:t>3. </a:t>
            </a:r>
            <a:r>
              <a:rPr lang="zh-TW" altLang="en-US" b="1" dirty="0">
                <a:latin typeface="DFYuanLight-B5" panose="020F0309000000000000" pitchFamily="49" charset="-120"/>
                <a:ea typeface="DFYuanLight-B5" panose="020F0309000000000000" pitchFamily="49" charset="-120"/>
              </a:rPr>
              <a:t>克拉碼頭水上計程車 </a:t>
            </a:r>
            <a:r>
              <a:rPr lang="en-US" altLang="zh-TW" b="1" dirty="0">
                <a:latin typeface="DFYuanLight-B5" panose="020F0309000000000000" pitchFamily="49" charset="-120"/>
                <a:ea typeface="DFYuanLight-B5" panose="020F0309000000000000" pitchFamily="49" charset="-120"/>
              </a:rPr>
              <a:t>(</a:t>
            </a:r>
            <a:r>
              <a:rPr lang="en" altLang="zh-TW" b="1" dirty="0">
                <a:latin typeface="DFYuanLight-B5" panose="020F0309000000000000" pitchFamily="49" charset="-120"/>
                <a:ea typeface="DFYuanLight-B5" panose="020F0309000000000000" pitchFamily="49" charset="-120"/>
              </a:rPr>
              <a:t>Water Taxi)</a:t>
            </a:r>
          </a:p>
          <a:p>
            <a:pPr>
              <a:buNone/>
            </a:pPr>
            <a:r>
              <a:rPr lang="zh-TW" altLang="en-US" dirty="0">
                <a:latin typeface="DFYuanLight-B5" panose="020F0309000000000000" pitchFamily="49" charset="-120"/>
                <a:ea typeface="DFYuanLight-B5" panose="020F0309000000000000" pitchFamily="49" charset="-120"/>
              </a:rPr>
              <a:t>透過水路交通，看見新加坡從貿易港口轉型為永續都市的縮影。</a:t>
            </a:r>
          </a:p>
          <a:p>
            <a:pPr>
              <a:buFont typeface="Arial" panose="020B0604020202020204" pitchFamily="34" charset="0"/>
              <a:buChar char="•"/>
            </a:pPr>
            <a:r>
              <a:rPr lang="zh-TW" altLang="en-US" b="1" dirty="0">
                <a:latin typeface="DFYuanLight-B5" panose="020F0309000000000000" pitchFamily="49" charset="-120"/>
                <a:ea typeface="DFYuanLight-B5" panose="020F0309000000000000" pitchFamily="49" charset="-120"/>
              </a:rPr>
              <a:t>對應 </a:t>
            </a:r>
            <a:r>
              <a:rPr lang="en" altLang="zh-TW" b="1" dirty="0">
                <a:latin typeface="DFYuanLight-B5" panose="020F0309000000000000" pitchFamily="49" charset="-120"/>
                <a:ea typeface="DFYuanLight-B5" panose="020F0309000000000000" pitchFamily="49" charset="-120"/>
              </a:rPr>
              <a:t>SDGs </a:t>
            </a:r>
            <a:r>
              <a:rPr lang="zh-TW" altLang="en-US" b="1" dirty="0">
                <a:latin typeface="DFYuanLight-B5" panose="020F0309000000000000" pitchFamily="49" charset="-120"/>
                <a:ea typeface="DFYuanLight-B5" panose="020F0309000000000000" pitchFamily="49" charset="-120"/>
              </a:rPr>
              <a:t>目標：</a:t>
            </a:r>
            <a:endParaRPr lang="zh-TW" altLang="en-US" dirty="0">
              <a:latin typeface="DFYuanLight-B5" panose="020F0309000000000000" pitchFamily="49" charset="-120"/>
              <a:ea typeface="DFYuanLight-B5" panose="020F0309000000000000" pitchFamily="49" charset="-120"/>
            </a:endParaRPr>
          </a:p>
          <a:p>
            <a:pPr marL="742950" lvl="1" indent="-285750">
              <a:buFont typeface="Arial" panose="020B0604020202020204" pitchFamily="34" charset="0"/>
              <a:buChar char="•"/>
            </a:pPr>
            <a:r>
              <a:rPr lang="en" altLang="zh-TW" b="1" dirty="0">
                <a:latin typeface="DFYuanLight-B5" panose="020F0309000000000000" pitchFamily="49" charset="-120"/>
                <a:ea typeface="DFYuanLight-B5" panose="020F0309000000000000" pitchFamily="49" charset="-120"/>
              </a:rPr>
              <a:t>SDG 11</a:t>
            </a:r>
            <a:r>
              <a:rPr lang="zh-TW" altLang="en" b="1" dirty="0">
                <a:latin typeface="DFYuanLight-B5" panose="020F0309000000000000" pitchFamily="49" charset="-120"/>
                <a:ea typeface="DFYuanLight-B5" panose="020F0309000000000000" pitchFamily="49" charset="-120"/>
              </a:rPr>
              <a:t>：</a:t>
            </a:r>
            <a:r>
              <a:rPr lang="zh-TW" altLang="en-US" b="1" dirty="0">
                <a:latin typeface="DFYuanLight-B5" panose="020F0309000000000000" pitchFamily="49" charset="-120"/>
                <a:ea typeface="DFYuanLight-B5" panose="020F0309000000000000" pitchFamily="49" charset="-120"/>
              </a:rPr>
              <a:t>永續城市與社區</a:t>
            </a:r>
            <a:r>
              <a:rPr lang="zh-TW" altLang="en-US" dirty="0">
                <a:latin typeface="DFYuanLight-B5" panose="020F0309000000000000" pitchFamily="49" charset="-120"/>
                <a:ea typeface="DFYuanLight-B5" panose="020F0309000000000000" pitchFamily="49" charset="-120"/>
              </a:rPr>
              <a:t>（推廣低碳排的大眾運輸工具）。</a:t>
            </a:r>
          </a:p>
          <a:p>
            <a:pPr marL="742950" lvl="1" indent="-285750">
              <a:buFont typeface="Arial" panose="020B0604020202020204" pitchFamily="34" charset="0"/>
              <a:buChar char="•"/>
            </a:pPr>
            <a:r>
              <a:rPr lang="en" altLang="zh-TW" b="1" dirty="0">
                <a:latin typeface="DFYuanLight-B5" panose="020F0309000000000000" pitchFamily="49" charset="-120"/>
                <a:ea typeface="DFYuanLight-B5" panose="020F0309000000000000" pitchFamily="49" charset="-120"/>
              </a:rPr>
              <a:t>SDG 13</a:t>
            </a:r>
            <a:r>
              <a:rPr lang="zh-TW" altLang="en" b="1" dirty="0">
                <a:latin typeface="DFYuanLight-B5" panose="020F0309000000000000" pitchFamily="49" charset="-120"/>
                <a:ea typeface="DFYuanLight-B5" panose="020F0309000000000000" pitchFamily="49" charset="-120"/>
              </a:rPr>
              <a:t>：</a:t>
            </a:r>
            <a:r>
              <a:rPr lang="zh-TW" altLang="en-US" b="1" dirty="0">
                <a:latin typeface="DFYuanLight-B5" panose="020F0309000000000000" pitchFamily="49" charset="-120"/>
                <a:ea typeface="DFYuanLight-B5" panose="020F0309000000000000" pitchFamily="49" charset="-120"/>
              </a:rPr>
              <a:t>氣候行動</a:t>
            </a:r>
            <a:r>
              <a:rPr lang="zh-TW" altLang="en-US" dirty="0">
                <a:latin typeface="DFYuanLight-B5" panose="020F0309000000000000" pitchFamily="49" charset="-120"/>
                <a:ea typeface="DFYuanLight-B5" panose="020F0309000000000000" pitchFamily="49" charset="-120"/>
              </a:rPr>
              <a:t>（減少道路交通擁塞及溫室氣體排放）。</a:t>
            </a:r>
          </a:p>
          <a:p>
            <a:pPr>
              <a:buNone/>
            </a:pPr>
            <a:r>
              <a:rPr lang="zh-TW" altLang="en-US" b="1" dirty="0">
                <a:latin typeface="DFYuanLight-B5" panose="020F0309000000000000" pitchFamily="49" charset="-120"/>
                <a:ea typeface="DFYuanLight-B5" panose="020F0309000000000000" pitchFamily="49" charset="-120"/>
              </a:rPr>
              <a:t>💡 機智問答時間</a:t>
            </a:r>
          </a:p>
          <a:p>
            <a:pPr>
              <a:buFont typeface="Arial" panose="020B0604020202020204" pitchFamily="34" charset="0"/>
              <a:buChar char="•"/>
            </a:pPr>
            <a:r>
              <a:rPr lang="zh-TW" altLang="en-US" b="1" dirty="0">
                <a:latin typeface="DFYuanLight-B5" panose="020F0309000000000000" pitchFamily="49" charset="-120"/>
                <a:ea typeface="DFYuanLight-B5" panose="020F0309000000000000" pitchFamily="49" charset="-120"/>
              </a:rPr>
              <a:t>問題：</a:t>
            </a:r>
            <a:r>
              <a:rPr lang="zh-TW" altLang="en-US" dirty="0">
                <a:latin typeface="DFYuanLight-B5" panose="020F0309000000000000" pitchFamily="49" charset="-120"/>
                <a:ea typeface="DFYuanLight-B5" panose="020F0309000000000000" pitchFamily="49" charset="-120"/>
              </a:rPr>
              <a:t> 在 </a:t>
            </a:r>
            <a:r>
              <a:rPr lang="en-US" altLang="zh-TW" dirty="0">
                <a:latin typeface="DFYuanLight-B5" panose="020F0309000000000000" pitchFamily="49" charset="-120"/>
                <a:ea typeface="DFYuanLight-B5" panose="020F0309000000000000" pitchFamily="49" charset="-120"/>
              </a:rPr>
              <a:t>1970 </a:t>
            </a:r>
            <a:r>
              <a:rPr lang="zh-TW" altLang="en-US" dirty="0">
                <a:latin typeface="DFYuanLight-B5" panose="020F0309000000000000" pitchFamily="49" charset="-120"/>
                <a:ea typeface="DFYuanLight-B5" panose="020F0309000000000000" pitchFamily="49" charset="-120"/>
              </a:rPr>
              <a:t>年代，新加坡河曾因汙染嚴重而臭氣熏天。新加坡政府花了 </a:t>
            </a:r>
            <a:r>
              <a:rPr lang="en-US" altLang="zh-TW" dirty="0">
                <a:latin typeface="DFYuanLight-B5" panose="020F0309000000000000" pitchFamily="49" charset="-120"/>
                <a:ea typeface="DFYuanLight-B5" panose="020F0309000000000000" pitchFamily="49" charset="-120"/>
              </a:rPr>
              <a:t>10 </a:t>
            </a:r>
            <a:r>
              <a:rPr lang="zh-TW" altLang="en-US" dirty="0">
                <a:latin typeface="DFYuanLight-B5" panose="020F0309000000000000" pitchFamily="49" charset="-120"/>
                <a:ea typeface="DFYuanLight-B5" panose="020F0309000000000000" pitchFamily="49" charset="-120"/>
              </a:rPr>
              <a:t>年進行「清河行動」。請問現在乘坐水上計程車取代陸路交通，對永續發展最大的貢獻是什麼？</a:t>
            </a:r>
          </a:p>
          <a:p>
            <a:pPr marL="742950" lvl="1" indent="-285750">
              <a:buFont typeface="Arial" panose="020B0604020202020204" pitchFamily="34" charset="0"/>
              <a:buChar char="•"/>
            </a:pPr>
            <a:r>
              <a:rPr lang="en-US" altLang="zh-TW" dirty="0">
                <a:latin typeface="DFYuanLight-B5" panose="020F0309000000000000" pitchFamily="49" charset="-120"/>
                <a:ea typeface="DFYuanLight-B5" panose="020F0309000000000000" pitchFamily="49" charset="-120"/>
              </a:rPr>
              <a:t>(</a:t>
            </a:r>
            <a:r>
              <a:rPr lang="en" altLang="zh-TW" dirty="0">
                <a:latin typeface="DFYuanLight-B5" panose="020F0309000000000000" pitchFamily="49" charset="-120"/>
                <a:ea typeface="DFYuanLight-B5" panose="020F0309000000000000" pitchFamily="49" charset="-120"/>
              </a:rPr>
              <a:t>A) </a:t>
            </a:r>
            <a:r>
              <a:rPr lang="zh-TW" altLang="en-US" dirty="0">
                <a:latin typeface="DFYuanLight-B5" panose="020F0309000000000000" pitchFamily="49" charset="-120"/>
                <a:ea typeface="DFYuanLight-B5" panose="020F0309000000000000" pitchFamily="49" charset="-120"/>
              </a:rPr>
              <a:t>船跑得比計程車快</a:t>
            </a:r>
          </a:p>
          <a:p>
            <a:pPr marL="742950" lvl="1" indent="-285750">
              <a:buFont typeface="Arial" panose="020B0604020202020204" pitchFamily="34" charset="0"/>
              <a:buChar char="•"/>
            </a:pPr>
            <a:r>
              <a:rPr lang="en-US" altLang="zh-TW" dirty="0">
                <a:latin typeface="DFYuanLight-B5" panose="020F0309000000000000" pitchFamily="49" charset="-120"/>
                <a:ea typeface="DFYuanLight-B5" panose="020F0309000000000000" pitchFamily="49" charset="-120"/>
              </a:rPr>
              <a:t>(</a:t>
            </a:r>
            <a:r>
              <a:rPr lang="en" altLang="zh-TW" dirty="0">
                <a:latin typeface="DFYuanLight-B5" panose="020F0309000000000000" pitchFamily="49" charset="-120"/>
                <a:ea typeface="DFYuanLight-B5" panose="020F0309000000000000" pitchFamily="49" charset="-120"/>
              </a:rPr>
              <a:t>B) </a:t>
            </a:r>
            <a:r>
              <a:rPr lang="zh-TW" altLang="en-US" dirty="0">
                <a:latin typeface="DFYuanLight-B5" panose="020F0309000000000000" pitchFamily="49" charset="-120"/>
                <a:ea typeface="DFYuanLight-B5" panose="020F0309000000000000" pitchFamily="49" charset="-120"/>
              </a:rPr>
              <a:t>減少路面交通擠塞與碳排放</a:t>
            </a:r>
          </a:p>
          <a:p>
            <a:pPr marL="742950" lvl="1" indent="-285750">
              <a:buFont typeface="Arial" panose="020B0604020202020204" pitchFamily="34" charset="0"/>
              <a:buChar char="•"/>
            </a:pPr>
            <a:r>
              <a:rPr lang="en-US" altLang="zh-TW" dirty="0">
                <a:latin typeface="DFYuanLight-B5" panose="020F0309000000000000" pitchFamily="49" charset="-120"/>
                <a:ea typeface="DFYuanLight-B5" panose="020F0309000000000000" pitchFamily="49" charset="-120"/>
              </a:rPr>
              <a:t>(</a:t>
            </a:r>
            <a:r>
              <a:rPr lang="en" altLang="zh-TW" dirty="0">
                <a:latin typeface="DFYuanLight-B5" panose="020F0309000000000000" pitchFamily="49" charset="-120"/>
                <a:ea typeface="DFYuanLight-B5" panose="020F0309000000000000" pitchFamily="49" charset="-120"/>
              </a:rPr>
              <a:t>C) </a:t>
            </a:r>
            <a:r>
              <a:rPr lang="zh-TW" altLang="en-US" dirty="0">
                <a:latin typeface="DFYuanLight-B5" panose="020F0309000000000000" pitchFamily="49" charset="-120"/>
                <a:ea typeface="DFYuanLight-B5" panose="020F0309000000000000" pitchFamily="49" charset="-120"/>
              </a:rPr>
              <a:t>讓魚類有地方運動</a:t>
            </a:r>
          </a:p>
          <a:p>
            <a:pPr marL="742950" lvl="1" indent="-285750">
              <a:buFont typeface="Arial" panose="020B0604020202020204" pitchFamily="34" charset="0"/>
              <a:buChar char="•"/>
            </a:pPr>
            <a:r>
              <a:rPr lang="en-US" altLang="zh-TW" dirty="0">
                <a:latin typeface="DFYuanLight-B5" panose="020F0309000000000000" pitchFamily="49" charset="-120"/>
                <a:ea typeface="DFYuanLight-B5" panose="020F0309000000000000" pitchFamily="49" charset="-120"/>
              </a:rPr>
              <a:t>(</a:t>
            </a:r>
            <a:r>
              <a:rPr lang="en" altLang="zh-TW" dirty="0">
                <a:latin typeface="DFYuanLight-B5" panose="020F0309000000000000" pitchFamily="49" charset="-120"/>
                <a:ea typeface="DFYuanLight-B5" panose="020F0309000000000000" pitchFamily="49" charset="-120"/>
              </a:rPr>
              <a:t>D) </a:t>
            </a:r>
            <a:r>
              <a:rPr lang="zh-TW" altLang="en-US" dirty="0">
                <a:latin typeface="DFYuanLight-B5" panose="020F0309000000000000" pitchFamily="49" charset="-120"/>
                <a:ea typeface="DFYuanLight-B5" panose="020F0309000000000000" pitchFamily="49" charset="-120"/>
              </a:rPr>
              <a:t>增加遊客的拍照時間</a:t>
            </a:r>
          </a:p>
          <a:p>
            <a:pPr>
              <a:buFont typeface="Arial" panose="020B0604020202020204" pitchFamily="34" charset="0"/>
              <a:buChar char="•"/>
            </a:pPr>
            <a:r>
              <a:rPr lang="zh-TW" altLang="en-US" b="1" dirty="0">
                <a:latin typeface="DFYuanLight-B5" panose="020F0309000000000000" pitchFamily="49" charset="-120"/>
                <a:ea typeface="DFYuanLight-B5" panose="020F0309000000000000" pitchFamily="49" charset="-120"/>
              </a:rPr>
              <a:t>答案：</a:t>
            </a:r>
            <a:r>
              <a:rPr lang="en-US" altLang="zh-TW" dirty="0">
                <a:latin typeface="DFYuanLight-B5" panose="020F0309000000000000" pitchFamily="49" charset="-120"/>
                <a:ea typeface="DFYuanLight-B5" panose="020F0309000000000000" pitchFamily="49" charset="-120"/>
              </a:rPr>
              <a:t>(</a:t>
            </a:r>
            <a:r>
              <a:rPr lang="en" altLang="zh-TW" dirty="0">
                <a:latin typeface="DFYuanLight-B5" panose="020F0309000000000000" pitchFamily="49" charset="-120"/>
                <a:ea typeface="DFYuanLight-B5" panose="020F0309000000000000" pitchFamily="49" charset="-120"/>
              </a:rPr>
              <a:t>B)</a:t>
            </a:r>
          </a:p>
          <a:p>
            <a:pPr>
              <a:buFont typeface="Arial" panose="020B0604020202020204" pitchFamily="34" charset="0"/>
              <a:buChar char="•"/>
            </a:pPr>
            <a:r>
              <a:rPr lang="zh-TW" altLang="en-US" b="1" dirty="0">
                <a:latin typeface="DFYuanLight-B5" panose="020F0309000000000000" pitchFamily="49" charset="-120"/>
                <a:ea typeface="DFYuanLight-B5" panose="020F0309000000000000" pitchFamily="49" charset="-120"/>
              </a:rPr>
              <a:t>解析：</a:t>
            </a:r>
            <a:r>
              <a:rPr lang="zh-TW" altLang="en-US" dirty="0">
                <a:latin typeface="DFYuanLight-B5" panose="020F0309000000000000" pitchFamily="49" charset="-120"/>
                <a:ea typeface="DFYuanLight-B5" panose="020F0309000000000000" pitchFamily="49" charset="-120"/>
              </a:rPr>
              <a:t> 利用水路運輸能有效分擔陸地交通壓力。現在許多水上計程車也朝向電動化發展，這正是落實</a:t>
            </a:r>
            <a:r>
              <a:rPr lang="zh-TW" altLang="en-US" b="1" dirty="0">
                <a:latin typeface="DFYuanLight-B5" panose="020F0309000000000000" pitchFamily="49" charset="-120"/>
                <a:ea typeface="DFYuanLight-B5" panose="020F0309000000000000" pitchFamily="49" charset="-120"/>
              </a:rPr>
              <a:t>低碳交通</a:t>
            </a:r>
            <a:r>
              <a:rPr lang="zh-TW" altLang="en-US" dirty="0">
                <a:latin typeface="DFYuanLight-B5" panose="020F0309000000000000" pitchFamily="49" charset="-120"/>
                <a:ea typeface="DFYuanLight-B5" panose="020F0309000000000000" pitchFamily="49" charset="-120"/>
              </a:rPr>
              <a:t>的具體表現。</a:t>
            </a:r>
          </a:p>
          <a:p>
            <a:pPr>
              <a:buNone/>
            </a:pPr>
            <a:br>
              <a:rPr lang="zh-TW" altLang="en-US" dirty="0">
                <a:latin typeface="DFYuanLight-B5" panose="020F0309000000000000" pitchFamily="49" charset="-120"/>
                <a:ea typeface="DFYuanLight-B5" panose="020F0309000000000000" pitchFamily="49" charset="-120"/>
              </a:rPr>
            </a:br>
            <a:endParaRPr lang="zh-TW" altLang="en-US" dirty="0">
              <a:latin typeface="DFYuanLight-B5" panose="020F0309000000000000" pitchFamily="49" charset="-120"/>
              <a:ea typeface="DFYuanLight-B5" panose="020F0309000000000000" pitchFamily="49" charset="-120"/>
            </a:endParaRPr>
          </a:p>
          <a:p>
            <a:pPr>
              <a:buNone/>
            </a:pPr>
            <a:r>
              <a:rPr lang="zh-TW" altLang="en-US" b="1" dirty="0">
                <a:latin typeface="DFYuanLight-B5" panose="020F0309000000000000" pitchFamily="49" charset="-120"/>
                <a:ea typeface="DFYuanLight-B5" panose="020F0309000000000000" pitchFamily="49" charset="-120"/>
              </a:rPr>
              <a:t>🌟 給老師</a:t>
            </a:r>
            <a:r>
              <a:rPr lang="en-US" altLang="zh-TW" b="1" dirty="0">
                <a:latin typeface="DFYuanLight-B5" panose="020F0309000000000000" pitchFamily="49" charset="-120"/>
                <a:ea typeface="DFYuanLight-B5" panose="020F0309000000000000" pitchFamily="49" charset="-120"/>
              </a:rPr>
              <a:t>/</a:t>
            </a:r>
            <a:r>
              <a:rPr lang="zh-TW" altLang="en-US" b="1" dirty="0">
                <a:latin typeface="DFYuanLight-B5" panose="020F0309000000000000" pitchFamily="49" charset="-120"/>
                <a:ea typeface="DFYuanLight-B5" panose="020F0309000000000000" pitchFamily="49" charset="-120"/>
              </a:rPr>
              <a:t>領隊的小提醒：</a:t>
            </a:r>
          </a:p>
          <a:p>
            <a:pPr>
              <a:buNone/>
            </a:pPr>
            <a:r>
              <a:rPr lang="zh-TW" altLang="en-US" dirty="0">
                <a:latin typeface="DFYuanLight-B5" panose="020F0309000000000000" pitchFamily="49" charset="-120"/>
                <a:ea typeface="DFYuanLight-B5" panose="020F0309000000000000" pitchFamily="49" charset="-120"/>
              </a:rPr>
              <a:t>在帶領同學參觀時，可以引導他們觀察：</a:t>
            </a:r>
          </a:p>
          <a:p>
            <a:pPr>
              <a:buFont typeface="+mj-lt"/>
              <a:buAutoNum type="arabicPeriod"/>
            </a:pPr>
            <a:r>
              <a:rPr lang="zh-TW" altLang="en-US" b="1" dirty="0">
                <a:latin typeface="DFYuanLight-B5" panose="020F0309000000000000" pitchFamily="49" charset="-120"/>
                <a:ea typeface="DFYuanLight-B5" panose="020F0309000000000000" pitchFamily="49" charset="-120"/>
              </a:rPr>
              <a:t>星耀樟宜</a:t>
            </a:r>
            <a:r>
              <a:rPr lang="zh-TW" altLang="en-US" dirty="0">
                <a:latin typeface="DFYuanLight-B5" panose="020F0309000000000000" pitchFamily="49" charset="-120"/>
                <a:ea typeface="DFYuanLight-B5" panose="020F0309000000000000" pitchFamily="49" charset="-120"/>
              </a:rPr>
              <a:t>：植物的密度與空氣的濕度。</a:t>
            </a:r>
          </a:p>
          <a:p>
            <a:pPr>
              <a:buFont typeface="+mj-lt"/>
              <a:buAutoNum type="arabicPeriod"/>
            </a:pPr>
            <a:r>
              <a:rPr lang="zh-TW" altLang="en-US" b="1" dirty="0">
                <a:latin typeface="DFYuanLight-B5" panose="020F0309000000000000" pitchFamily="49" charset="-120"/>
                <a:ea typeface="DFYuanLight-B5" panose="020F0309000000000000" pitchFamily="49" charset="-120"/>
              </a:rPr>
              <a:t>魚尾獅</a:t>
            </a:r>
            <a:r>
              <a:rPr lang="zh-TW" altLang="en-US" dirty="0">
                <a:latin typeface="DFYuanLight-B5" panose="020F0309000000000000" pitchFamily="49" charset="-120"/>
                <a:ea typeface="DFYuanLight-B5" panose="020F0309000000000000" pitchFamily="49" charset="-120"/>
              </a:rPr>
              <a:t>：河水的清澈度與周邊的垃圾分類。</a:t>
            </a:r>
          </a:p>
          <a:p>
            <a:pPr>
              <a:buFont typeface="+mj-lt"/>
              <a:buAutoNum type="arabicPeriod"/>
            </a:pPr>
            <a:r>
              <a:rPr lang="zh-TW" altLang="en-US" b="1" dirty="0">
                <a:latin typeface="DFYuanLight-B5" panose="020F0309000000000000" pitchFamily="49" charset="-120"/>
                <a:ea typeface="DFYuanLight-B5" panose="020F0309000000000000" pitchFamily="49" charset="-120"/>
              </a:rPr>
              <a:t>克拉碼頭</a:t>
            </a:r>
            <a:r>
              <a:rPr lang="zh-TW" altLang="en-US" dirty="0">
                <a:latin typeface="DFYuanLight-B5" panose="020F0309000000000000" pitchFamily="49" charset="-120"/>
                <a:ea typeface="DFYuanLight-B5" panose="020F0309000000000000" pitchFamily="49" charset="-120"/>
              </a:rPr>
              <a:t>：觀察河岸邊的建築是如何保留歷史外觀並賦予現代用途（文化永續）。</a:t>
            </a:r>
          </a:p>
          <a:p>
            <a:pPr>
              <a:buNone/>
            </a:pPr>
            <a:r>
              <a:rPr lang="zh-TW" altLang="en-US" dirty="0">
                <a:latin typeface="DFYuanLight-B5" panose="020F0309000000000000" pitchFamily="49" charset="-120"/>
                <a:ea typeface="DFYuanLight-B5" panose="020F0309000000000000" pitchFamily="49" charset="-120"/>
              </a:rPr>
              <a:t>希望這份資料能讓你們的參訪更有深度！需要更多細節隨時跟我說。</a:t>
            </a:r>
          </a:p>
        </p:txBody>
      </p:sp>
      <p:sp>
        <p:nvSpPr>
          <p:cNvPr id="8" name="圓角矩形 7">
            <a:extLst>
              <a:ext uri="{FF2B5EF4-FFF2-40B4-BE49-F238E27FC236}">
                <a16:creationId xmlns:a16="http://schemas.microsoft.com/office/drawing/2014/main" id="{3A6F6DCC-59D1-E273-D431-CFE9A0A8F92D}"/>
              </a:ext>
            </a:extLst>
          </p:cNvPr>
          <p:cNvSpPr/>
          <p:nvPr/>
        </p:nvSpPr>
        <p:spPr>
          <a:xfrm>
            <a:off x="171651" y="5689600"/>
            <a:ext cx="6514697" cy="568960"/>
          </a:xfrm>
          <a:prstGeom prst="roundRect">
            <a:avLst/>
          </a:prstGeom>
          <a:effectLst>
            <a:outerShdw blurRad="50800" dist="38100" dir="5400000" algn="t"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tlCol="0" anchor="ctr"/>
          <a:lstStyle/>
          <a:p>
            <a:pPr algn="ctr"/>
            <a:r>
              <a:rPr kumimoji="1" lang="zh-TW" altLang="en-US" sz="2400" dirty="0">
                <a:latin typeface="DFPYuanBold-B5" panose="020F0700000000000000" pitchFamily="34" charset="-120"/>
                <a:ea typeface="DFPYuanBold-B5" panose="020F0700000000000000" pitchFamily="34" charset="-120"/>
              </a:rPr>
              <a:t>第一天</a:t>
            </a:r>
            <a:r>
              <a:rPr kumimoji="1" lang="en-US" altLang="zh-TW" sz="2400" dirty="0">
                <a:latin typeface="DFPYuanBold-B5" panose="020F0700000000000000" pitchFamily="34" charset="-120"/>
                <a:ea typeface="DFPYuanBold-B5" panose="020F0700000000000000" pitchFamily="34" charset="-120"/>
              </a:rPr>
              <a:t>-</a:t>
            </a:r>
            <a:r>
              <a:rPr kumimoji="1" lang="zh-TW" altLang="en-US" sz="2400" dirty="0">
                <a:latin typeface="DFPYuanBold-B5" panose="020F0700000000000000" pitchFamily="34" charset="-120"/>
                <a:ea typeface="DFPYuanBold-B5" panose="020F0700000000000000" pitchFamily="34" charset="-120"/>
              </a:rPr>
              <a:t>景點</a:t>
            </a:r>
            <a:r>
              <a:rPr kumimoji="1" lang="en-US" altLang="zh-TW" sz="2400" dirty="0">
                <a:latin typeface="DFPYuanBold-B5" panose="020F0700000000000000" pitchFamily="34" charset="-120"/>
                <a:ea typeface="DFPYuanBold-B5" panose="020F0700000000000000" pitchFamily="34" charset="-120"/>
              </a:rPr>
              <a:t>SDGs</a:t>
            </a:r>
            <a:r>
              <a:rPr kumimoji="1" lang="zh-TW" altLang="en-US" sz="2400" dirty="0">
                <a:latin typeface="DFPYuanBold-B5" panose="020F0700000000000000" pitchFamily="34" charset="-120"/>
                <a:ea typeface="DFPYuanBold-B5" panose="020F0700000000000000" pitchFamily="34" charset="-120"/>
              </a:rPr>
              <a:t>介紹</a:t>
            </a:r>
          </a:p>
        </p:txBody>
      </p:sp>
      <p:grpSp>
        <p:nvGrpSpPr>
          <p:cNvPr id="13" name="群組 12">
            <a:extLst>
              <a:ext uri="{FF2B5EF4-FFF2-40B4-BE49-F238E27FC236}">
                <a16:creationId xmlns:a16="http://schemas.microsoft.com/office/drawing/2014/main" id="{9AE9369E-E1A2-505B-091E-0E1F4646E3DA}"/>
              </a:ext>
            </a:extLst>
          </p:cNvPr>
          <p:cNvGrpSpPr/>
          <p:nvPr/>
        </p:nvGrpSpPr>
        <p:grpSpPr>
          <a:xfrm>
            <a:off x="131012" y="6358919"/>
            <a:ext cx="6593802" cy="3110201"/>
            <a:chOff x="131012" y="6358919"/>
            <a:chExt cx="6593802" cy="3110201"/>
          </a:xfrm>
        </p:grpSpPr>
        <p:pic>
          <p:nvPicPr>
            <p:cNvPr id="7" name="圖片 6">
              <a:extLst>
                <a:ext uri="{FF2B5EF4-FFF2-40B4-BE49-F238E27FC236}">
                  <a16:creationId xmlns:a16="http://schemas.microsoft.com/office/drawing/2014/main" id="{520A7D3A-110F-1E1B-1F4C-3BB367525328}"/>
                </a:ext>
              </a:extLst>
            </p:cNvPr>
            <p:cNvPicPr>
              <a:picLocks noChangeAspect="1"/>
            </p:cNvPicPr>
            <p:nvPr/>
          </p:nvPicPr>
          <p:blipFill>
            <a:blip r:embed="rId2"/>
            <a:stretch>
              <a:fillRect/>
            </a:stretch>
          </p:blipFill>
          <p:spPr>
            <a:xfrm>
              <a:off x="131012" y="6358919"/>
              <a:ext cx="2180783" cy="3110197"/>
            </a:xfrm>
            <a:prstGeom prst="rect">
              <a:avLst/>
            </a:prstGeom>
          </p:spPr>
        </p:pic>
        <p:pic>
          <p:nvPicPr>
            <p:cNvPr id="10" name="圖片 9">
              <a:extLst>
                <a:ext uri="{FF2B5EF4-FFF2-40B4-BE49-F238E27FC236}">
                  <a16:creationId xmlns:a16="http://schemas.microsoft.com/office/drawing/2014/main" id="{5008C91C-7CE0-8798-33BA-7E4692CEED5E}"/>
                </a:ext>
              </a:extLst>
            </p:cNvPr>
            <p:cNvPicPr>
              <a:picLocks noChangeAspect="1"/>
            </p:cNvPicPr>
            <p:nvPr/>
          </p:nvPicPr>
          <p:blipFill>
            <a:blip r:embed="rId3"/>
            <a:stretch>
              <a:fillRect/>
            </a:stretch>
          </p:blipFill>
          <p:spPr>
            <a:xfrm>
              <a:off x="2337520" y="6358919"/>
              <a:ext cx="2180784" cy="3110198"/>
            </a:xfrm>
            <a:prstGeom prst="rect">
              <a:avLst/>
            </a:prstGeom>
          </p:spPr>
        </p:pic>
        <p:pic>
          <p:nvPicPr>
            <p:cNvPr id="12" name="圖片 11">
              <a:extLst>
                <a:ext uri="{FF2B5EF4-FFF2-40B4-BE49-F238E27FC236}">
                  <a16:creationId xmlns:a16="http://schemas.microsoft.com/office/drawing/2014/main" id="{7A838F2A-C31D-2AB7-2E55-789A66D0427A}"/>
                </a:ext>
              </a:extLst>
            </p:cNvPr>
            <p:cNvPicPr>
              <a:picLocks noChangeAspect="1"/>
            </p:cNvPicPr>
            <p:nvPr/>
          </p:nvPicPr>
          <p:blipFill>
            <a:blip r:embed="rId4"/>
            <a:stretch>
              <a:fillRect/>
            </a:stretch>
          </p:blipFill>
          <p:spPr>
            <a:xfrm>
              <a:off x="4544029" y="6358919"/>
              <a:ext cx="2180785" cy="3110201"/>
            </a:xfrm>
            <a:prstGeom prst="rect">
              <a:avLst/>
            </a:prstGeom>
          </p:spPr>
        </p:pic>
      </p:grpSp>
    </p:spTree>
    <p:extLst>
      <p:ext uri="{BB962C8B-B14F-4D97-AF65-F5344CB8AC3E}">
        <p14:creationId xmlns:p14="http://schemas.microsoft.com/office/powerpoint/2010/main" val="356896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CEDBF-5D3A-FA47-9AAE-F0703DC2B35C}"/>
            </a:ext>
          </a:extLst>
        </p:cNvPr>
        <p:cNvGrpSpPr/>
        <p:nvPr/>
      </p:nvGrpSpPr>
      <p:grpSpPr>
        <a:xfrm>
          <a:off x="0" y="0"/>
          <a:ext cx="0" cy="0"/>
          <a:chOff x="0" y="0"/>
          <a:chExt cx="0" cy="0"/>
        </a:xfrm>
      </p:grpSpPr>
      <p:sp>
        <p:nvSpPr>
          <p:cNvPr id="8" name="圓角矩形 7">
            <a:extLst>
              <a:ext uri="{FF2B5EF4-FFF2-40B4-BE49-F238E27FC236}">
                <a16:creationId xmlns:a16="http://schemas.microsoft.com/office/drawing/2014/main" id="{45DA3189-BDC4-7A8B-38F9-7A6047D4A0F0}"/>
              </a:ext>
            </a:extLst>
          </p:cNvPr>
          <p:cNvSpPr/>
          <p:nvPr/>
        </p:nvSpPr>
        <p:spPr>
          <a:xfrm>
            <a:off x="0" y="5142028"/>
            <a:ext cx="1116000" cy="240632"/>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 name="圓角矩形 3">
            <a:extLst>
              <a:ext uri="{FF2B5EF4-FFF2-40B4-BE49-F238E27FC236}">
                <a16:creationId xmlns:a16="http://schemas.microsoft.com/office/drawing/2014/main" id="{87F53D2A-4F9F-1D3A-6A09-C5947140630B}"/>
              </a:ext>
            </a:extLst>
          </p:cNvPr>
          <p:cNvSpPr/>
          <p:nvPr/>
        </p:nvSpPr>
        <p:spPr>
          <a:xfrm>
            <a:off x="0" y="2405779"/>
            <a:ext cx="1116000" cy="240632"/>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 name="圓角矩形 1">
            <a:extLst>
              <a:ext uri="{FF2B5EF4-FFF2-40B4-BE49-F238E27FC236}">
                <a16:creationId xmlns:a16="http://schemas.microsoft.com/office/drawing/2014/main" id="{DC9B9C38-B0FE-D422-57C9-7F0C39D81171}"/>
              </a:ext>
            </a:extLst>
          </p:cNvPr>
          <p:cNvSpPr/>
          <p:nvPr/>
        </p:nvSpPr>
        <p:spPr>
          <a:xfrm>
            <a:off x="1" y="320842"/>
            <a:ext cx="3930316" cy="240632"/>
          </a:xfrm>
          <a:prstGeom prst="roundRect">
            <a:avLst/>
          </a:prstGeom>
          <a:solidFill>
            <a:srgbClr val="FFF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 name="文字方塊 4">
            <a:extLst>
              <a:ext uri="{FF2B5EF4-FFF2-40B4-BE49-F238E27FC236}">
                <a16:creationId xmlns:a16="http://schemas.microsoft.com/office/drawing/2014/main" id="{F0C1F820-3D2A-63BF-1BD4-020D9D489EC6}"/>
              </a:ext>
            </a:extLst>
          </p:cNvPr>
          <p:cNvSpPr txBox="1"/>
          <p:nvPr/>
        </p:nvSpPr>
        <p:spPr>
          <a:xfrm>
            <a:off x="68179" y="64168"/>
            <a:ext cx="6721641" cy="15296495"/>
          </a:xfrm>
          <a:prstGeom prst="rect">
            <a:avLst/>
          </a:prstGeom>
          <a:noFill/>
        </p:spPr>
        <p:txBody>
          <a:bodyPr wrap="square">
            <a:spAutoFit/>
          </a:bodyPr>
          <a:lstStyle/>
          <a:p>
            <a:pPr>
              <a:lnSpc>
                <a:spcPts val="1800"/>
              </a:lnSpc>
            </a:pPr>
            <a:r>
              <a:rPr lang="en-US" altLang="zh-TW" sz="1600" b="1" dirty="0">
                <a:latin typeface="DFYuanBold-B5" panose="020F0709000000000000" pitchFamily="49" charset="-120"/>
                <a:ea typeface="DFYuanBold-B5" panose="020F0709000000000000" pitchFamily="49" charset="-120"/>
              </a:rPr>
              <a:t>[ Day1 ]</a:t>
            </a:r>
            <a:endParaRPr lang="zh-TW" altLang="en-US" sz="1600" b="1" dirty="0">
              <a:latin typeface="DFYuanBold-B5" panose="020F0709000000000000" pitchFamily="49" charset="-120"/>
              <a:ea typeface="DFYuanBold-B5" panose="020F0709000000000000" pitchFamily="49" charset="-120"/>
            </a:endParaRPr>
          </a:p>
          <a:p>
            <a:pPr>
              <a:lnSpc>
                <a:spcPts val="1800"/>
              </a:lnSpc>
              <a:buNone/>
            </a:pPr>
            <a:r>
              <a:rPr lang="en-US" altLang="zh-TW" sz="1600" b="1" dirty="0">
                <a:latin typeface="DFYuanLight-B5" panose="020F0309000000000000" pitchFamily="49" charset="-120"/>
                <a:ea typeface="DFYuanLight-B5" panose="020F0309000000000000" pitchFamily="49" charset="-120"/>
              </a:rPr>
              <a:t>1. </a:t>
            </a:r>
            <a:r>
              <a:rPr lang="zh-TW" altLang="en-US" sz="1600" b="1" dirty="0">
                <a:latin typeface="DFYuanLight-B5" panose="020F0309000000000000" pitchFamily="49" charset="-120"/>
                <a:ea typeface="DFYuanLight-B5" panose="020F0309000000000000" pitchFamily="49" charset="-120"/>
              </a:rPr>
              <a:t>星耀樟宜 </a:t>
            </a:r>
            <a:r>
              <a:rPr lang="en-US" altLang="zh-TW" sz="1600" b="1" dirty="0">
                <a:latin typeface="DFYuanLight-B5" panose="020F0309000000000000" pitchFamily="49" charset="-120"/>
                <a:ea typeface="DFYuanLight-B5" panose="020F0309000000000000" pitchFamily="49" charset="-120"/>
              </a:rPr>
              <a:t>(</a:t>
            </a:r>
            <a:r>
              <a:rPr lang="en" altLang="zh-TW" sz="1600" b="1" dirty="0">
                <a:latin typeface="DFYuanLight-B5" panose="020F0309000000000000" pitchFamily="49" charset="-120"/>
                <a:ea typeface="DFYuanLight-B5" panose="020F0309000000000000" pitchFamily="49" charset="-120"/>
              </a:rPr>
              <a:t>Jewel Changi Airport)</a:t>
            </a:r>
          </a:p>
          <a:p>
            <a:pPr>
              <a:lnSpc>
                <a:spcPts val="1800"/>
              </a:lnSpc>
              <a:buNone/>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這裡不只是機場，更是一個室內的微型生態系統。</a:t>
            </a:r>
            <a:endParaRPr lang="en-US" altLang="zh-TW" sz="1600" dirty="0">
              <a:latin typeface="DFYuanLight-B5" panose="020F0309000000000000" pitchFamily="49" charset="-120"/>
              <a:ea typeface="DFYuanLight-B5" panose="020F0309000000000000" pitchFamily="49" charset="-120"/>
            </a:endParaRPr>
          </a:p>
          <a:p>
            <a:pPr>
              <a:lnSpc>
                <a:spcPts val="1800"/>
              </a:lnSpc>
              <a:buNone/>
            </a:pPr>
            <a:r>
              <a:rPr lang="en-US" altLang="zh-TW" sz="1600" dirty="0">
                <a:latin typeface="DFYuanLight-B5" panose="020F0309000000000000" pitchFamily="49" charset="-120"/>
                <a:ea typeface="DFYuanLight-B5" panose="020F0309000000000000" pitchFamily="49" charset="-120"/>
              </a:rPr>
              <a:t>   </a:t>
            </a:r>
            <a:r>
              <a:rPr lang="en-US" altLang="zh-TW" sz="1600" dirty="0"/>
              <a:t>【</a:t>
            </a:r>
            <a:r>
              <a:rPr lang="zh-TW" altLang="en-US" sz="1600" b="1" dirty="0">
                <a:latin typeface="DFYuanLight-B5" panose="020F0309000000000000" pitchFamily="49" charset="-120"/>
                <a:ea typeface="DFYuanLight-B5" panose="020F0309000000000000" pitchFamily="49" charset="-120"/>
              </a:rPr>
              <a:t>對應 </a:t>
            </a:r>
            <a:r>
              <a:rPr lang="en" altLang="zh-TW" sz="1600" b="1" dirty="0">
                <a:latin typeface="DFYuanLight-B5" panose="020F0309000000000000" pitchFamily="49" charset="-120"/>
                <a:ea typeface="DFYuanLight-B5" panose="020F0309000000000000" pitchFamily="49" charset="-120"/>
              </a:rPr>
              <a:t>SDGs </a:t>
            </a:r>
            <a:r>
              <a:rPr lang="zh-TW" altLang="en-US" sz="1600" b="1" dirty="0">
                <a:latin typeface="DFYuanLight-B5" panose="020F0309000000000000" pitchFamily="49" charset="-120"/>
                <a:ea typeface="DFYuanLight-B5" panose="020F0309000000000000" pitchFamily="49" charset="-120"/>
              </a:rPr>
              <a:t>目標</a:t>
            </a:r>
            <a:r>
              <a:rPr lang="en-US" altLang="zh-TW" sz="1600" dirty="0"/>
              <a:t>】</a:t>
            </a:r>
            <a:endParaRPr lang="zh-TW" altLang="en-US" sz="1600" dirty="0">
              <a:latin typeface="DFYuanLight-B5" panose="020F0309000000000000" pitchFamily="49" charset="-120"/>
              <a:ea typeface="DFYuanLight-B5" panose="020F0309000000000000" pitchFamily="49" charset="-120"/>
            </a:endParaRPr>
          </a:p>
          <a:p>
            <a:pPr marL="742950" lvl="1" indent="-285750">
              <a:lnSpc>
                <a:spcPts val="1800"/>
              </a:lnSpc>
              <a:buFont typeface="Arial" panose="020B0604020202020204" pitchFamily="34" charset="0"/>
              <a:buChar char="•"/>
            </a:pPr>
            <a:r>
              <a:rPr lang="en" altLang="zh-TW" sz="1600" b="1" dirty="0">
                <a:latin typeface="DFYuanLight-B5" panose="020F0309000000000000" pitchFamily="49" charset="-120"/>
                <a:ea typeface="DFYuanLight-B5" panose="020F0309000000000000" pitchFamily="49" charset="-120"/>
              </a:rPr>
              <a:t>SDG 9</a:t>
            </a:r>
            <a:r>
              <a:rPr lang="zh-TW" altLang="en"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產業、創新與基礎建設</a:t>
            </a:r>
            <a:r>
              <a:rPr lang="zh-TW" altLang="en-US" sz="1600" dirty="0">
                <a:latin typeface="DFYuanLight-B5" panose="020F0309000000000000" pitchFamily="49" charset="-120"/>
                <a:ea typeface="DFYuanLight-B5" panose="020F0309000000000000" pitchFamily="49" charset="-120"/>
              </a:rPr>
              <a:t>（將自然與尖端交通設施完美融合）。</a:t>
            </a:r>
          </a:p>
          <a:p>
            <a:pPr marL="742950" lvl="1" indent="-285750">
              <a:lnSpc>
                <a:spcPts val="1800"/>
              </a:lnSpc>
              <a:buFont typeface="Arial" panose="020B0604020202020204" pitchFamily="34" charset="0"/>
              <a:buChar char="•"/>
            </a:pPr>
            <a:r>
              <a:rPr lang="en" altLang="zh-TW" sz="1600" b="1" dirty="0">
                <a:latin typeface="DFYuanLight-B5" panose="020F0309000000000000" pitchFamily="49" charset="-120"/>
                <a:ea typeface="DFYuanLight-B5" panose="020F0309000000000000" pitchFamily="49" charset="-120"/>
              </a:rPr>
              <a:t>SDG 11</a:t>
            </a:r>
            <a:r>
              <a:rPr lang="zh-TW" altLang="en"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永續城市與社區</a:t>
            </a:r>
            <a:r>
              <a:rPr lang="zh-TW" altLang="en-US" sz="1600" dirty="0">
                <a:latin typeface="DFYuanLight-B5" panose="020F0309000000000000" pitchFamily="49" charset="-120"/>
                <a:ea typeface="DFYuanLight-B5" panose="020F0309000000000000" pitchFamily="49" charset="-120"/>
              </a:rPr>
              <a:t>（打造城市綠洲，提升城市生活品質）。</a:t>
            </a:r>
          </a:p>
          <a:p>
            <a:pPr marL="742950" lvl="1" indent="-285750">
              <a:lnSpc>
                <a:spcPts val="1800"/>
              </a:lnSpc>
              <a:buFont typeface="Arial" panose="020B0604020202020204" pitchFamily="34" charset="0"/>
              <a:buChar char="•"/>
            </a:pPr>
            <a:r>
              <a:rPr lang="en" altLang="zh-TW" sz="1600" b="1" dirty="0">
                <a:latin typeface="DFYuanLight-B5" panose="020F0309000000000000" pitchFamily="49" charset="-120"/>
                <a:ea typeface="DFYuanLight-B5" panose="020F0309000000000000" pitchFamily="49" charset="-120"/>
              </a:rPr>
              <a:t>SDG 12</a:t>
            </a:r>
            <a:r>
              <a:rPr lang="zh-TW" altLang="en"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責任消費與生產</a:t>
            </a:r>
            <a:r>
              <a:rPr lang="zh-TW" altLang="en-US" sz="1600" dirty="0">
                <a:latin typeface="DFYuanLight-B5" panose="020F0309000000000000" pitchFamily="49" charset="-120"/>
                <a:ea typeface="DFYuanLight-B5" panose="020F0309000000000000" pitchFamily="49" charset="-120"/>
              </a:rPr>
              <a:t>（其著名的雨漩渦使用的是循環過濾的雨水）。</a:t>
            </a:r>
          </a:p>
          <a:p>
            <a:pPr>
              <a:lnSpc>
                <a:spcPts val="1800"/>
              </a:lnSpc>
              <a:buNone/>
            </a:pPr>
            <a:r>
              <a:rPr lang="zh-TW" altLang="en-US" sz="1600" b="1" dirty="0">
                <a:latin typeface="DFYuanLight-B5" panose="020F0309000000000000" pitchFamily="49" charset="-120"/>
                <a:ea typeface="DFYuanLight-B5" panose="020F0309000000000000" pitchFamily="49" charset="-120"/>
              </a:rPr>
              <a:t>💡 機智問答時間</a:t>
            </a:r>
          </a:p>
          <a:p>
            <a:pPr>
              <a:lnSpc>
                <a:spcPts val="1800"/>
              </a:lnSpc>
            </a:pPr>
            <a:r>
              <a:rPr lang="zh-TW" altLang="en-US" sz="1600" b="1" dirty="0">
                <a:latin typeface="DFYuanLight-B5" panose="020F0309000000000000" pitchFamily="49" charset="-120"/>
                <a:ea typeface="DFYuanLight-B5" panose="020F0309000000000000" pitchFamily="49" charset="-120"/>
              </a:rPr>
              <a:t>Ｑ</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問題：</a:t>
            </a:r>
            <a:r>
              <a:rPr lang="zh-TW" altLang="en-US" sz="1600" dirty="0">
                <a:latin typeface="DFYuanLight-B5" panose="020F0309000000000000" pitchFamily="49" charset="-120"/>
                <a:ea typeface="DFYuanLight-B5" panose="020F0309000000000000" pitchFamily="49" charset="-120"/>
              </a:rPr>
              <a:t> 星耀樟宜中心最著名的「雨漩渦」</a:t>
            </a: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Rain Vortex) </a:t>
            </a:r>
          </a:p>
          <a:p>
            <a:pPr>
              <a:lnSpc>
                <a:spcPts val="1800"/>
              </a:lnSpc>
            </a:pPr>
            <a:r>
              <a:rPr lang="en"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是世界最高的室內瀑布，請問它的水源主要是從</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哪裡來的？</a:t>
            </a:r>
          </a:p>
          <a:p>
            <a:pPr marL="1349375" lvl="1" indent="-190500">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A) </a:t>
            </a:r>
            <a:r>
              <a:rPr lang="zh-TW" altLang="en-US" sz="1600" dirty="0">
                <a:latin typeface="DFYuanLight-B5" panose="020F0309000000000000" pitchFamily="49" charset="-120"/>
                <a:ea typeface="DFYuanLight-B5" panose="020F0309000000000000" pitchFamily="49" charset="-120"/>
              </a:rPr>
              <a:t>新加坡自來水公司</a:t>
            </a:r>
          </a:p>
          <a:p>
            <a:pPr marL="1349375" lvl="1" indent="-190500">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B) </a:t>
            </a:r>
            <a:r>
              <a:rPr lang="zh-TW" altLang="en-US" sz="1600" dirty="0">
                <a:latin typeface="DFYuanLight-B5" panose="020F0309000000000000" pitchFamily="49" charset="-120"/>
                <a:ea typeface="DFYuanLight-B5" panose="020F0309000000000000" pitchFamily="49" charset="-120"/>
              </a:rPr>
              <a:t>收集並過濾後的天然雨水</a:t>
            </a:r>
          </a:p>
          <a:p>
            <a:pPr marL="1349375" lvl="1" indent="-190500">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C) </a:t>
            </a:r>
            <a:r>
              <a:rPr lang="zh-TW" altLang="en-US" sz="1600" dirty="0">
                <a:latin typeface="DFYuanLight-B5" panose="020F0309000000000000" pitchFamily="49" charset="-120"/>
                <a:ea typeface="DFYuanLight-B5" panose="020F0309000000000000" pitchFamily="49" charset="-120"/>
              </a:rPr>
              <a:t>海水淡化廠</a:t>
            </a:r>
          </a:p>
          <a:p>
            <a:pPr marL="1349375" lvl="1" indent="-190500">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D) </a:t>
            </a:r>
            <a:r>
              <a:rPr lang="zh-TW" altLang="en-US" sz="1600" dirty="0">
                <a:latin typeface="DFYuanLight-B5" panose="020F0309000000000000" pitchFamily="49" charset="-120"/>
                <a:ea typeface="DFYuanLight-B5" panose="020F0309000000000000" pitchFamily="49" charset="-120"/>
              </a:rPr>
              <a:t>附近居民的回收廢水</a:t>
            </a:r>
          </a:p>
          <a:p>
            <a:pPr>
              <a:lnSpc>
                <a:spcPts val="1800"/>
              </a:lnSpc>
            </a:pPr>
            <a:r>
              <a:rPr lang="zh-TW" altLang="en-US" sz="1600" b="1" dirty="0">
                <a:latin typeface="DFYuanLight-B5" panose="020F0309000000000000" pitchFamily="49" charset="-120"/>
                <a:ea typeface="DFYuanLight-B5" panose="020F0309000000000000" pitchFamily="49" charset="-120"/>
              </a:rPr>
              <a:t>Ａ</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答案：</a:t>
            </a:r>
            <a:r>
              <a:rPr lang="en-US" altLang="zh-TW" sz="1600" b="1" dirty="0">
                <a:highlight>
                  <a:srgbClr val="FFFF00"/>
                </a:highlight>
                <a:latin typeface="DFYuanLight-B5" panose="020F0309000000000000" pitchFamily="49" charset="-120"/>
                <a:ea typeface="DFYuanLight-B5" panose="020F0309000000000000" pitchFamily="49" charset="-120"/>
              </a:rPr>
              <a:t>(</a:t>
            </a:r>
            <a:r>
              <a:rPr lang="en" altLang="zh-TW" sz="1600" b="1" dirty="0">
                <a:highlight>
                  <a:srgbClr val="FFFF00"/>
                </a:highlight>
                <a:latin typeface="DFYuanLight-B5" panose="020F0309000000000000" pitchFamily="49" charset="-120"/>
                <a:ea typeface="DFYuanLight-B5" panose="020F0309000000000000" pitchFamily="49" charset="-120"/>
              </a:rPr>
              <a:t>B)</a:t>
            </a:r>
          </a:p>
          <a:p>
            <a:pPr marL="285750" indent="-285750">
              <a:lnSpc>
                <a:spcPts val="1800"/>
              </a:lnSpc>
              <a:buFont typeface="Wingdings" pitchFamily="2" charset="2"/>
              <a:buChar char="Ø"/>
            </a:pPr>
            <a:r>
              <a:rPr lang="zh-TW" altLang="en-US" sz="1600" b="1" dirty="0">
                <a:latin typeface="DFYuanLight-B5" panose="020F0309000000000000" pitchFamily="49" charset="-120"/>
                <a:ea typeface="DFYuanLight-B5" panose="020F0309000000000000" pitchFamily="49" charset="-120"/>
              </a:rPr>
              <a:t>解析：</a:t>
            </a:r>
            <a:r>
              <a:rPr lang="zh-TW" altLang="en-US" sz="1600" dirty="0">
                <a:latin typeface="DFYuanLight-B5" panose="020F0309000000000000" pitchFamily="49" charset="-120"/>
                <a:ea typeface="DFYuanLight-B5" panose="020F0309000000000000" pitchFamily="49" charset="-120"/>
              </a:rPr>
              <a:t> 雨漩渦在下雨時會收集雨水，經過過濾後循環使用。這不僅節省水資源，還能幫助建築室內降溫，減少空調耗能。這就是</a:t>
            </a:r>
            <a:r>
              <a:rPr lang="zh-TW" altLang="en-US" sz="1600" b="1" dirty="0">
                <a:latin typeface="DFYuanLight-B5" panose="020F0309000000000000" pitchFamily="49" charset="-120"/>
                <a:ea typeface="DFYuanLight-B5" panose="020F0309000000000000" pitchFamily="49" charset="-120"/>
              </a:rPr>
              <a:t>永續建築</a:t>
            </a:r>
            <a:r>
              <a:rPr lang="zh-TW" altLang="en-US" sz="1600" dirty="0">
                <a:latin typeface="DFYuanLight-B5" panose="020F0309000000000000" pitchFamily="49" charset="-120"/>
                <a:ea typeface="DFYuanLight-B5" panose="020F0309000000000000" pitchFamily="49" charset="-120"/>
              </a:rPr>
              <a:t>的智慧！</a:t>
            </a:r>
            <a:endParaRPr lang="en-US" altLang="zh-TW" sz="1600" dirty="0">
              <a:latin typeface="DFYuanLight-B5" panose="020F0309000000000000" pitchFamily="49" charset="-120"/>
              <a:ea typeface="DFYuanLight-B5" panose="020F0309000000000000" pitchFamily="49" charset="-120"/>
            </a:endParaRPr>
          </a:p>
          <a:p>
            <a:pPr marL="285750" indent="-285750">
              <a:lnSpc>
                <a:spcPts val="1800"/>
              </a:lnSpc>
              <a:buFont typeface="Wingdings" pitchFamily="2" charset="2"/>
              <a:buChar char="Ø"/>
            </a:pPr>
            <a:endParaRPr lang="en-US" altLang="zh-TW" sz="1600" dirty="0">
              <a:latin typeface="DFYuanLight-B5" panose="020F0309000000000000" pitchFamily="49" charset="-120"/>
              <a:ea typeface="DFYuanLight-B5" panose="020F0309000000000000" pitchFamily="49" charset="-120"/>
            </a:endParaRPr>
          </a:p>
          <a:p>
            <a:r>
              <a:rPr lang="zh-TW" altLang="en-US" sz="1600" b="1" dirty="0">
                <a:latin typeface="DFYuanLight-B5" panose="020F0309000000000000" pitchFamily="49" charset="-120"/>
                <a:ea typeface="DFYuanLight-B5" panose="020F0309000000000000" pitchFamily="49" charset="-120"/>
              </a:rPr>
              <a:t>Ｑ</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問題： </a:t>
            </a:r>
            <a:r>
              <a:rPr lang="zh-TW" altLang="en-US" sz="1600" dirty="0">
                <a:latin typeface="DFYuanLight-B5" panose="020F0309000000000000" pitchFamily="49" charset="-120"/>
                <a:ea typeface="DFYuanLight-B5" panose="020F0309000000000000" pitchFamily="49" charset="-120"/>
              </a:rPr>
              <a:t>星耀樟宜內部有一個高達四層樓的「資生堂森林谷」，種植了</a:t>
            </a:r>
            <a:endParaRPr lang="en-US" altLang="zh-TW" sz="1600" dirty="0">
              <a:latin typeface="DFYuanLight-B5" panose="020F0309000000000000" pitchFamily="49" charset="-120"/>
              <a:ea typeface="DFYuanLight-B5" panose="020F0309000000000000" pitchFamily="49" charset="-120"/>
            </a:endParaRPr>
          </a:p>
          <a:p>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來自世界各地超過 </a:t>
            </a:r>
            <a:r>
              <a:rPr lang="en-US" altLang="zh-TW" sz="1600" dirty="0">
                <a:latin typeface="DFYuanLight-B5" panose="020F0309000000000000" pitchFamily="49" charset="-120"/>
                <a:ea typeface="DFYuanLight-B5" panose="020F0309000000000000" pitchFamily="49" charset="-120"/>
              </a:rPr>
              <a:t>2000 </a:t>
            </a:r>
            <a:r>
              <a:rPr lang="zh-TW" altLang="en-US" sz="1600" dirty="0">
                <a:latin typeface="DFYuanLight-B5" panose="020F0309000000000000" pitchFamily="49" charset="-120"/>
                <a:ea typeface="DFYuanLight-B5" panose="020F0309000000000000" pitchFamily="49" charset="-120"/>
              </a:rPr>
              <a:t>棵樹木和 </a:t>
            </a:r>
            <a:r>
              <a:rPr lang="en-US" altLang="zh-TW" sz="1600" dirty="0">
                <a:latin typeface="DFYuanLight-B5" panose="020F0309000000000000" pitchFamily="49" charset="-120"/>
                <a:ea typeface="DFYuanLight-B5" panose="020F0309000000000000" pitchFamily="49" charset="-120"/>
              </a:rPr>
              <a:t>10 </a:t>
            </a:r>
            <a:r>
              <a:rPr lang="zh-TW" altLang="en-US" sz="1600" dirty="0">
                <a:latin typeface="DFYuanLight-B5" panose="020F0309000000000000" pitchFamily="49" charset="-120"/>
                <a:ea typeface="DFYuanLight-B5" panose="020F0309000000000000" pitchFamily="49" charset="-120"/>
              </a:rPr>
              <a:t>萬株灌木。在機場裡面</a:t>
            </a:r>
            <a:endParaRPr lang="en-US" altLang="zh-TW" sz="1600" dirty="0">
              <a:latin typeface="DFYuanLight-B5" panose="020F0309000000000000" pitchFamily="49" charset="-120"/>
              <a:ea typeface="DFYuanLight-B5" panose="020F0309000000000000" pitchFamily="49" charset="-120"/>
            </a:endParaRPr>
          </a:p>
          <a:p>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種這麼多真實的植物，除了美觀跟拍照打卡外，在生態循環上</a:t>
            </a:r>
            <a:endParaRPr lang="en-US" altLang="zh-TW" sz="1600" dirty="0">
              <a:latin typeface="DFYuanLight-B5" panose="020F0309000000000000" pitchFamily="49" charset="-120"/>
              <a:ea typeface="DFYuanLight-B5" panose="020F0309000000000000" pitchFamily="49" charset="-120"/>
            </a:endParaRPr>
          </a:p>
          <a:p>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最大的實質作用是什麼？</a:t>
            </a:r>
          </a:p>
          <a:p>
            <a:pPr marL="1512888" indent="-355600"/>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A) </a:t>
            </a:r>
            <a:r>
              <a:rPr lang="zh-TW" altLang="en-US" sz="1600" dirty="0">
                <a:latin typeface="DFYuanLight-B5" panose="020F0309000000000000" pitchFamily="49" charset="-120"/>
                <a:ea typeface="DFYuanLight-B5" panose="020F0309000000000000" pitchFamily="49" charset="-120"/>
              </a:rPr>
              <a:t>為了讓候鳥過冬時有地方築巢</a:t>
            </a:r>
          </a:p>
          <a:p>
            <a:pPr marL="1512888" indent="-355600"/>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B) </a:t>
            </a:r>
            <a:r>
              <a:rPr lang="zh-TW" altLang="en-US" sz="1600" dirty="0">
                <a:latin typeface="DFYuanLight-B5" panose="020F0309000000000000" pitchFamily="49" charset="-120"/>
                <a:ea typeface="DFYuanLight-B5" panose="020F0309000000000000" pitchFamily="49" charset="-120"/>
              </a:rPr>
              <a:t>為了讓機場餐廳可以隨時採摘新鮮水果</a:t>
            </a:r>
          </a:p>
          <a:p>
            <a:pPr marL="1512888" indent="-355600"/>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C) </a:t>
            </a:r>
            <a:r>
              <a:rPr lang="zh-TW" altLang="en-US" sz="1600" dirty="0">
                <a:latin typeface="DFYuanLight-B5" panose="020F0309000000000000" pitchFamily="49" charset="-120"/>
                <a:ea typeface="DFYuanLight-B5" panose="020F0309000000000000" pitchFamily="49" charset="-120"/>
              </a:rPr>
              <a:t>透過植物自然的「蒸散作用」來調節室內溫濕度，並淨</a:t>
            </a:r>
            <a:endParaRPr lang="en-US" altLang="zh-TW" sz="1600" dirty="0">
              <a:latin typeface="DFYuanLight-B5" panose="020F0309000000000000" pitchFamily="49" charset="-120"/>
              <a:ea typeface="DFYuanLight-B5" panose="020F0309000000000000" pitchFamily="49" charset="-120"/>
            </a:endParaRPr>
          </a:p>
          <a:p>
            <a:pPr marL="1512888" indent="-355600"/>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化空氣，形成微型氣候</a:t>
            </a:r>
          </a:p>
          <a:p>
            <a:pPr marL="1512888" indent="-355600"/>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D) </a:t>
            </a:r>
            <a:r>
              <a:rPr lang="zh-TW" altLang="en-US" sz="1600" dirty="0">
                <a:latin typeface="DFYuanLight-B5" panose="020F0309000000000000" pitchFamily="49" charset="-120"/>
                <a:ea typeface="DFYuanLight-B5" panose="020F0309000000000000" pitchFamily="49" charset="-120"/>
              </a:rPr>
              <a:t>純粹是為了挑戰金氏世界紀錄</a:t>
            </a:r>
          </a:p>
          <a:p>
            <a:r>
              <a:rPr lang="zh-TW" altLang="en-US" sz="1600" b="1" dirty="0">
                <a:latin typeface="DFYuanLight-B5" panose="020F0309000000000000" pitchFamily="49" charset="-120"/>
                <a:ea typeface="DFYuanLight-B5" panose="020F0309000000000000" pitchFamily="49" charset="-120"/>
              </a:rPr>
              <a:t>Ａ</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答案：</a:t>
            </a:r>
            <a:r>
              <a:rPr lang="en-US" altLang="zh-TW" sz="1600" b="1" dirty="0">
                <a:highlight>
                  <a:srgbClr val="FFFF00"/>
                </a:highlight>
                <a:latin typeface="DFYuanLight-B5" panose="020F0309000000000000" pitchFamily="49" charset="-120"/>
                <a:ea typeface="DFYuanLight-B5" panose="020F0309000000000000" pitchFamily="49" charset="-120"/>
              </a:rPr>
              <a:t>(</a:t>
            </a:r>
            <a:r>
              <a:rPr lang="en" altLang="zh-TW" sz="1600" b="1" dirty="0">
                <a:highlight>
                  <a:srgbClr val="FFFF00"/>
                </a:highlight>
                <a:latin typeface="DFYuanLight-B5" panose="020F0309000000000000" pitchFamily="49" charset="-120"/>
                <a:ea typeface="DFYuanLight-B5" panose="020F0309000000000000" pitchFamily="49" charset="-120"/>
              </a:rPr>
              <a:t>C)</a:t>
            </a:r>
          </a:p>
          <a:p>
            <a:pPr marL="285750" indent="-285750">
              <a:buFont typeface="Wingdings" pitchFamily="2" charset="2"/>
              <a:buChar char="Ø"/>
            </a:pPr>
            <a:r>
              <a:rPr lang="zh-TW" altLang="en-US" sz="1600" b="1" dirty="0">
                <a:latin typeface="DFYuanLight-B5" panose="020F0309000000000000" pitchFamily="49" charset="-120"/>
                <a:ea typeface="DFYuanLight-B5" panose="020F0309000000000000" pitchFamily="49" charset="-120"/>
              </a:rPr>
              <a:t>解析：</a:t>
            </a:r>
            <a:r>
              <a:rPr lang="zh-TW" altLang="en-US" sz="1600" dirty="0">
                <a:latin typeface="DFYuanLight-B5" panose="020F0309000000000000" pitchFamily="49" charset="-120"/>
                <a:ea typeface="DFYuanLight-B5" panose="020F0309000000000000" pitchFamily="49" charset="-120"/>
              </a:rPr>
              <a:t> 這些植物不只是裝飾，它們是建築「會呼吸」的綠肺。將自然生態完美融入高密度商業空間，這正是新加坡打造永續城市與社區 </a:t>
            </a: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SDG 11) </a:t>
            </a:r>
            <a:r>
              <a:rPr lang="zh-TW" altLang="en-US" sz="1600" dirty="0">
                <a:latin typeface="DFYuanLight-B5" panose="020F0309000000000000" pitchFamily="49" charset="-120"/>
                <a:ea typeface="DFYuanLight-B5" panose="020F0309000000000000" pitchFamily="49" charset="-120"/>
              </a:rPr>
              <a:t>以及重視陸域生態 </a:t>
            </a: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SDG 15) </a:t>
            </a:r>
            <a:r>
              <a:rPr lang="zh-TW" altLang="en-US" sz="1600" dirty="0">
                <a:latin typeface="DFYuanLight-B5" panose="020F0309000000000000" pitchFamily="49" charset="-120"/>
                <a:ea typeface="DFYuanLight-B5" panose="020F0309000000000000" pitchFamily="49" charset="-120"/>
              </a:rPr>
              <a:t>的最佳示範。</a:t>
            </a:r>
          </a:p>
          <a:p>
            <a:pPr marL="285750" indent="-285750">
              <a:lnSpc>
                <a:spcPts val="1800"/>
              </a:lnSpc>
              <a:buFont typeface="Wingdings" pitchFamily="2" charset="2"/>
              <a:buChar char="Ø"/>
            </a:pPr>
            <a:endParaRPr lang="zh-TW" altLang="en-US" sz="1600" dirty="0">
              <a:latin typeface="DFYuanLight-B5" panose="020F0309000000000000" pitchFamily="49" charset="-120"/>
              <a:ea typeface="DFYuanLight-B5" panose="020F0309000000000000" pitchFamily="49" charset="-120"/>
            </a:endParaRPr>
          </a:p>
          <a:p>
            <a:pPr>
              <a:lnSpc>
                <a:spcPts val="1800"/>
              </a:lnSpc>
              <a:buNone/>
            </a:pPr>
            <a:endParaRPr lang="zh-TW" altLang="en-US" sz="1600" dirty="0">
              <a:latin typeface="DFYuanLight-B5" panose="020F0309000000000000" pitchFamily="49" charset="-120"/>
              <a:ea typeface="DFYuanLight-B5" panose="020F0309000000000000" pitchFamily="49" charset="-120"/>
            </a:endParaRPr>
          </a:p>
          <a:p>
            <a:pPr>
              <a:lnSpc>
                <a:spcPts val="1800"/>
              </a:lnSpc>
              <a:buNone/>
            </a:pPr>
            <a:endParaRPr lang="en-US" altLang="zh-TW" sz="1600" dirty="0">
              <a:latin typeface="DFYuanLight-B5" panose="020F0309000000000000" pitchFamily="49" charset="-120"/>
              <a:ea typeface="DFYuanLight-B5" panose="020F0309000000000000" pitchFamily="49" charset="-120"/>
            </a:endParaRPr>
          </a:p>
          <a:p>
            <a:pPr>
              <a:lnSpc>
                <a:spcPts val="1800"/>
              </a:lnSpc>
              <a:buNone/>
            </a:pPr>
            <a:endParaRPr lang="en-US" altLang="zh-TW" sz="1600" dirty="0">
              <a:latin typeface="DFYuanLight-B5" panose="020F0309000000000000" pitchFamily="49" charset="-120"/>
              <a:ea typeface="DFYuanLight-B5" panose="020F0309000000000000" pitchFamily="49" charset="-120"/>
            </a:endParaRPr>
          </a:p>
          <a:p>
            <a:pPr>
              <a:lnSpc>
                <a:spcPts val="1800"/>
              </a:lnSpc>
              <a:buNone/>
            </a:pPr>
            <a:endParaRPr lang="en-US" altLang="zh-TW" sz="1600" dirty="0">
              <a:latin typeface="DFYuanLight-B5" panose="020F0309000000000000" pitchFamily="49" charset="-120"/>
              <a:ea typeface="DFYuanLight-B5" panose="020F0309000000000000" pitchFamily="49" charset="-120"/>
            </a:endParaRPr>
          </a:p>
          <a:p>
            <a:pPr>
              <a:lnSpc>
                <a:spcPts val="1800"/>
              </a:lnSpc>
              <a:buNone/>
            </a:pPr>
            <a:endParaRPr lang="en-US" altLang="zh-TW" sz="1600" dirty="0">
              <a:latin typeface="DFYuanLight-B5" panose="020F0309000000000000" pitchFamily="49" charset="-120"/>
              <a:ea typeface="DFYuanLight-B5" panose="020F0309000000000000" pitchFamily="49" charset="-120"/>
            </a:endParaRPr>
          </a:p>
          <a:p>
            <a:pPr>
              <a:lnSpc>
                <a:spcPts val="1800"/>
              </a:lnSpc>
              <a:buNone/>
            </a:pPr>
            <a:endParaRPr lang="en-US" altLang="zh-TW" sz="1600" dirty="0">
              <a:latin typeface="DFYuanLight-B5" panose="020F0309000000000000" pitchFamily="49" charset="-120"/>
              <a:ea typeface="DFYuanLight-B5" panose="020F0309000000000000" pitchFamily="49" charset="-120"/>
            </a:endParaRPr>
          </a:p>
          <a:p>
            <a:pPr>
              <a:lnSpc>
                <a:spcPts val="1800"/>
              </a:lnSpc>
              <a:buNone/>
            </a:pPr>
            <a:endParaRPr lang="en-US" altLang="zh-TW" sz="1600" dirty="0">
              <a:latin typeface="DFYuanLight-B5" panose="020F0309000000000000" pitchFamily="49" charset="-120"/>
              <a:ea typeface="DFYuanLight-B5" panose="020F0309000000000000" pitchFamily="49" charset="-120"/>
            </a:endParaRPr>
          </a:p>
          <a:p>
            <a:pPr>
              <a:lnSpc>
                <a:spcPts val="1800"/>
              </a:lnSpc>
              <a:buNone/>
            </a:pPr>
            <a:endParaRPr lang="en-US" altLang="zh-TW" sz="1600" dirty="0">
              <a:latin typeface="DFYuanLight-B5" panose="020F0309000000000000" pitchFamily="49" charset="-120"/>
              <a:ea typeface="DFYuanLight-B5" panose="020F0309000000000000" pitchFamily="49" charset="-120"/>
            </a:endParaRPr>
          </a:p>
          <a:p>
            <a:pPr>
              <a:lnSpc>
                <a:spcPts val="1800"/>
              </a:lnSpc>
              <a:buNone/>
            </a:pPr>
            <a:endParaRPr lang="en-US" altLang="zh-TW" sz="1600" b="1" dirty="0">
              <a:latin typeface="DFYuanLight-B5" panose="020F0309000000000000" pitchFamily="49" charset="-120"/>
              <a:ea typeface="DFYuanLight-B5" panose="020F0309000000000000" pitchFamily="49" charset="-120"/>
            </a:endParaRPr>
          </a:p>
          <a:p>
            <a:pPr>
              <a:lnSpc>
                <a:spcPts val="1800"/>
              </a:lnSpc>
              <a:buNone/>
            </a:pPr>
            <a:endParaRPr lang="en-US" altLang="zh-TW" sz="1600" b="1" dirty="0">
              <a:latin typeface="DFYuanLight-B5" panose="020F0309000000000000" pitchFamily="49" charset="-120"/>
              <a:ea typeface="DFYuanLight-B5" panose="020F0309000000000000" pitchFamily="49" charset="-120"/>
            </a:endParaRPr>
          </a:p>
          <a:p>
            <a:pPr>
              <a:lnSpc>
                <a:spcPts val="1800"/>
              </a:lnSpc>
              <a:buNone/>
            </a:pPr>
            <a:r>
              <a:rPr lang="en-US" altLang="zh-TW" sz="1600" b="1" dirty="0">
                <a:latin typeface="DFYuanLight-B5" panose="020F0309000000000000" pitchFamily="49" charset="-120"/>
                <a:ea typeface="DFYuanLight-B5" panose="020F0309000000000000" pitchFamily="49" charset="-120"/>
              </a:rPr>
              <a:t>2. </a:t>
            </a:r>
            <a:r>
              <a:rPr lang="zh-TW" altLang="en-US" sz="1600" b="1" dirty="0">
                <a:latin typeface="DFYuanLight-B5" panose="020F0309000000000000" pitchFamily="49" charset="-120"/>
                <a:ea typeface="DFYuanLight-B5" panose="020F0309000000000000" pitchFamily="49" charset="-120"/>
              </a:rPr>
              <a:t>魚尾獅公園 </a:t>
            </a:r>
            <a:r>
              <a:rPr lang="en-US" altLang="zh-TW" sz="1600" b="1" dirty="0">
                <a:latin typeface="DFYuanLight-B5" panose="020F0309000000000000" pitchFamily="49" charset="-120"/>
                <a:ea typeface="DFYuanLight-B5" panose="020F0309000000000000" pitchFamily="49" charset="-120"/>
              </a:rPr>
              <a:t>(</a:t>
            </a:r>
            <a:r>
              <a:rPr lang="en" altLang="zh-TW" sz="1600" b="1" dirty="0">
                <a:latin typeface="DFYuanLight-B5" panose="020F0309000000000000" pitchFamily="49" charset="-120"/>
                <a:ea typeface="DFYuanLight-B5" panose="020F0309000000000000" pitchFamily="49" charset="-120"/>
              </a:rPr>
              <a:t>Merlion Park)</a:t>
            </a:r>
          </a:p>
          <a:p>
            <a:pPr>
              <a:lnSpc>
                <a:spcPts val="1800"/>
              </a:lnSpc>
              <a:buNone/>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這裡是新加坡的象徵，連結了過去的漁村歷史與現在的繁榮。</a:t>
            </a:r>
          </a:p>
          <a:p>
            <a:pPr>
              <a:lnSpc>
                <a:spcPts val="1800"/>
              </a:lnSpc>
            </a:pPr>
            <a:r>
              <a:rPr lang="en-US" altLang="zh-TW" sz="1600" dirty="0"/>
              <a:t>       【</a:t>
            </a:r>
            <a:r>
              <a:rPr lang="zh-TW" altLang="en-US" sz="1600" b="1" dirty="0">
                <a:latin typeface="DFYuanLight-B5" panose="020F0309000000000000" pitchFamily="49" charset="-120"/>
                <a:ea typeface="DFYuanLight-B5" panose="020F0309000000000000" pitchFamily="49" charset="-120"/>
              </a:rPr>
              <a:t>對應 </a:t>
            </a:r>
            <a:r>
              <a:rPr lang="en" altLang="zh-TW" sz="1600" b="1" dirty="0">
                <a:latin typeface="DFYuanLight-B5" panose="020F0309000000000000" pitchFamily="49" charset="-120"/>
                <a:ea typeface="DFYuanLight-B5" panose="020F0309000000000000" pitchFamily="49" charset="-120"/>
              </a:rPr>
              <a:t>SDGs </a:t>
            </a:r>
            <a:r>
              <a:rPr lang="zh-TW" altLang="en-US" sz="1600" b="1" dirty="0">
                <a:latin typeface="DFYuanLight-B5" panose="020F0309000000000000" pitchFamily="49" charset="-120"/>
                <a:ea typeface="DFYuanLight-B5" panose="020F0309000000000000" pitchFamily="49" charset="-120"/>
              </a:rPr>
              <a:t>目標</a:t>
            </a:r>
            <a:r>
              <a:rPr lang="en-US" altLang="zh-TW" sz="1600" dirty="0"/>
              <a:t>】</a:t>
            </a:r>
            <a:endParaRPr lang="zh-TW" altLang="en-US" sz="1600" dirty="0">
              <a:latin typeface="DFYuanLight-B5" panose="020F0309000000000000" pitchFamily="49" charset="-120"/>
              <a:ea typeface="DFYuanLight-B5" panose="020F0309000000000000" pitchFamily="49" charset="-120"/>
            </a:endParaRPr>
          </a:p>
          <a:p>
            <a:pPr marL="742950" lvl="1" indent="-285750">
              <a:lnSpc>
                <a:spcPts val="1800"/>
              </a:lnSpc>
              <a:buFont typeface="Arial" panose="020B0604020202020204" pitchFamily="34" charset="0"/>
              <a:buChar char="•"/>
            </a:pPr>
            <a:r>
              <a:rPr lang="en" altLang="zh-TW" sz="1600" b="1" dirty="0">
                <a:latin typeface="DFYuanLight-B5" panose="020F0309000000000000" pitchFamily="49" charset="-120"/>
                <a:ea typeface="DFYuanLight-B5" panose="020F0309000000000000" pitchFamily="49" charset="-120"/>
              </a:rPr>
              <a:t>SDG 14</a:t>
            </a:r>
            <a:r>
              <a:rPr lang="zh-TW" altLang="en"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海洋生態</a:t>
            </a:r>
            <a:r>
              <a:rPr lang="zh-TW" altLang="en-US" sz="1600" dirty="0">
                <a:latin typeface="DFYuanLight-B5" panose="020F0309000000000000" pitchFamily="49" charset="-120"/>
                <a:ea typeface="DFYuanLight-B5" panose="020F0309000000000000" pitchFamily="49" charset="-120"/>
              </a:rPr>
              <a:t>（提醒大眾海洋文化對新加坡的重要性）。</a:t>
            </a:r>
          </a:p>
          <a:p>
            <a:pPr marL="742950" lvl="1" indent="-285750">
              <a:lnSpc>
                <a:spcPts val="1800"/>
              </a:lnSpc>
              <a:buFont typeface="Arial" panose="020B0604020202020204" pitchFamily="34" charset="0"/>
              <a:buChar char="•"/>
            </a:pPr>
            <a:r>
              <a:rPr lang="en" altLang="zh-TW" sz="1600" b="1" dirty="0">
                <a:latin typeface="DFYuanLight-B5" panose="020F0309000000000000" pitchFamily="49" charset="-120"/>
                <a:ea typeface="DFYuanLight-B5" panose="020F0309000000000000" pitchFamily="49" charset="-120"/>
              </a:rPr>
              <a:t>SDG 6</a:t>
            </a:r>
            <a:r>
              <a:rPr lang="zh-TW" altLang="en"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清潔飲水與衛生</a:t>
            </a:r>
            <a:r>
              <a:rPr lang="zh-TW" altLang="en-US" sz="1600" dirty="0">
                <a:latin typeface="DFYuanLight-B5" panose="020F0309000000000000" pitchFamily="49" charset="-120"/>
                <a:ea typeface="DFYuanLight-B5" panose="020F0309000000000000" pitchFamily="49" charset="-120"/>
              </a:rPr>
              <a:t>（魚尾獅所在地新加坡河口的清理，是新加坡水資源管理的成功典範）。</a:t>
            </a:r>
          </a:p>
          <a:p>
            <a:pPr>
              <a:lnSpc>
                <a:spcPts val="1800"/>
              </a:lnSpc>
              <a:buNone/>
            </a:pPr>
            <a:r>
              <a:rPr lang="zh-TW" altLang="en-US" sz="1600" b="1" dirty="0">
                <a:latin typeface="DFYuanLight-B5" panose="020F0309000000000000" pitchFamily="49" charset="-120"/>
                <a:ea typeface="DFYuanLight-B5" panose="020F0309000000000000" pitchFamily="49" charset="-120"/>
              </a:rPr>
              <a:t>💡 機智問答時間</a:t>
            </a:r>
          </a:p>
          <a:p>
            <a:pPr>
              <a:lnSpc>
                <a:spcPts val="1800"/>
              </a:lnSpc>
            </a:pPr>
            <a:r>
              <a:rPr lang="zh-TW" altLang="en-US" sz="1600" b="1" dirty="0">
                <a:latin typeface="DFYuanLight-B5" panose="020F0309000000000000" pitchFamily="49" charset="-120"/>
                <a:ea typeface="DFYuanLight-B5" panose="020F0309000000000000" pitchFamily="49" charset="-120"/>
              </a:rPr>
              <a:t>Ｑ</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問題：</a:t>
            </a:r>
            <a:r>
              <a:rPr lang="zh-TW" altLang="en-US" sz="1600" dirty="0">
                <a:latin typeface="DFYuanLight-B5" panose="020F0309000000000000" pitchFamily="49" charset="-120"/>
                <a:ea typeface="DFYuanLight-B5" panose="020F0309000000000000" pitchFamily="49" charset="-120"/>
              </a:rPr>
              <a:t> 魚尾獅的形狀是「獅頭魚身」。魚身代表新加坡最初是一個</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名為「淡馬錫」</a:t>
            </a: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Temasek) </a:t>
            </a:r>
            <a:r>
              <a:rPr lang="zh-TW" altLang="en-US" sz="1600" dirty="0">
                <a:latin typeface="DFYuanLight-B5" panose="020F0309000000000000" pitchFamily="49" charset="-120"/>
                <a:ea typeface="DFYuanLight-B5" panose="020F0309000000000000" pitchFamily="49" charset="-120"/>
              </a:rPr>
              <a:t>的小漁村，那「獅頭」是代表什</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麼歷史典故？</a:t>
            </a:r>
          </a:p>
          <a:p>
            <a:pPr marL="1524000" lvl="1" indent="-365125">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A) </a:t>
            </a:r>
            <a:r>
              <a:rPr lang="zh-TW" altLang="en-US" sz="1600" dirty="0">
                <a:latin typeface="DFYuanLight-B5" panose="020F0309000000000000" pitchFamily="49" charset="-120"/>
                <a:ea typeface="DFYuanLight-B5" panose="020F0309000000000000" pitchFamily="49" charset="-120"/>
              </a:rPr>
              <a:t>這裡曾經有很多野生獅子</a:t>
            </a:r>
          </a:p>
          <a:p>
            <a:pPr marL="1524000" lvl="1" indent="-365125">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B) </a:t>
            </a:r>
            <a:r>
              <a:rPr lang="zh-TW" altLang="en-US" sz="1600" dirty="0">
                <a:latin typeface="DFYuanLight-B5" panose="020F0309000000000000" pitchFamily="49" charset="-120"/>
                <a:ea typeface="DFYuanLight-B5" panose="020F0309000000000000" pitchFamily="49" charset="-120"/>
              </a:rPr>
              <a:t>王子桑尼拉烏他瑪看見了一頭神獸，將此地命名為「獅</a:t>
            </a:r>
            <a:endParaRPr lang="en-US" altLang="zh-TW" sz="1600" dirty="0">
              <a:latin typeface="DFYuanLight-B5" panose="020F0309000000000000" pitchFamily="49" charset="-120"/>
              <a:ea typeface="DFYuanLight-B5" panose="020F0309000000000000" pitchFamily="49" charset="-120"/>
            </a:endParaRPr>
          </a:p>
          <a:p>
            <a:pPr marL="1524000" lvl="1" indent="-365125">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城」</a:t>
            </a:r>
          </a:p>
          <a:p>
            <a:pPr marL="1524000" lvl="1" indent="-365125">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C) </a:t>
            </a:r>
            <a:r>
              <a:rPr lang="zh-TW" altLang="en-US" sz="1600" dirty="0">
                <a:latin typeface="DFYuanLight-B5" panose="020F0309000000000000" pitchFamily="49" charset="-120"/>
                <a:ea typeface="DFYuanLight-B5" panose="020F0309000000000000" pitchFamily="49" charset="-120"/>
              </a:rPr>
              <a:t>為了嚇跑海盜而設計的造型</a:t>
            </a:r>
          </a:p>
          <a:p>
            <a:pPr marL="1524000" lvl="1" indent="-365125">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D) </a:t>
            </a:r>
            <a:r>
              <a:rPr lang="zh-TW" altLang="en-US" sz="1600" dirty="0">
                <a:latin typeface="DFYuanLight-B5" panose="020F0309000000000000" pitchFamily="49" charset="-120"/>
                <a:ea typeface="DFYuanLight-B5" panose="020F0309000000000000" pitchFamily="49" charset="-120"/>
              </a:rPr>
              <a:t>代表新加坡人的勇猛</a:t>
            </a:r>
          </a:p>
          <a:p>
            <a:pPr>
              <a:lnSpc>
                <a:spcPts val="1800"/>
              </a:lnSpc>
            </a:pPr>
            <a:r>
              <a:rPr lang="zh-TW" altLang="en-US" sz="1600" b="1" dirty="0">
                <a:latin typeface="DFYuanLight-B5" panose="020F0309000000000000" pitchFamily="49" charset="-120"/>
                <a:ea typeface="DFYuanLight-B5" panose="020F0309000000000000" pitchFamily="49" charset="-120"/>
              </a:rPr>
              <a:t>Ａ</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答案：</a:t>
            </a:r>
            <a:r>
              <a:rPr lang="en-US" altLang="zh-TW" sz="1600" dirty="0">
                <a:highlight>
                  <a:srgbClr val="FFFF00"/>
                </a:highlight>
                <a:latin typeface="DFYuanLight-B5" panose="020F0309000000000000" pitchFamily="49" charset="-120"/>
                <a:ea typeface="DFYuanLight-B5" panose="020F0309000000000000" pitchFamily="49" charset="-120"/>
              </a:rPr>
              <a:t>(</a:t>
            </a:r>
            <a:r>
              <a:rPr lang="en" altLang="zh-TW" sz="1600" dirty="0">
                <a:highlight>
                  <a:srgbClr val="FFFF00"/>
                </a:highlight>
                <a:latin typeface="DFYuanLight-B5" panose="020F0309000000000000" pitchFamily="49" charset="-120"/>
                <a:ea typeface="DFYuanLight-B5" panose="020F0309000000000000" pitchFamily="49" charset="-120"/>
              </a:rPr>
              <a:t>B)</a:t>
            </a:r>
          </a:p>
          <a:p>
            <a:pPr>
              <a:lnSpc>
                <a:spcPts val="1800"/>
              </a:lnSpc>
              <a:buFont typeface="Arial" panose="020B0604020202020204" pitchFamily="34" charset="0"/>
              <a:buChar char="•"/>
            </a:pPr>
            <a:r>
              <a:rPr lang="zh-TW" altLang="en-US" sz="1600" b="1" dirty="0">
                <a:latin typeface="DFYuanLight-B5" panose="020F0309000000000000" pitchFamily="49" charset="-120"/>
                <a:ea typeface="DFYuanLight-B5" panose="020F0309000000000000" pitchFamily="49" charset="-120"/>
              </a:rPr>
              <a:t>解析：</a:t>
            </a:r>
            <a:r>
              <a:rPr lang="zh-TW" altLang="en-US" sz="1600" dirty="0">
                <a:latin typeface="DFYuanLight-B5" panose="020F0309000000000000" pitchFamily="49" charset="-120"/>
                <a:ea typeface="DFYuanLight-B5" panose="020F0309000000000000" pitchFamily="49" charset="-120"/>
              </a:rPr>
              <a:t> 根據傳說，蘇門答臘王子在島上看到一隻長得像獅子的生物，因</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此將此地命名為 </a:t>
            </a: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Singapura"</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梵語意為獅子城）。雖然現在新</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加坡沒獅子，但這個標誌象徵了</a:t>
            </a:r>
            <a:r>
              <a:rPr lang="zh-TW" altLang="en-US" sz="1600" b="1" dirty="0">
                <a:latin typeface="DFYuanLight-B5" panose="020F0309000000000000" pitchFamily="49" charset="-120"/>
                <a:ea typeface="DFYuanLight-B5" panose="020F0309000000000000" pitchFamily="49" charset="-120"/>
              </a:rPr>
              <a:t>文化保存與歷史連結</a:t>
            </a:r>
            <a:r>
              <a:rPr lang="zh-TW" altLang="en-US" sz="1600" dirty="0">
                <a:latin typeface="DFYuanLight-B5" panose="020F0309000000000000" pitchFamily="49" charset="-120"/>
                <a:ea typeface="DFYuanLight-B5" panose="020F0309000000000000" pitchFamily="49" charset="-120"/>
              </a:rPr>
              <a:t>。</a:t>
            </a:r>
          </a:p>
        </p:txBody>
      </p:sp>
    </p:spTree>
    <p:extLst>
      <p:ext uri="{BB962C8B-B14F-4D97-AF65-F5344CB8AC3E}">
        <p14:creationId xmlns:p14="http://schemas.microsoft.com/office/powerpoint/2010/main" val="39112835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38DC8-8775-82D5-1630-B228EC909593}"/>
            </a:ext>
          </a:extLst>
        </p:cNvPr>
        <p:cNvGrpSpPr/>
        <p:nvPr/>
      </p:nvGrpSpPr>
      <p:grpSpPr>
        <a:xfrm>
          <a:off x="0" y="0"/>
          <a:ext cx="0" cy="0"/>
          <a:chOff x="0" y="0"/>
          <a:chExt cx="0" cy="0"/>
        </a:xfrm>
      </p:grpSpPr>
      <p:sp>
        <p:nvSpPr>
          <p:cNvPr id="8" name="圓角矩形 7">
            <a:extLst>
              <a:ext uri="{FF2B5EF4-FFF2-40B4-BE49-F238E27FC236}">
                <a16:creationId xmlns:a16="http://schemas.microsoft.com/office/drawing/2014/main" id="{85B39112-3BA7-37CF-18BC-C2F0C4A420C4}"/>
              </a:ext>
            </a:extLst>
          </p:cNvPr>
          <p:cNvSpPr/>
          <p:nvPr/>
        </p:nvSpPr>
        <p:spPr>
          <a:xfrm>
            <a:off x="0" y="4928668"/>
            <a:ext cx="1116000" cy="240632"/>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 name="圓角矩形 3">
            <a:extLst>
              <a:ext uri="{FF2B5EF4-FFF2-40B4-BE49-F238E27FC236}">
                <a16:creationId xmlns:a16="http://schemas.microsoft.com/office/drawing/2014/main" id="{B9E85DEB-9ADD-3789-7C65-6C905D64C641}"/>
              </a:ext>
            </a:extLst>
          </p:cNvPr>
          <p:cNvSpPr/>
          <p:nvPr/>
        </p:nvSpPr>
        <p:spPr>
          <a:xfrm>
            <a:off x="0" y="1938419"/>
            <a:ext cx="1116000" cy="240632"/>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 name="圓角矩形 1">
            <a:extLst>
              <a:ext uri="{FF2B5EF4-FFF2-40B4-BE49-F238E27FC236}">
                <a16:creationId xmlns:a16="http://schemas.microsoft.com/office/drawing/2014/main" id="{AE009BF7-7FCE-0A42-1164-FF8DB42B8A76}"/>
              </a:ext>
            </a:extLst>
          </p:cNvPr>
          <p:cNvSpPr/>
          <p:nvPr/>
        </p:nvSpPr>
        <p:spPr>
          <a:xfrm>
            <a:off x="1" y="320842"/>
            <a:ext cx="3930316" cy="240632"/>
          </a:xfrm>
          <a:prstGeom prst="roundRect">
            <a:avLst/>
          </a:prstGeom>
          <a:solidFill>
            <a:srgbClr val="FFF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 name="文字方塊 4">
            <a:extLst>
              <a:ext uri="{FF2B5EF4-FFF2-40B4-BE49-F238E27FC236}">
                <a16:creationId xmlns:a16="http://schemas.microsoft.com/office/drawing/2014/main" id="{677DDECA-9966-F02F-377B-E96193E8960E}"/>
              </a:ext>
            </a:extLst>
          </p:cNvPr>
          <p:cNvSpPr txBox="1"/>
          <p:nvPr/>
        </p:nvSpPr>
        <p:spPr>
          <a:xfrm>
            <a:off x="68179" y="64168"/>
            <a:ext cx="6721641" cy="8386911"/>
          </a:xfrm>
          <a:prstGeom prst="rect">
            <a:avLst/>
          </a:prstGeom>
          <a:noFill/>
        </p:spPr>
        <p:txBody>
          <a:bodyPr wrap="square">
            <a:spAutoFit/>
          </a:bodyPr>
          <a:lstStyle/>
          <a:p>
            <a:pPr>
              <a:lnSpc>
                <a:spcPts val="1800"/>
              </a:lnSpc>
            </a:pPr>
            <a:r>
              <a:rPr lang="en-US" altLang="zh-TW" sz="1600" b="1" dirty="0">
                <a:latin typeface="DFYuanBold-B5" panose="020F0709000000000000" pitchFamily="49" charset="-120"/>
                <a:ea typeface="DFYuanBold-B5" panose="020F0709000000000000" pitchFamily="49" charset="-120"/>
              </a:rPr>
              <a:t>[ Day1 ]</a:t>
            </a:r>
            <a:endParaRPr lang="zh-TW" altLang="en-US" sz="1600" b="1" dirty="0">
              <a:latin typeface="DFYuanBold-B5" panose="020F0709000000000000" pitchFamily="49" charset="-120"/>
              <a:ea typeface="DFYuanBold-B5" panose="020F0709000000000000" pitchFamily="49" charset="-120"/>
            </a:endParaRPr>
          </a:p>
          <a:p>
            <a:pPr>
              <a:lnSpc>
                <a:spcPts val="1800"/>
              </a:lnSpc>
              <a:buNone/>
            </a:pPr>
            <a:r>
              <a:rPr lang="en-US" altLang="zh-TW" sz="1600" b="1" dirty="0">
                <a:latin typeface="DFYuanLight-B5" panose="020F0309000000000000" pitchFamily="49" charset="-120"/>
                <a:ea typeface="DFYuanLight-B5" panose="020F0309000000000000" pitchFamily="49" charset="-120"/>
              </a:rPr>
              <a:t>2. </a:t>
            </a:r>
            <a:r>
              <a:rPr lang="zh-TW" altLang="en-US" sz="1600" b="1" dirty="0">
                <a:latin typeface="DFYuanLight-B5" panose="020F0309000000000000" pitchFamily="49" charset="-120"/>
                <a:ea typeface="DFYuanLight-B5" panose="020F0309000000000000" pitchFamily="49" charset="-120"/>
              </a:rPr>
              <a:t>魚尾獅公園 </a:t>
            </a:r>
            <a:r>
              <a:rPr lang="en-US" altLang="zh-TW" sz="1600" b="1" dirty="0">
                <a:latin typeface="DFYuanLight-B5" panose="020F0309000000000000" pitchFamily="49" charset="-120"/>
                <a:ea typeface="DFYuanLight-B5" panose="020F0309000000000000" pitchFamily="49" charset="-120"/>
              </a:rPr>
              <a:t>(</a:t>
            </a:r>
            <a:r>
              <a:rPr lang="en" altLang="zh-TW" sz="1600" b="1" dirty="0">
                <a:latin typeface="DFYuanLight-B5" panose="020F0309000000000000" pitchFamily="49" charset="-120"/>
                <a:ea typeface="DFYuanLight-B5" panose="020F0309000000000000" pitchFamily="49" charset="-120"/>
              </a:rPr>
              <a:t>Merlion Park)</a:t>
            </a:r>
          </a:p>
          <a:p>
            <a:pPr>
              <a:lnSpc>
                <a:spcPts val="1800"/>
              </a:lnSpc>
              <a:buNone/>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這裡是新加坡的象徵，連結了過去的漁村歷史與現在的繁榮。</a:t>
            </a:r>
          </a:p>
          <a:p>
            <a:pPr>
              <a:lnSpc>
                <a:spcPts val="1800"/>
              </a:lnSpc>
            </a:pPr>
            <a:r>
              <a:rPr lang="en-US" altLang="zh-TW" sz="1600" dirty="0"/>
              <a:t>       【</a:t>
            </a:r>
            <a:r>
              <a:rPr lang="zh-TW" altLang="en-US" sz="1600" b="1" dirty="0">
                <a:latin typeface="DFYuanLight-B5" panose="020F0309000000000000" pitchFamily="49" charset="-120"/>
                <a:ea typeface="DFYuanLight-B5" panose="020F0309000000000000" pitchFamily="49" charset="-120"/>
              </a:rPr>
              <a:t>對應 </a:t>
            </a:r>
            <a:r>
              <a:rPr lang="en" altLang="zh-TW" sz="1600" b="1" dirty="0">
                <a:latin typeface="DFYuanLight-B5" panose="020F0309000000000000" pitchFamily="49" charset="-120"/>
                <a:ea typeface="DFYuanLight-B5" panose="020F0309000000000000" pitchFamily="49" charset="-120"/>
              </a:rPr>
              <a:t>SDGs </a:t>
            </a:r>
            <a:r>
              <a:rPr lang="zh-TW" altLang="en-US" sz="1600" b="1" dirty="0">
                <a:latin typeface="DFYuanLight-B5" panose="020F0309000000000000" pitchFamily="49" charset="-120"/>
                <a:ea typeface="DFYuanLight-B5" panose="020F0309000000000000" pitchFamily="49" charset="-120"/>
              </a:rPr>
              <a:t>目標</a:t>
            </a:r>
            <a:r>
              <a:rPr lang="en-US" altLang="zh-TW" sz="1600" dirty="0"/>
              <a:t>】</a:t>
            </a:r>
            <a:endParaRPr lang="zh-TW" altLang="en-US" sz="1600" dirty="0">
              <a:latin typeface="DFYuanLight-B5" panose="020F0309000000000000" pitchFamily="49" charset="-120"/>
              <a:ea typeface="DFYuanLight-B5" panose="020F0309000000000000" pitchFamily="49" charset="-120"/>
            </a:endParaRPr>
          </a:p>
          <a:p>
            <a:pPr marL="742950" lvl="1" indent="-285750">
              <a:lnSpc>
                <a:spcPts val="1800"/>
              </a:lnSpc>
              <a:buFont typeface="Arial" panose="020B0604020202020204" pitchFamily="34" charset="0"/>
              <a:buChar char="•"/>
            </a:pPr>
            <a:r>
              <a:rPr lang="en" altLang="zh-TW" sz="1600" b="1" dirty="0">
                <a:latin typeface="DFYuanLight-B5" panose="020F0309000000000000" pitchFamily="49" charset="-120"/>
                <a:ea typeface="DFYuanLight-B5" panose="020F0309000000000000" pitchFamily="49" charset="-120"/>
              </a:rPr>
              <a:t>SDG 14</a:t>
            </a:r>
            <a:r>
              <a:rPr lang="zh-TW" altLang="en"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海洋生態</a:t>
            </a:r>
            <a:r>
              <a:rPr lang="zh-TW" altLang="en-US" sz="1600" dirty="0">
                <a:latin typeface="DFYuanLight-B5" panose="020F0309000000000000" pitchFamily="49" charset="-120"/>
                <a:ea typeface="DFYuanLight-B5" panose="020F0309000000000000" pitchFamily="49" charset="-120"/>
              </a:rPr>
              <a:t>（提醒大眾海洋文化對新加坡的重要性）。</a:t>
            </a:r>
          </a:p>
          <a:p>
            <a:pPr marL="742950" lvl="1" indent="-285750">
              <a:lnSpc>
                <a:spcPts val="1800"/>
              </a:lnSpc>
              <a:buFont typeface="Arial" panose="020B0604020202020204" pitchFamily="34" charset="0"/>
              <a:buChar char="•"/>
            </a:pPr>
            <a:r>
              <a:rPr lang="en" altLang="zh-TW" sz="1600" b="1" dirty="0">
                <a:latin typeface="DFYuanLight-B5" panose="020F0309000000000000" pitchFamily="49" charset="-120"/>
                <a:ea typeface="DFYuanLight-B5" panose="020F0309000000000000" pitchFamily="49" charset="-120"/>
              </a:rPr>
              <a:t>SDG 6</a:t>
            </a:r>
            <a:r>
              <a:rPr lang="zh-TW" altLang="en"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清潔飲水與衛生</a:t>
            </a:r>
            <a:r>
              <a:rPr lang="zh-TW" altLang="en-US" sz="1600" dirty="0">
                <a:latin typeface="DFYuanLight-B5" panose="020F0309000000000000" pitchFamily="49" charset="-120"/>
                <a:ea typeface="DFYuanLight-B5" panose="020F0309000000000000" pitchFamily="49" charset="-120"/>
              </a:rPr>
              <a:t>（魚尾獅所在地新加坡河口的清理，是新加坡水資源管理的成功典範）。</a:t>
            </a:r>
          </a:p>
          <a:p>
            <a:pPr>
              <a:lnSpc>
                <a:spcPts val="1800"/>
              </a:lnSpc>
              <a:buNone/>
            </a:pPr>
            <a:r>
              <a:rPr lang="zh-TW" altLang="en-US" sz="1600" b="1" dirty="0">
                <a:latin typeface="DFYuanLight-B5" panose="020F0309000000000000" pitchFamily="49" charset="-120"/>
                <a:ea typeface="DFYuanLight-B5" panose="020F0309000000000000" pitchFamily="49" charset="-120"/>
              </a:rPr>
              <a:t>💡 機智問答時間</a:t>
            </a:r>
          </a:p>
          <a:p>
            <a:pPr>
              <a:lnSpc>
                <a:spcPts val="1800"/>
              </a:lnSpc>
            </a:pPr>
            <a:r>
              <a:rPr lang="zh-TW" altLang="en-US" sz="1600" b="1" dirty="0">
                <a:latin typeface="DFYuanLight-B5" panose="020F0309000000000000" pitchFamily="49" charset="-120"/>
                <a:ea typeface="DFYuanLight-B5" panose="020F0309000000000000" pitchFamily="49" charset="-120"/>
              </a:rPr>
              <a:t>Ｑ</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問題：</a:t>
            </a:r>
            <a:r>
              <a:rPr lang="zh-TW" altLang="en-US" sz="1600" dirty="0">
                <a:latin typeface="DFYuanLight-B5" panose="020F0309000000000000" pitchFamily="49" charset="-120"/>
                <a:ea typeface="DFYuanLight-B5" panose="020F0309000000000000" pitchFamily="49" charset="-120"/>
              </a:rPr>
              <a:t> 魚尾獅的形狀是「獅頭魚身」。魚身代表新加坡最初是一個</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名為「淡馬錫」</a:t>
            </a: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Temasek) </a:t>
            </a:r>
            <a:r>
              <a:rPr lang="zh-TW" altLang="en-US" sz="1600" dirty="0">
                <a:latin typeface="DFYuanLight-B5" panose="020F0309000000000000" pitchFamily="49" charset="-120"/>
                <a:ea typeface="DFYuanLight-B5" panose="020F0309000000000000" pitchFamily="49" charset="-120"/>
              </a:rPr>
              <a:t>的小漁村，那「獅頭」是代表什</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麼歷史典故？</a:t>
            </a:r>
          </a:p>
          <a:p>
            <a:pPr marL="1524000" lvl="1" indent="-365125">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A) </a:t>
            </a:r>
            <a:r>
              <a:rPr lang="zh-TW" altLang="en-US" sz="1600" dirty="0">
                <a:latin typeface="DFYuanLight-B5" panose="020F0309000000000000" pitchFamily="49" charset="-120"/>
                <a:ea typeface="DFYuanLight-B5" panose="020F0309000000000000" pitchFamily="49" charset="-120"/>
              </a:rPr>
              <a:t>這裡曾經有很多野生獅子</a:t>
            </a:r>
          </a:p>
          <a:p>
            <a:pPr marL="1524000" lvl="1" indent="-365125">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B) </a:t>
            </a:r>
            <a:r>
              <a:rPr lang="zh-TW" altLang="en-US" sz="1600" dirty="0">
                <a:latin typeface="DFYuanLight-B5" panose="020F0309000000000000" pitchFamily="49" charset="-120"/>
                <a:ea typeface="DFYuanLight-B5" panose="020F0309000000000000" pitchFamily="49" charset="-120"/>
              </a:rPr>
              <a:t>王子桑尼拉烏他瑪看見了一頭神獸，將此地命名為「獅</a:t>
            </a:r>
            <a:endParaRPr lang="en-US" altLang="zh-TW" sz="1600" dirty="0">
              <a:latin typeface="DFYuanLight-B5" panose="020F0309000000000000" pitchFamily="49" charset="-120"/>
              <a:ea typeface="DFYuanLight-B5" panose="020F0309000000000000" pitchFamily="49" charset="-120"/>
            </a:endParaRPr>
          </a:p>
          <a:p>
            <a:pPr marL="1524000" lvl="1" indent="-365125">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城」</a:t>
            </a:r>
          </a:p>
          <a:p>
            <a:pPr marL="1524000" lvl="1" indent="-365125">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C) </a:t>
            </a:r>
            <a:r>
              <a:rPr lang="zh-TW" altLang="en-US" sz="1600" dirty="0">
                <a:latin typeface="DFYuanLight-B5" panose="020F0309000000000000" pitchFamily="49" charset="-120"/>
                <a:ea typeface="DFYuanLight-B5" panose="020F0309000000000000" pitchFamily="49" charset="-120"/>
              </a:rPr>
              <a:t>為了嚇跑海盜而設計的造型</a:t>
            </a:r>
          </a:p>
          <a:p>
            <a:pPr marL="1524000" lvl="1" indent="-365125">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D) </a:t>
            </a:r>
            <a:r>
              <a:rPr lang="zh-TW" altLang="en-US" sz="1600" dirty="0">
                <a:latin typeface="DFYuanLight-B5" panose="020F0309000000000000" pitchFamily="49" charset="-120"/>
                <a:ea typeface="DFYuanLight-B5" panose="020F0309000000000000" pitchFamily="49" charset="-120"/>
              </a:rPr>
              <a:t>代表新加坡人的勇猛</a:t>
            </a:r>
          </a:p>
          <a:p>
            <a:pPr>
              <a:lnSpc>
                <a:spcPts val="1800"/>
              </a:lnSpc>
            </a:pPr>
            <a:r>
              <a:rPr lang="zh-TW" altLang="en-US" sz="1600" b="1" dirty="0">
                <a:latin typeface="DFYuanLight-B5" panose="020F0309000000000000" pitchFamily="49" charset="-120"/>
                <a:ea typeface="DFYuanLight-B5" panose="020F0309000000000000" pitchFamily="49" charset="-120"/>
              </a:rPr>
              <a:t>Ａ</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答案：</a:t>
            </a:r>
            <a:r>
              <a:rPr lang="en-US" altLang="zh-TW" sz="1600" dirty="0">
                <a:highlight>
                  <a:srgbClr val="FFFF00"/>
                </a:highlight>
                <a:latin typeface="DFYuanLight-B5" panose="020F0309000000000000" pitchFamily="49" charset="-120"/>
                <a:ea typeface="DFYuanLight-B5" panose="020F0309000000000000" pitchFamily="49" charset="-120"/>
              </a:rPr>
              <a:t>(</a:t>
            </a:r>
            <a:r>
              <a:rPr lang="en" altLang="zh-TW" sz="1600" dirty="0">
                <a:highlight>
                  <a:srgbClr val="FFFF00"/>
                </a:highlight>
                <a:latin typeface="DFYuanLight-B5" panose="020F0309000000000000" pitchFamily="49" charset="-120"/>
                <a:ea typeface="DFYuanLight-B5" panose="020F0309000000000000" pitchFamily="49" charset="-120"/>
              </a:rPr>
              <a:t>B)</a:t>
            </a:r>
          </a:p>
          <a:p>
            <a:pPr marL="285750" indent="-285750">
              <a:lnSpc>
                <a:spcPts val="1800"/>
              </a:lnSpc>
              <a:buFont typeface="Wingdings" pitchFamily="2" charset="2"/>
              <a:buChar char="Ø"/>
            </a:pPr>
            <a:r>
              <a:rPr lang="zh-TW" altLang="en-US" sz="1600" b="1" dirty="0">
                <a:latin typeface="DFYuanLight-B5" panose="020F0309000000000000" pitchFamily="49" charset="-120"/>
                <a:ea typeface="DFYuanLight-B5" panose="020F0309000000000000" pitchFamily="49" charset="-120"/>
              </a:rPr>
              <a:t>解析：</a:t>
            </a:r>
            <a:r>
              <a:rPr lang="zh-TW" altLang="en-US" sz="1600" dirty="0">
                <a:latin typeface="DFYuanLight-B5" panose="020F0309000000000000" pitchFamily="49" charset="-120"/>
                <a:ea typeface="DFYuanLight-B5" panose="020F0309000000000000" pitchFamily="49" charset="-120"/>
              </a:rPr>
              <a:t> 根據傳說，蘇門答臘王子在島上看到一隻長得像獅子的生物，</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因此將此地命名為 </a:t>
            </a: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Singapura"</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梵語意為獅子城）。雖然現</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在新加坡沒獅子，但這個標誌象徵了</a:t>
            </a:r>
            <a:r>
              <a:rPr lang="zh-TW" altLang="en-US" sz="1600" b="1" dirty="0">
                <a:latin typeface="DFYuanLight-B5" panose="020F0309000000000000" pitchFamily="49" charset="-120"/>
                <a:ea typeface="DFYuanLight-B5" panose="020F0309000000000000" pitchFamily="49" charset="-120"/>
              </a:rPr>
              <a:t>文化保存與歷史連結</a:t>
            </a:r>
            <a:r>
              <a:rPr lang="zh-TW" altLang="en-US" sz="1600" dirty="0">
                <a:latin typeface="DFYuanLight-B5" panose="020F0309000000000000" pitchFamily="49" charset="-120"/>
                <a:ea typeface="DFYuanLight-B5" panose="020F0309000000000000" pitchFamily="49" charset="-120"/>
              </a:rPr>
              <a:t>。</a:t>
            </a:r>
            <a:endParaRPr lang="en-US" altLang="zh-TW" sz="1600" dirty="0">
              <a:latin typeface="DFYuanLight-B5" panose="020F0309000000000000" pitchFamily="49" charset="-120"/>
              <a:ea typeface="DFYuanLight-B5" panose="020F0309000000000000" pitchFamily="49" charset="-120"/>
            </a:endParaRPr>
          </a:p>
          <a:p>
            <a:endParaRPr lang="en-US" altLang="zh-TW" sz="1600" b="1" dirty="0">
              <a:latin typeface="DFYuanLight-B5" panose="020F0309000000000000" pitchFamily="49" charset="-120"/>
              <a:ea typeface="DFYuanLight-B5" panose="020F0309000000000000" pitchFamily="49" charset="-120"/>
            </a:endParaRPr>
          </a:p>
          <a:p>
            <a:r>
              <a:rPr lang="zh-TW" altLang="en-US" sz="1600" b="1" dirty="0">
                <a:latin typeface="DFYuanLight-B5" panose="020F0309000000000000" pitchFamily="49" charset="-120"/>
                <a:ea typeface="DFYuanLight-B5" panose="020F0309000000000000" pitchFamily="49" charset="-120"/>
              </a:rPr>
              <a:t>Ｑ</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問題：</a:t>
            </a:r>
            <a:r>
              <a:rPr lang="zh-TW" altLang="en-US" sz="1600" dirty="0">
                <a:latin typeface="DFYuanLight-B5" panose="020F0309000000000000" pitchFamily="49" charset="-120"/>
                <a:ea typeface="DFYuanLight-B5" panose="020F0309000000000000" pitchFamily="49" charset="-120"/>
              </a:rPr>
              <a:t> 魚尾獅面對著廣大的「濱海灣」</a:t>
            </a: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Marina Bay) </a:t>
            </a:r>
            <a:r>
              <a:rPr lang="zh-TW" altLang="en-US" sz="1600" dirty="0">
                <a:latin typeface="DFYuanLight-B5" panose="020F0309000000000000" pitchFamily="49" charset="-120"/>
                <a:ea typeface="DFYuanLight-B5" panose="020F0309000000000000" pitchFamily="49" charset="-120"/>
              </a:rPr>
              <a:t>水域，風景非</a:t>
            </a:r>
            <a:endParaRPr lang="en-US" altLang="zh-TW" sz="1600" dirty="0">
              <a:latin typeface="DFYuanLight-B5" panose="020F0309000000000000" pitchFamily="49" charset="-120"/>
              <a:ea typeface="DFYuanLight-B5" panose="020F0309000000000000" pitchFamily="49" charset="-120"/>
            </a:endParaRPr>
          </a:p>
          <a:p>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常壯麗。這片水域表面上看起來像是連接著大海，但其實它現</a:t>
            </a:r>
            <a:endParaRPr lang="en-US" altLang="zh-TW" sz="1600" dirty="0">
              <a:latin typeface="DFYuanLight-B5" panose="020F0309000000000000" pitchFamily="49" charset="-120"/>
              <a:ea typeface="DFYuanLight-B5" panose="020F0309000000000000" pitchFamily="49" charset="-120"/>
            </a:endParaRPr>
          </a:p>
          <a:p>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在已經被改造，具備了什麼攸關新加坡國家生存的超重要功能？</a:t>
            </a:r>
          </a:p>
          <a:p>
            <a:pPr marL="1563688" lvl="1" indent="-406400"/>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A) </a:t>
            </a:r>
            <a:r>
              <a:rPr lang="zh-TW" altLang="en-US" sz="1600" dirty="0">
                <a:latin typeface="DFYuanLight-B5" panose="020F0309000000000000" pitchFamily="49" charset="-120"/>
                <a:ea typeface="DFYuanLight-B5" panose="020F0309000000000000" pitchFamily="49" charset="-120"/>
              </a:rPr>
              <a:t>它是專門用來復育瀕臨絕種海龜的保育區</a:t>
            </a:r>
          </a:p>
          <a:p>
            <a:pPr marL="1563688" lvl="1" indent="-406400"/>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B) </a:t>
            </a:r>
            <a:r>
              <a:rPr lang="zh-TW" altLang="en-US" sz="1600" dirty="0">
                <a:latin typeface="DFYuanLight-B5" panose="020F0309000000000000" pitchFamily="49" charset="-120"/>
                <a:ea typeface="DFYuanLight-B5" panose="020F0309000000000000" pitchFamily="49" charset="-120"/>
              </a:rPr>
              <a:t>它被堤壩攔截，已經從海水灣變成了新加坡市中心最大的「淡水水庫」（濱海蓄水池）</a:t>
            </a:r>
          </a:p>
          <a:p>
            <a:pPr marL="1563688" lvl="1" indent="-406400"/>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C) </a:t>
            </a:r>
            <a:r>
              <a:rPr lang="zh-TW" altLang="en-US" sz="1600" dirty="0">
                <a:latin typeface="DFYuanLight-B5" panose="020F0309000000000000" pitchFamily="49" charset="-120"/>
                <a:ea typeface="DFYuanLight-B5" panose="020F0309000000000000" pitchFamily="49" charset="-120"/>
              </a:rPr>
              <a:t>它是新加坡海軍的秘密潛水艇基地</a:t>
            </a:r>
          </a:p>
          <a:p>
            <a:pPr marL="1563688" lvl="1" indent="-406400"/>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D) </a:t>
            </a:r>
            <a:r>
              <a:rPr lang="zh-TW" altLang="en-US" sz="1600" dirty="0">
                <a:latin typeface="DFYuanLight-B5" panose="020F0309000000000000" pitchFamily="49" charset="-120"/>
                <a:ea typeface="DFYuanLight-B5" panose="020F0309000000000000" pitchFamily="49" charset="-120"/>
              </a:rPr>
              <a:t>它是為了未來舉辦奧運水上芭蕾而建的巨型泳池</a:t>
            </a:r>
          </a:p>
          <a:p>
            <a:r>
              <a:rPr lang="zh-TW" altLang="en-US" sz="1600" b="1" dirty="0">
                <a:latin typeface="DFYuanLight-B5" panose="020F0309000000000000" pitchFamily="49" charset="-120"/>
                <a:ea typeface="DFYuanLight-B5" panose="020F0309000000000000" pitchFamily="49" charset="-120"/>
              </a:rPr>
              <a:t>Ａ</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答案：</a:t>
            </a:r>
            <a:r>
              <a:rPr lang="en-US" altLang="zh-TW" sz="1600" dirty="0">
                <a:highlight>
                  <a:srgbClr val="FFFF00"/>
                </a:highlight>
                <a:latin typeface="DFYuanLight-B5" panose="020F0309000000000000" pitchFamily="49" charset="-120"/>
                <a:ea typeface="DFYuanLight-B5" panose="020F0309000000000000" pitchFamily="49" charset="-120"/>
              </a:rPr>
              <a:t>(</a:t>
            </a:r>
            <a:r>
              <a:rPr lang="en" altLang="zh-TW" sz="1600" dirty="0">
                <a:highlight>
                  <a:srgbClr val="FFFF00"/>
                </a:highlight>
                <a:latin typeface="DFYuanLight-B5" panose="020F0309000000000000" pitchFamily="49" charset="-120"/>
                <a:ea typeface="DFYuanLight-B5" panose="020F0309000000000000" pitchFamily="49" charset="-120"/>
              </a:rPr>
              <a:t>B)</a:t>
            </a:r>
          </a:p>
          <a:p>
            <a:pPr marL="285750" indent="-285750">
              <a:buFont typeface="Wingdings" pitchFamily="2" charset="2"/>
              <a:buChar char="Ø"/>
            </a:pPr>
            <a:r>
              <a:rPr lang="zh-TW" altLang="en-US" sz="1600" b="1" dirty="0">
                <a:latin typeface="DFYuanLight-B5" panose="020F0309000000000000" pitchFamily="49" charset="-120"/>
                <a:ea typeface="DFYuanLight-B5" panose="020F0309000000000000" pitchFamily="49" charset="-120"/>
              </a:rPr>
              <a:t>解析：</a:t>
            </a:r>
            <a:r>
              <a:rPr lang="zh-TW" altLang="en-US" sz="1600" dirty="0">
                <a:latin typeface="DFYuanLight-B5" panose="020F0309000000000000" pitchFamily="49" charset="-120"/>
                <a:ea typeface="DFYuanLight-B5" panose="020F0309000000000000" pitchFamily="49" charset="-120"/>
              </a:rPr>
              <a:t> 新加坡為了擺脫對進口水的依賴，建造了濱海堤壩 </a:t>
            </a: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Marina </a:t>
            </a:r>
          </a:p>
          <a:p>
            <a:r>
              <a:rPr lang="en" altLang="zh-TW" sz="1600" dirty="0">
                <a:latin typeface="DFYuanLight-B5" panose="020F0309000000000000" pitchFamily="49" charset="-120"/>
                <a:ea typeface="DFYuanLight-B5" panose="020F0309000000000000" pitchFamily="49" charset="-120"/>
              </a:rPr>
              <a:t>          Barrage)</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把海水擋在外面，讓降雨的淡水留在灣內，成功把</a:t>
            </a:r>
            <a:endParaRPr lang="en-US" altLang="zh-TW" sz="1600" dirty="0">
              <a:latin typeface="DFYuanLight-B5" panose="020F0309000000000000" pitchFamily="49" charset="-120"/>
              <a:ea typeface="DFYuanLight-B5" panose="020F0309000000000000" pitchFamily="49" charset="-120"/>
            </a:endParaRPr>
          </a:p>
          <a:p>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海灣變成市中心的淡水庫。這是實現 </a:t>
            </a:r>
            <a:r>
              <a:rPr lang="zh-TW" altLang="en-US" sz="1600" b="1" dirty="0">
                <a:latin typeface="DFYuanLight-B5" panose="020F0309000000000000" pitchFamily="49" charset="-120"/>
                <a:ea typeface="DFYuanLight-B5" panose="020F0309000000000000" pitchFamily="49" charset="-120"/>
              </a:rPr>
              <a:t>清潔飲水與衛生 </a:t>
            </a:r>
            <a:r>
              <a:rPr lang="en-US" altLang="zh-TW" sz="1600" b="1" dirty="0">
                <a:latin typeface="DFYuanLight-B5" panose="020F0309000000000000" pitchFamily="49" charset="-120"/>
                <a:ea typeface="DFYuanLight-B5" panose="020F0309000000000000" pitchFamily="49" charset="-120"/>
              </a:rPr>
              <a:t>(</a:t>
            </a:r>
            <a:r>
              <a:rPr lang="en" altLang="zh-TW" sz="1600" b="1" dirty="0">
                <a:latin typeface="DFYuanLight-B5" panose="020F0309000000000000" pitchFamily="49" charset="-120"/>
                <a:ea typeface="DFYuanLight-B5" panose="020F0309000000000000" pitchFamily="49" charset="-120"/>
              </a:rPr>
              <a:t>SDG 6)</a:t>
            </a:r>
            <a:r>
              <a:rPr lang="en" altLang="zh-TW" sz="1600" dirty="0">
                <a:latin typeface="DFYuanLight-B5" panose="020F0309000000000000" pitchFamily="49" charset="-120"/>
                <a:ea typeface="DFYuanLight-B5" panose="020F0309000000000000" pitchFamily="49" charset="-120"/>
              </a:rPr>
              <a:t> </a:t>
            </a:r>
          </a:p>
          <a:p>
            <a:r>
              <a:rPr lang="en"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非常了不起的水資源工程！</a:t>
            </a:r>
          </a:p>
          <a:p>
            <a:pPr>
              <a:lnSpc>
                <a:spcPts val="1800"/>
              </a:lnSpc>
            </a:pPr>
            <a:endParaRPr lang="zh-TW" altLang="en-US" sz="1600" dirty="0">
              <a:latin typeface="DFYuanLight-B5" panose="020F0309000000000000" pitchFamily="49" charset="-120"/>
              <a:ea typeface="DFYuanLight-B5" panose="020F0309000000000000" pitchFamily="49" charset="-120"/>
            </a:endParaRPr>
          </a:p>
        </p:txBody>
      </p:sp>
    </p:spTree>
    <p:extLst>
      <p:ext uri="{BB962C8B-B14F-4D97-AF65-F5344CB8AC3E}">
        <p14:creationId xmlns:p14="http://schemas.microsoft.com/office/powerpoint/2010/main" val="904147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B37C8-E079-75AE-6370-D0F9728CC46D}"/>
            </a:ext>
          </a:extLst>
        </p:cNvPr>
        <p:cNvGrpSpPr/>
        <p:nvPr/>
      </p:nvGrpSpPr>
      <p:grpSpPr>
        <a:xfrm>
          <a:off x="0" y="0"/>
          <a:ext cx="0" cy="0"/>
          <a:chOff x="0" y="0"/>
          <a:chExt cx="0" cy="0"/>
        </a:xfrm>
      </p:grpSpPr>
      <p:sp>
        <p:nvSpPr>
          <p:cNvPr id="4" name="圓角矩形 3">
            <a:extLst>
              <a:ext uri="{FF2B5EF4-FFF2-40B4-BE49-F238E27FC236}">
                <a16:creationId xmlns:a16="http://schemas.microsoft.com/office/drawing/2014/main" id="{A16F93FC-87D8-31C8-600E-E5D449D6B3DE}"/>
              </a:ext>
            </a:extLst>
          </p:cNvPr>
          <p:cNvSpPr/>
          <p:nvPr/>
        </p:nvSpPr>
        <p:spPr>
          <a:xfrm>
            <a:off x="0" y="1704739"/>
            <a:ext cx="1116000" cy="240632"/>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 name="圓角矩形 1">
            <a:extLst>
              <a:ext uri="{FF2B5EF4-FFF2-40B4-BE49-F238E27FC236}">
                <a16:creationId xmlns:a16="http://schemas.microsoft.com/office/drawing/2014/main" id="{55710C26-AE83-4DBD-B6C9-726757C6C9E1}"/>
              </a:ext>
            </a:extLst>
          </p:cNvPr>
          <p:cNvSpPr/>
          <p:nvPr/>
        </p:nvSpPr>
        <p:spPr>
          <a:xfrm>
            <a:off x="1" y="320842"/>
            <a:ext cx="3930316" cy="240632"/>
          </a:xfrm>
          <a:prstGeom prst="roundRect">
            <a:avLst/>
          </a:prstGeom>
          <a:solidFill>
            <a:srgbClr val="FFF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 name="文字方塊 4">
            <a:extLst>
              <a:ext uri="{FF2B5EF4-FFF2-40B4-BE49-F238E27FC236}">
                <a16:creationId xmlns:a16="http://schemas.microsoft.com/office/drawing/2014/main" id="{0287562F-B103-1372-9291-3B33BD7C4DDA}"/>
              </a:ext>
            </a:extLst>
          </p:cNvPr>
          <p:cNvSpPr txBox="1"/>
          <p:nvPr/>
        </p:nvSpPr>
        <p:spPr>
          <a:xfrm>
            <a:off x="68179" y="64168"/>
            <a:ext cx="6721641" cy="4478149"/>
          </a:xfrm>
          <a:prstGeom prst="rect">
            <a:avLst/>
          </a:prstGeom>
          <a:noFill/>
        </p:spPr>
        <p:txBody>
          <a:bodyPr wrap="square">
            <a:spAutoFit/>
          </a:bodyPr>
          <a:lstStyle/>
          <a:p>
            <a:pPr>
              <a:lnSpc>
                <a:spcPts val="1800"/>
              </a:lnSpc>
            </a:pPr>
            <a:r>
              <a:rPr lang="en-US" altLang="zh-TW" sz="1600" b="1" dirty="0">
                <a:latin typeface="DFYuanBold-B5" panose="020F0709000000000000" pitchFamily="49" charset="-120"/>
                <a:ea typeface="DFYuanBold-B5" panose="020F0709000000000000" pitchFamily="49" charset="-120"/>
              </a:rPr>
              <a:t>[ Day1 ]</a:t>
            </a:r>
            <a:endParaRPr lang="zh-TW" altLang="en-US" sz="1600" dirty="0">
              <a:latin typeface="DFYuanLight-B5" panose="020F0309000000000000" pitchFamily="49" charset="-120"/>
              <a:ea typeface="DFYuanLight-B5" panose="020F0309000000000000" pitchFamily="49" charset="-120"/>
            </a:endParaRPr>
          </a:p>
          <a:p>
            <a:pPr>
              <a:lnSpc>
                <a:spcPts val="1800"/>
              </a:lnSpc>
              <a:buNone/>
            </a:pPr>
            <a:r>
              <a:rPr lang="en-US" altLang="zh-TW" sz="1600" b="1" dirty="0">
                <a:latin typeface="DFYuanLight-B5" panose="020F0309000000000000" pitchFamily="49" charset="-120"/>
                <a:ea typeface="DFYuanLight-B5" panose="020F0309000000000000" pitchFamily="49" charset="-120"/>
              </a:rPr>
              <a:t>3. </a:t>
            </a:r>
            <a:r>
              <a:rPr lang="zh-TW" altLang="en-US" sz="1600" b="1" dirty="0">
                <a:latin typeface="DFYuanLight-B5" panose="020F0309000000000000" pitchFamily="49" charset="-120"/>
                <a:ea typeface="DFYuanLight-B5" panose="020F0309000000000000" pitchFamily="49" charset="-120"/>
              </a:rPr>
              <a:t>克拉碼頭水上計程車 </a:t>
            </a:r>
            <a:r>
              <a:rPr lang="en-US" altLang="zh-TW" sz="1600" b="1" dirty="0">
                <a:latin typeface="DFYuanLight-B5" panose="020F0309000000000000" pitchFamily="49" charset="-120"/>
                <a:ea typeface="DFYuanLight-B5" panose="020F0309000000000000" pitchFamily="49" charset="-120"/>
              </a:rPr>
              <a:t>(</a:t>
            </a:r>
            <a:r>
              <a:rPr lang="en" altLang="zh-TW" sz="1600" b="1" dirty="0">
                <a:latin typeface="DFYuanLight-B5" panose="020F0309000000000000" pitchFamily="49" charset="-120"/>
                <a:ea typeface="DFYuanLight-B5" panose="020F0309000000000000" pitchFamily="49" charset="-120"/>
              </a:rPr>
              <a:t>Water Taxi)</a:t>
            </a:r>
          </a:p>
          <a:p>
            <a:pPr>
              <a:lnSpc>
                <a:spcPts val="1800"/>
              </a:lnSpc>
              <a:buNone/>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透過水路交通，看見新加坡從貿易港口轉型為永續都市的縮影。</a:t>
            </a:r>
          </a:p>
          <a:p>
            <a:pPr marL="360363" indent="-46038">
              <a:lnSpc>
                <a:spcPts val="1800"/>
              </a:lnSpc>
            </a:pPr>
            <a:r>
              <a:rPr lang="en-US" altLang="zh-TW" sz="1600" dirty="0"/>
              <a:t>【</a:t>
            </a:r>
            <a:r>
              <a:rPr lang="zh-TW" altLang="en-US" sz="1600" b="1" dirty="0">
                <a:latin typeface="DFYuanLight-B5" panose="020F0309000000000000" pitchFamily="49" charset="-120"/>
                <a:ea typeface="DFYuanLight-B5" panose="020F0309000000000000" pitchFamily="49" charset="-120"/>
              </a:rPr>
              <a:t>對應 </a:t>
            </a:r>
            <a:r>
              <a:rPr lang="en" altLang="zh-TW" sz="1600" b="1" dirty="0">
                <a:latin typeface="DFYuanLight-B5" panose="020F0309000000000000" pitchFamily="49" charset="-120"/>
                <a:ea typeface="DFYuanLight-B5" panose="020F0309000000000000" pitchFamily="49" charset="-120"/>
              </a:rPr>
              <a:t>SDGs </a:t>
            </a:r>
            <a:r>
              <a:rPr lang="zh-TW" altLang="en-US" sz="1600" b="1" dirty="0">
                <a:latin typeface="DFYuanLight-B5" panose="020F0309000000000000" pitchFamily="49" charset="-120"/>
                <a:ea typeface="DFYuanLight-B5" panose="020F0309000000000000" pitchFamily="49" charset="-120"/>
              </a:rPr>
              <a:t>目標</a:t>
            </a:r>
            <a:r>
              <a:rPr lang="en-US" altLang="zh-TW" sz="1600" dirty="0"/>
              <a:t>】</a:t>
            </a:r>
            <a:endParaRPr lang="zh-TW" altLang="en-US" sz="1600" dirty="0">
              <a:latin typeface="DFYuanLight-B5" panose="020F0309000000000000" pitchFamily="49" charset="-120"/>
              <a:ea typeface="DFYuanLight-B5" panose="020F0309000000000000" pitchFamily="49" charset="-120"/>
            </a:endParaRPr>
          </a:p>
          <a:p>
            <a:pPr marL="742950" lvl="1" indent="-285750">
              <a:lnSpc>
                <a:spcPts val="1800"/>
              </a:lnSpc>
              <a:buFont typeface="Arial" panose="020B0604020202020204" pitchFamily="34" charset="0"/>
              <a:buChar char="•"/>
            </a:pPr>
            <a:r>
              <a:rPr lang="en" altLang="zh-TW" sz="1600" b="1" dirty="0">
                <a:latin typeface="DFYuanLight-B5" panose="020F0309000000000000" pitchFamily="49" charset="-120"/>
                <a:ea typeface="DFYuanLight-B5" panose="020F0309000000000000" pitchFamily="49" charset="-120"/>
              </a:rPr>
              <a:t>SDG 11</a:t>
            </a:r>
            <a:r>
              <a:rPr lang="zh-TW" altLang="en"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永續城市與社區</a:t>
            </a:r>
            <a:r>
              <a:rPr lang="zh-TW" altLang="en-US" sz="1600" dirty="0">
                <a:latin typeface="DFYuanLight-B5" panose="020F0309000000000000" pitchFamily="49" charset="-120"/>
                <a:ea typeface="DFYuanLight-B5" panose="020F0309000000000000" pitchFamily="49" charset="-120"/>
              </a:rPr>
              <a:t>（推廣低碳排的大眾運輸工具）。</a:t>
            </a:r>
          </a:p>
          <a:p>
            <a:pPr marL="742950" lvl="1" indent="-285750">
              <a:lnSpc>
                <a:spcPts val="1800"/>
              </a:lnSpc>
              <a:buFont typeface="Arial" panose="020B0604020202020204" pitchFamily="34" charset="0"/>
              <a:buChar char="•"/>
            </a:pPr>
            <a:r>
              <a:rPr lang="en" altLang="zh-TW" sz="1600" b="1" dirty="0">
                <a:latin typeface="DFYuanLight-B5" panose="020F0309000000000000" pitchFamily="49" charset="-120"/>
                <a:ea typeface="DFYuanLight-B5" panose="020F0309000000000000" pitchFamily="49" charset="-120"/>
              </a:rPr>
              <a:t>SDG 13</a:t>
            </a:r>
            <a:r>
              <a:rPr lang="zh-TW" altLang="en"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氣候行動</a:t>
            </a:r>
            <a:r>
              <a:rPr lang="zh-TW" altLang="en-US" sz="1600" dirty="0">
                <a:latin typeface="DFYuanLight-B5" panose="020F0309000000000000" pitchFamily="49" charset="-120"/>
                <a:ea typeface="DFYuanLight-B5" panose="020F0309000000000000" pitchFamily="49" charset="-120"/>
              </a:rPr>
              <a:t>（減少道路交通擁塞及溫室氣體排放）。</a:t>
            </a:r>
          </a:p>
          <a:p>
            <a:pPr>
              <a:lnSpc>
                <a:spcPts val="1800"/>
              </a:lnSpc>
              <a:buNone/>
            </a:pPr>
            <a:r>
              <a:rPr lang="zh-TW" altLang="en-US" sz="1600" b="1" dirty="0">
                <a:latin typeface="DFYuanLight-B5" panose="020F0309000000000000" pitchFamily="49" charset="-120"/>
                <a:ea typeface="DFYuanLight-B5" panose="020F0309000000000000" pitchFamily="49" charset="-120"/>
              </a:rPr>
              <a:t>💡 機智問答時間</a:t>
            </a:r>
          </a:p>
          <a:p>
            <a:pPr>
              <a:lnSpc>
                <a:spcPts val="1800"/>
              </a:lnSpc>
            </a:pPr>
            <a:r>
              <a:rPr lang="zh-TW" altLang="en-US" sz="1600" b="1" dirty="0">
                <a:latin typeface="DFYuanLight-B5" panose="020F0309000000000000" pitchFamily="49" charset="-120"/>
                <a:ea typeface="DFYuanLight-B5" panose="020F0309000000000000" pitchFamily="49" charset="-120"/>
              </a:rPr>
              <a:t>Ｑ</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問題：</a:t>
            </a:r>
            <a:r>
              <a:rPr lang="zh-TW" altLang="en-US" sz="1600" dirty="0">
                <a:latin typeface="DFYuanLight-B5" panose="020F0309000000000000" pitchFamily="49" charset="-120"/>
                <a:ea typeface="DFYuanLight-B5" panose="020F0309000000000000" pitchFamily="49" charset="-120"/>
              </a:rPr>
              <a:t> 在 </a:t>
            </a:r>
            <a:r>
              <a:rPr lang="en-US" altLang="zh-TW" sz="1600" dirty="0">
                <a:latin typeface="DFYuanLight-B5" panose="020F0309000000000000" pitchFamily="49" charset="-120"/>
                <a:ea typeface="DFYuanLight-B5" panose="020F0309000000000000" pitchFamily="49" charset="-120"/>
              </a:rPr>
              <a:t>1970 </a:t>
            </a:r>
            <a:r>
              <a:rPr lang="zh-TW" altLang="en-US" sz="1600" dirty="0">
                <a:latin typeface="DFYuanLight-B5" panose="020F0309000000000000" pitchFamily="49" charset="-120"/>
                <a:ea typeface="DFYuanLight-B5" panose="020F0309000000000000" pitchFamily="49" charset="-120"/>
              </a:rPr>
              <a:t>年代，新加坡河曾因汙染嚴重而臭氣熏天。新加坡政</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府花了 </a:t>
            </a:r>
            <a:r>
              <a:rPr lang="en-US" altLang="zh-TW" sz="1600" dirty="0">
                <a:latin typeface="DFYuanLight-B5" panose="020F0309000000000000" pitchFamily="49" charset="-120"/>
                <a:ea typeface="DFYuanLight-B5" panose="020F0309000000000000" pitchFamily="49" charset="-120"/>
              </a:rPr>
              <a:t>10 </a:t>
            </a:r>
            <a:r>
              <a:rPr lang="zh-TW" altLang="en-US" sz="1600" dirty="0">
                <a:latin typeface="DFYuanLight-B5" panose="020F0309000000000000" pitchFamily="49" charset="-120"/>
                <a:ea typeface="DFYuanLight-B5" panose="020F0309000000000000" pitchFamily="49" charset="-120"/>
              </a:rPr>
              <a:t>年進行「清河行動」。請問現在乘坐水上計程車取</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代陸路交通，對永續發展最大的貢獻是什麼？</a:t>
            </a:r>
          </a:p>
          <a:p>
            <a:pPr marL="1557338" lvl="1" indent="-400050">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A) </a:t>
            </a:r>
            <a:r>
              <a:rPr lang="zh-TW" altLang="en-US" sz="1600" dirty="0">
                <a:latin typeface="DFYuanLight-B5" panose="020F0309000000000000" pitchFamily="49" charset="-120"/>
                <a:ea typeface="DFYuanLight-B5" panose="020F0309000000000000" pitchFamily="49" charset="-120"/>
              </a:rPr>
              <a:t>船跑得比計程車快</a:t>
            </a:r>
          </a:p>
          <a:p>
            <a:pPr marL="1557338" lvl="1" indent="-400050">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B) </a:t>
            </a:r>
            <a:r>
              <a:rPr lang="zh-TW" altLang="en-US" sz="1600" dirty="0">
                <a:latin typeface="DFYuanLight-B5" panose="020F0309000000000000" pitchFamily="49" charset="-120"/>
                <a:ea typeface="DFYuanLight-B5" panose="020F0309000000000000" pitchFamily="49" charset="-120"/>
              </a:rPr>
              <a:t>減少路面交通擠塞與碳排放</a:t>
            </a:r>
          </a:p>
          <a:p>
            <a:pPr marL="1557338" lvl="1" indent="-400050">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C) </a:t>
            </a:r>
            <a:r>
              <a:rPr lang="zh-TW" altLang="en-US" sz="1600" dirty="0">
                <a:latin typeface="DFYuanLight-B5" panose="020F0309000000000000" pitchFamily="49" charset="-120"/>
                <a:ea typeface="DFYuanLight-B5" panose="020F0309000000000000" pitchFamily="49" charset="-120"/>
              </a:rPr>
              <a:t>讓魚類有地方運動</a:t>
            </a:r>
          </a:p>
          <a:p>
            <a:pPr marL="1557338" lvl="1" indent="-400050">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D) </a:t>
            </a:r>
            <a:r>
              <a:rPr lang="zh-TW" altLang="en-US" sz="1600" dirty="0">
                <a:latin typeface="DFYuanLight-B5" panose="020F0309000000000000" pitchFamily="49" charset="-120"/>
                <a:ea typeface="DFYuanLight-B5" panose="020F0309000000000000" pitchFamily="49" charset="-120"/>
              </a:rPr>
              <a:t>增加遊客的拍照時間</a:t>
            </a:r>
          </a:p>
          <a:p>
            <a:pPr>
              <a:lnSpc>
                <a:spcPts val="1800"/>
              </a:lnSpc>
            </a:pPr>
            <a:r>
              <a:rPr lang="zh-TW" altLang="en-US" sz="1600" b="1" dirty="0">
                <a:latin typeface="DFYuanLight-B5" panose="020F0309000000000000" pitchFamily="49" charset="-120"/>
                <a:ea typeface="DFYuanLight-B5" panose="020F0309000000000000" pitchFamily="49" charset="-120"/>
              </a:rPr>
              <a:t>Ａ</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答案：</a:t>
            </a:r>
            <a:r>
              <a:rPr lang="en-US" altLang="zh-TW" sz="1600" dirty="0">
                <a:highlight>
                  <a:srgbClr val="FFFF00"/>
                </a:highlight>
                <a:latin typeface="DFYuanLight-B5" panose="020F0309000000000000" pitchFamily="49" charset="-120"/>
                <a:ea typeface="DFYuanLight-B5" panose="020F0309000000000000" pitchFamily="49" charset="-120"/>
              </a:rPr>
              <a:t>(</a:t>
            </a:r>
            <a:r>
              <a:rPr lang="en" altLang="zh-TW" sz="1600" dirty="0">
                <a:highlight>
                  <a:srgbClr val="FFFF00"/>
                </a:highlight>
                <a:latin typeface="DFYuanLight-B5" panose="020F0309000000000000" pitchFamily="49" charset="-120"/>
                <a:ea typeface="DFYuanLight-B5" panose="020F0309000000000000" pitchFamily="49" charset="-120"/>
              </a:rPr>
              <a:t>B)</a:t>
            </a:r>
          </a:p>
          <a:p>
            <a:pPr>
              <a:lnSpc>
                <a:spcPts val="1800"/>
              </a:lnSpc>
              <a:buFont typeface="Arial" panose="020B0604020202020204" pitchFamily="34" charset="0"/>
              <a:buChar char="•"/>
            </a:pPr>
            <a:r>
              <a:rPr lang="zh-TW" altLang="en-US" sz="1600" b="1" dirty="0">
                <a:latin typeface="DFYuanLight-B5" panose="020F0309000000000000" pitchFamily="49" charset="-120"/>
                <a:ea typeface="DFYuanLight-B5" panose="020F0309000000000000" pitchFamily="49" charset="-120"/>
              </a:rPr>
              <a:t>解析：</a:t>
            </a:r>
            <a:r>
              <a:rPr lang="zh-TW" altLang="en-US" sz="1600" dirty="0">
                <a:latin typeface="DFYuanLight-B5" panose="020F0309000000000000" pitchFamily="49" charset="-120"/>
                <a:ea typeface="DFYuanLight-B5" panose="020F0309000000000000" pitchFamily="49" charset="-120"/>
              </a:rPr>
              <a:t> 利用水路運輸能有效分擔陸地交通壓力。現在許多水上計程車也</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朝向電動化發展，這正是落實</a:t>
            </a:r>
            <a:r>
              <a:rPr lang="zh-TW" altLang="en-US" sz="1600" b="1" dirty="0">
                <a:latin typeface="DFYuanLight-B5" panose="020F0309000000000000" pitchFamily="49" charset="-120"/>
                <a:ea typeface="DFYuanLight-B5" panose="020F0309000000000000" pitchFamily="49" charset="-120"/>
              </a:rPr>
              <a:t>低碳交通</a:t>
            </a:r>
            <a:r>
              <a:rPr lang="zh-TW" altLang="en-US" sz="1600" dirty="0">
                <a:latin typeface="DFYuanLight-B5" panose="020F0309000000000000" pitchFamily="49" charset="-120"/>
                <a:ea typeface="DFYuanLight-B5" panose="020F0309000000000000" pitchFamily="49" charset="-120"/>
              </a:rPr>
              <a:t>的具體表現。</a:t>
            </a:r>
          </a:p>
          <a:p>
            <a:pPr>
              <a:lnSpc>
                <a:spcPts val="1800"/>
              </a:lnSpc>
              <a:buNone/>
            </a:pPr>
            <a:br>
              <a:rPr lang="zh-TW" altLang="en-US" sz="1600" dirty="0">
                <a:latin typeface="DFYuanLight-B5" panose="020F0309000000000000" pitchFamily="49" charset="-120"/>
                <a:ea typeface="DFYuanLight-B5" panose="020F0309000000000000" pitchFamily="49" charset="-120"/>
              </a:rPr>
            </a:br>
            <a:endParaRPr lang="zh-TW" altLang="en-US" sz="1600" dirty="0">
              <a:latin typeface="DFYuanLight-B5" panose="020F0309000000000000" pitchFamily="49" charset="-120"/>
              <a:ea typeface="DFYuanLight-B5" panose="020F0309000000000000" pitchFamily="49" charset="-120"/>
            </a:endParaRPr>
          </a:p>
        </p:txBody>
      </p:sp>
    </p:spTree>
    <p:extLst>
      <p:ext uri="{BB962C8B-B14F-4D97-AF65-F5344CB8AC3E}">
        <p14:creationId xmlns:p14="http://schemas.microsoft.com/office/powerpoint/2010/main" val="1240738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圓角矩形 3">
            <a:extLst>
              <a:ext uri="{FF2B5EF4-FFF2-40B4-BE49-F238E27FC236}">
                <a16:creationId xmlns:a16="http://schemas.microsoft.com/office/drawing/2014/main" id="{DECAA375-1E42-C3DD-8212-A3C409AA4884}"/>
              </a:ext>
            </a:extLst>
          </p:cNvPr>
          <p:cNvSpPr/>
          <p:nvPr/>
        </p:nvSpPr>
        <p:spPr>
          <a:xfrm>
            <a:off x="171651" y="355600"/>
            <a:ext cx="6514697" cy="568960"/>
          </a:xfrm>
          <a:prstGeom prst="roundRect">
            <a:avLst/>
          </a:prstGeom>
          <a:effectLst>
            <a:outerShdw blurRad="50800" dist="38100" dir="5400000" algn="t"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tlCol="0" anchor="ctr"/>
          <a:lstStyle/>
          <a:p>
            <a:pPr algn="ctr"/>
            <a:r>
              <a:rPr kumimoji="1" lang="zh-TW" altLang="en-US" sz="2400" dirty="0">
                <a:latin typeface="DFPYuanBold-B5" panose="020F0700000000000000" pitchFamily="34" charset="-120"/>
                <a:ea typeface="DFPYuanBold-B5" panose="020F0700000000000000" pitchFamily="34" charset="-120"/>
              </a:rPr>
              <a:t>第二天</a:t>
            </a:r>
            <a:r>
              <a:rPr kumimoji="1" lang="en-US" altLang="zh-TW" sz="2400" dirty="0">
                <a:latin typeface="DFPYuanBold-B5" panose="020F0700000000000000" pitchFamily="34" charset="-120"/>
                <a:ea typeface="DFPYuanBold-B5" panose="020F0700000000000000" pitchFamily="34" charset="-120"/>
              </a:rPr>
              <a:t>-</a:t>
            </a:r>
            <a:r>
              <a:rPr kumimoji="1" lang="zh-TW" altLang="en-US" sz="2400" dirty="0">
                <a:latin typeface="DFPYuanBold-B5" panose="020F0700000000000000" pitchFamily="34" charset="-120"/>
                <a:ea typeface="DFPYuanBold-B5" panose="020F0700000000000000" pitchFamily="34" charset="-120"/>
              </a:rPr>
              <a:t>景點</a:t>
            </a:r>
            <a:r>
              <a:rPr kumimoji="1" lang="en-US" altLang="zh-TW" sz="2400" dirty="0">
                <a:latin typeface="DFPYuanBold-B5" panose="020F0700000000000000" pitchFamily="34" charset="-120"/>
                <a:ea typeface="DFPYuanBold-B5" panose="020F0700000000000000" pitchFamily="34" charset="-120"/>
              </a:rPr>
              <a:t>SDGs</a:t>
            </a:r>
            <a:r>
              <a:rPr kumimoji="1" lang="zh-TW" altLang="en-US" sz="2400" dirty="0">
                <a:latin typeface="DFPYuanBold-B5" panose="020F0700000000000000" pitchFamily="34" charset="-120"/>
                <a:ea typeface="DFPYuanBold-B5" panose="020F0700000000000000" pitchFamily="34" charset="-120"/>
              </a:rPr>
              <a:t>介紹</a:t>
            </a:r>
          </a:p>
        </p:txBody>
      </p:sp>
      <p:grpSp>
        <p:nvGrpSpPr>
          <p:cNvPr id="9" name="群組 8">
            <a:extLst>
              <a:ext uri="{FF2B5EF4-FFF2-40B4-BE49-F238E27FC236}">
                <a16:creationId xmlns:a16="http://schemas.microsoft.com/office/drawing/2014/main" id="{7843E493-3A15-A072-A868-39DFBADD1D4B}"/>
              </a:ext>
            </a:extLst>
          </p:cNvPr>
          <p:cNvGrpSpPr/>
          <p:nvPr/>
        </p:nvGrpSpPr>
        <p:grpSpPr>
          <a:xfrm>
            <a:off x="284340" y="1142610"/>
            <a:ext cx="6289320" cy="4324150"/>
            <a:chOff x="171651" y="1125025"/>
            <a:chExt cx="6289320" cy="4324150"/>
          </a:xfrm>
        </p:grpSpPr>
        <p:pic>
          <p:nvPicPr>
            <p:cNvPr id="6" name="圖片 5">
              <a:extLst>
                <a:ext uri="{FF2B5EF4-FFF2-40B4-BE49-F238E27FC236}">
                  <a16:creationId xmlns:a16="http://schemas.microsoft.com/office/drawing/2014/main" id="{B061A3A4-7C05-A26B-429A-2BDE763B5379}"/>
                </a:ext>
              </a:extLst>
            </p:cNvPr>
            <p:cNvPicPr>
              <a:picLocks noChangeAspect="1"/>
            </p:cNvPicPr>
            <p:nvPr/>
          </p:nvPicPr>
          <p:blipFill>
            <a:blip r:embed="rId2"/>
            <a:stretch>
              <a:fillRect/>
            </a:stretch>
          </p:blipFill>
          <p:spPr>
            <a:xfrm>
              <a:off x="171651" y="1125025"/>
              <a:ext cx="3031972" cy="4324150"/>
            </a:xfrm>
            <a:prstGeom prst="rect">
              <a:avLst/>
            </a:prstGeom>
          </p:spPr>
        </p:pic>
        <p:pic>
          <p:nvPicPr>
            <p:cNvPr id="8" name="圖片 7">
              <a:extLst>
                <a:ext uri="{FF2B5EF4-FFF2-40B4-BE49-F238E27FC236}">
                  <a16:creationId xmlns:a16="http://schemas.microsoft.com/office/drawing/2014/main" id="{D781FB66-961F-A009-7614-997973BF109C}"/>
                </a:ext>
              </a:extLst>
            </p:cNvPr>
            <p:cNvPicPr>
              <a:picLocks noChangeAspect="1"/>
            </p:cNvPicPr>
            <p:nvPr/>
          </p:nvPicPr>
          <p:blipFill>
            <a:blip r:embed="rId3"/>
            <a:stretch>
              <a:fillRect/>
            </a:stretch>
          </p:blipFill>
          <p:spPr>
            <a:xfrm>
              <a:off x="3428999" y="1125025"/>
              <a:ext cx="3031972" cy="4324149"/>
            </a:xfrm>
            <a:prstGeom prst="rect">
              <a:avLst/>
            </a:prstGeom>
          </p:spPr>
        </p:pic>
      </p:grpSp>
      <p:grpSp>
        <p:nvGrpSpPr>
          <p:cNvPr id="14" name="群組 13">
            <a:extLst>
              <a:ext uri="{FF2B5EF4-FFF2-40B4-BE49-F238E27FC236}">
                <a16:creationId xmlns:a16="http://schemas.microsoft.com/office/drawing/2014/main" id="{6FC45013-AD63-9233-FF65-E2E11D053910}"/>
              </a:ext>
            </a:extLst>
          </p:cNvPr>
          <p:cNvGrpSpPr/>
          <p:nvPr/>
        </p:nvGrpSpPr>
        <p:grpSpPr>
          <a:xfrm>
            <a:off x="284340" y="5581851"/>
            <a:ext cx="6287617" cy="4324149"/>
            <a:chOff x="284340" y="5581851"/>
            <a:chExt cx="6287617" cy="4324149"/>
          </a:xfrm>
        </p:grpSpPr>
        <p:pic>
          <p:nvPicPr>
            <p:cNvPr id="11" name="圖片 10">
              <a:extLst>
                <a:ext uri="{FF2B5EF4-FFF2-40B4-BE49-F238E27FC236}">
                  <a16:creationId xmlns:a16="http://schemas.microsoft.com/office/drawing/2014/main" id="{DBF55491-8544-103A-ADBC-399C843551D9}"/>
                </a:ext>
              </a:extLst>
            </p:cNvPr>
            <p:cNvPicPr>
              <a:picLocks noChangeAspect="1"/>
            </p:cNvPicPr>
            <p:nvPr/>
          </p:nvPicPr>
          <p:blipFill>
            <a:blip r:embed="rId4"/>
            <a:stretch>
              <a:fillRect/>
            </a:stretch>
          </p:blipFill>
          <p:spPr>
            <a:xfrm>
              <a:off x="284340" y="5581851"/>
              <a:ext cx="3031972" cy="4324149"/>
            </a:xfrm>
            <a:prstGeom prst="rect">
              <a:avLst/>
            </a:prstGeom>
          </p:spPr>
        </p:pic>
        <p:pic>
          <p:nvPicPr>
            <p:cNvPr id="13" name="圖片 12">
              <a:extLst>
                <a:ext uri="{FF2B5EF4-FFF2-40B4-BE49-F238E27FC236}">
                  <a16:creationId xmlns:a16="http://schemas.microsoft.com/office/drawing/2014/main" id="{63B5234D-D450-99E1-C811-CFFEF3F63FD8}"/>
                </a:ext>
              </a:extLst>
            </p:cNvPr>
            <p:cNvPicPr>
              <a:picLocks noChangeAspect="1"/>
            </p:cNvPicPr>
            <p:nvPr/>
          </p:nvPicPr>
          <p:blipFill>
            <a:blip r:embed="rId5"/>
            <a:stretch>
              <a:fillRect/>
            </a:stretch>
          </p:blipFill>
          <p:spPr>
            <a:xfrm>
              <a:off x="3541688" y="5584280"/>
              <a:ext cx="3030269" cy="4321720"/>
            </a:xfrm>
            <a:prstGeom prst="rect">
              <a:avLst/>
            </a:prstGeom>
          </p:spPr>
        </p:pic>
      </p:grpSp>
    </p:spTree>
    <p:extLst>
      <p:ext uri="{BB962C8B-B14F-4D97-AF65-F5344CB8AC3E}">
        <p14:creationId xmlns:p14="http://schemas.microsoft.com/office/powerpoint/2010/main" val="3371388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1ECC7-6148-D755-D5E8-F7E64842C112}"/>
            </a:ext>
          </a:extLst>
        </p:cNvPr>
        <p:cNvGrpSpPr/>
        <p:nvPr/>
      </p:nvGrpSpPr>
      <p:grpSpPr>
        <a:xfrm>
          <a:off x="0" y="0"/>
          <a:ext cx="0" cy="0"/>
          <a:chOff x="0" y="0"/>
          <a:chExt cx="0" cy="0"/>
        </a:xfrm>
      </p:grpSpPr>
      <p:sp>
        <p:nvSpPr>
          <p:cNvPr id="8" name="圓角矩形 7">
            <a:extLst>
              <a:ext uri="{FF2B5EF4-FFF2-40B4-BE49-F238E27FC236}">
                <a16:creationId xmlns:a16="http://schemas.microsoft.com/office/drawing/2014/main" id="{2F6D5BA0-581E-E8C7-8805-85D28DAB91CA}"/>
              </a:ext>
            </a:extLst>
          </p:cNvPr>
          <p:cNvSpPr/>
          <p:nvPr/>
        </p:nvSpPr>
        <p:spPr>
          <a:xfrm>
            <a:off x="0" y="5131868"/>
            <a:ext cx="1116000" cy="240632"/>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 name="圓角矩形 3">
            <a:extLst>
              <a:ext uri="{FF2B5EF4-FFF2-40B4-BE49-F238E27FC236}">
                <a16:creationId xmlns:a16="http://schemas.microsoft.com/office/drawing/2014/main" id="{02EF5CB0-AE8B-D93E-0CCC-F42708FFCEAB}"/>
              </a:ext>
            </a:extLst>
          </p:cNvPr>
          <p:cNvSpPr/>
          <p:nvPr/>
        </p:nvSpPr>
        <p:spPr>
          <a:xfrm>
            <a:off x="0" y="1938419"/>
            <a:ext cx="1116000" cy="240632"/>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 name="圓角矩形 1">
            <a:extLst>
              <a:ext uri="{FF2B5EF4-FFF2-40B4-BE49-F238E27FC236}">
                <a16:creationId xmlns:a16="http://schemas.microsoft.com/office/drawing/2014/main" id="{302A6F0A-6327-7F1E-395D-C2CE71797C53}"/>
              </a:ext>
            </a:extLst>
          </p:cNvPr>
          <p:cNvSpPr/>
          <p:nvPr/>
        </p:nvSpPr>
        <p:spPr>
          <a:xfrm>
            <a:off x="1" y="320842"/>
            <a:ext cx="4716000" cy="240632"/>
          </a:xfrm>
          <a:prstGeom prst="roundRect">
            <a:avLst/>
          </a:prstGeom>
          <a:solidFill>
            <a:srgbClr val="FFF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 name="文字方塊 4">
            <a:extLst>
              <a:ext uri="{FF2B5EF4-FFF2-40B4-BE49-F238E27FC236}">
                <a16:creationId xmlns:a16="http://schemas.microsoft.com/office/drawing/2014/main" id="{1A9F80F7-81A0-4F82-901F-9948938DD295}"/>
              </a:ext>
            </a:extLst>
          </p:cNvPr>
          <p:cNvSpPr txBox="1"/>
          <p:nvPr/>
        </p:nvSpPr>
        <p:spPr>
          <a:xfrm>
            <a:off x="68179" y="64168"/>
            <a:ext cx="6721641" cy="8863965"/>
          </a:xfrm>
          <a:prstGeom prst="rect">
            <a:avLst/>
          </a:prstGeom>
          <a:noFill/>
        </p:spPr>
        <p:txBody>
          <a:bodyPr wrap="square">
            <a:spAutoFit/>
          </a:bodyPr>
          <a:lstStyle/>
          <a:p>
            <a:pPr>
              <a:lnSpc>
                <a:spcPts val="1800"/>
              </a:lnSpc>
            </a:pPr>
            <a:r>
              <a:rPr lang="en-US" altLang="zh-TW" sz="1600" b="1" dirty="0">
                <a:latin typeface="DFYuanBold-B5" panose="020F0709000000000000" pitchFamily="49" charset="-120"/>
                <a:ea typeface="DFYuanBold-B5" panose="020F0709000000000000" pitchFamily="49" charset="-120"/>
              </a:rPr>
              <a:t>[ Day2 ]</a:t>
            </a:r>
            <a:endParaRPr lang="zh-TW" altLang="en-US" sz="1600" b="1" dirty="0">
              <a:latin typeface="DFYuanBold-B5" panose="020F0709000000000000" pitchFamily="49" charset="-120"/>
              <a:ea typeface="DFYuanBold-B5" panose="020F0709000000000000" pitchFamily="49" charset="-120"/>
            </a:endParaRPr>
          </a:p>
          <a:p>
            <a:pPr marL="342900" indent="-342900">
              <a:lnSpc>
                <a:spcPts val="1800"/>
              </a:lnSpc>
              <a:buAutoNum type="arabicPeriod"/>
            </a:pPr>
            <a:r>
              <a:rPr lang="zh-TW" altLang="en-US" sz="1600" b="1" dirty="0">
                <a:latin typeface="DFYuanLight-B5" panose="020F0309000000000000" pitchFamily="49" charset="-120"/>
                <a:ea typeface="DFYuanLight-B5" panose="020F0309000000000000" pitchFamily="49" charset="-120"/>
              </a:rPr>
              <a:t>新加坡城市展覽館 </a:t>
            </a:r>
            <a:r>
              <a:rPr lang="en-US" altLang="zh-TW" sz="1600" b="1" dirty="0">
                <a:latin typeface="DFYuanLight-B5" panose="020F0309000000000000" pitchFamily="49" charset="-120"/>
                <a:ea typeface="DFYuanLight-B5" panose="020F0309000000000000" pitchFamily="49" charset="-120"/>
              </a:rPr>
              <a:t>(</a:t>
            </a:r>
            <a:r>
              <a:rPr lang="en" altLang="zh-TW" sz="1600" b="1" dirty="0">
                <a:latin typeface="DFYuanLight-B5" panose="020F0309000000000000" pitchFamily="49" charset="-120"/>
                <a:ea typeface="DFYuanLight-B5" panose="020F0309000000000000" pitchFamily="49" charset="-120"/>
              </a:rPr>
              <a:t>Singapore City Gallery)</a:t>
            </a:r>
          </a:p>
          <a:p>
            <a:pPr>
              <a:lnSpc>
                <a:spcPts val="1800"/>
              </a:lnSpc>
            </a:pPr>
            <a:r>
              <a:rPr lang="zh-TW" altLang="en-US" sz="1600" dirty="0">
                <a:latin typeface="DFYuanLight-B5" panose="020F0309000000000000" pitchFamily="49" charset="-120"/>
                <a:ea typeface="DFYuanLight-B5" panose="020F0309000000000000" pitchFamily="49" charset="-120"/>
              </a:rPr>
              <a:t>   這不僅是一個展示模型的地方，更是新加坡如何解決土地匱乏、實現   </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zh-TW" altLang="en-US" sz="1600" dirty="0">
                <a:latin typeface="DFYuanLight-B5" panose="020F0309000000000000" pitchFamily="49" charset="-120"/>
                <a:ea typeface="DFYuanLight-B5" panose="020F0309000000000000" pitchFamily="49" charset="-120"/>
              </a:rPr>
              <a:t>   永續發展的「大腦」。</a:t>
            </a:r>
          </a:p>
          <a:p>
            <a:pPr marL="314325">
              <a:lnSpc>
                <a:spcPts val="1800"/>
              </a:lnSpc>
            </a:pPr>
            <a:r>
              <a:rPr lang="en-US" altLang="zh-TW" sz="1600" dirty="0"/>
              <a:t>【</a:t>
            </a:r>
            <a:r>
              <a:rPr lang="zh-TW" altLang="en-US" sz="1600" dirty="0">
                <a:latin typeface="DFYuanLight-B5" panose="020F0309000000000000" pitchFamily="49" charset="-120"/>
                <a:ea typeface="DFYuanLight-B5" panose="020F0309000000000000" pitchFamily="49" charset="-120"/>
              </a:rPr>
              <a:t>對應 </a:t>
            </a:r>
            <a:r>
              <a:rPr lang="en" altLang="zh-TW" sz="1600" dirty="0">
                <a:latin typeface="DFYuanLight-B5" panose="020F0309000000000000" pitchFamily="49" charset="-120"/>
                <a:ea typeface="DFYuanLight-B5" panose="020F0309000000000000" pitchFamily="49" charset="-120"/>
              </a:rPr>
              <a:t>SDGs </a:t>
            </a:r>
            <a:r>
              <a:rPr lang="zh-TW" altLang="en-US" sz="1600" dirty="0">
                <a:latin typeface="DFYuanLight-B5" panose="020F0309000000000000" pitchFamily="49" charset="-120"/>
                <a:ea typeface="DFYuanLight-B5" panose="020F0309000000000000" pitchFamily="49" charset="-120"/>
              </a:rPr>
              <a:t>目標</a:t>
            </a:r>
            <a:r>
              <a:rPr lang="en-US" altLang="zh-TW" sz="1600" dirty="0"/>
              <a:t>】</a:t>
            </a:r>
            <a:endParaRPr lang="zh-TW" altLang="en-US" sz="1600" dirty="0">
              <a:latin typeface="DFYuanLight-B5" panose="020F0309000000000000" pitchFamily="49" charset="-120"/>
              <a:ea typeface="DFYuanLight-B5" panose="020F0309000000000000" pitchFamily="49" charset="-120"/>
            </a:endParaRPr>
          </a:p>
          <a:p>
            <a:pPr marL="720725" indent="-274638">
              <a:lnSpc>
                <a:spcPts val="1800"/>
              </a:lnSpc>
              <a:buFont typeface="Arial" panose="020B0604020202020204" pitchFamily="34" charset="0"/>
              <a:buChar char="•"/>
            </a:pPr>
            <a:r>
              <a:rPr lang="en" altLang="zh-TW" sz="1600" dirty="0">
                <a:latin typeface="DFYuanLight-B5" panose="020F0309000000000000" pitchFamily="49" charset="-120"/>
                <a:ea typeface="DFYuanLight-B5" panose="020F0309000000000000" pitchFamily="49" charset="-120"/>
              </a:rPr>
              <a:t>SDG 11</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永續城市與社區（核心重點：土地利用與城市韌性）。</a:t>
            </a:r>
          </a:p>
          <a:p>
            <a:pPr marL="720725" indent="-274638">
              <a:lnSpc>
                <a:spcPts val="1800"/>
              </a:lnSpc>
              <a:buFont typeface="Arial" panose="020B0604020202020204" pitchFamily="34" charset="0"/>
              <a:buChar char="•"/>
            </a:pPr>
            <a:r>
              <a:rPr lang="en" altLang="zh-TW" sz="1600" dirty="0">
                <a:latin typeface="DFYuanLight-B5" panose="020F0309000000000000" pitchFamily="49" charset="-120"/>
                <a:ea typeface="DFYuanLight-B5" panose="020F0309000000000000" pitchFamily="49" charset="-120"/>
              </a:rPr>
              <a:t>SDG 9</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產業、創新與基礎建設（前瞻性的都市規劃）。</a:t>
            </a:r>
          </a:p>
          <a:p>
            <a:pPr>
              <a:lnSpc>
                <a:spcPts val="1800"/>
              </a:lnSpc>
            </a:pPr>
            <a:r>
              <a:rPr lang="en"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機智問答時間</a:t>
            </a:r>
          </a:p>
          <a:p>
            <a:pPr>
              <a:lnSpc>
                <a:spcPts val="1800"/>
              </a:lnSpc>
            </a:pPr>
            <a:r>
              <a:rPr lang="zh-TW" altLang="en-US" sz="1600" b="1" dirty="0">
                <a:latin typeface="DFYuanLight-B5" panose="020F0309000000000000" pitchFamily="49" charset="-120"/>
                <a:ea typeface="DFYuanLight-B5" panose="020F0309000000000000" pitchFamily="49" charset="-120"/>
              </a:rPr>
              <a:t>Ｑ</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問題： </a:t>
            </a:r>
            <a:r>
              <a:rPr lang="zh-TW" altLang="en-US" sz="1600" dirty="0">
                <a:latin typeface="DFYuanLight-B5" panose="020F0309000000000000" pitchFamily="49" charset="-120"/>
                <a:ea typeface="DFYuanLight-B5" panose="020F0309000000000000" pitchFamily="49" charset="-120"/>
              </a:rPr>
              <a:t>新加坡國土面積大約只有台北市的 </a:t>
            </a:r>
            <a:r>
              <a:rPr lang="en-US" altLang="zh-TW" sz="1600" dirty="0">
                <a:latin typeface="DFYuanLight-B5" panose="020F0309000000000000" pitchFamily="49" charset="-120"/>
                <a:ea typeface="DFYuanLight-B5" panose="020F0309000000000000" pitchFamily="49" charset="-120"/>
              </a:rPr>
              <a:t>2.6 </a:t>
            </a:r>
            <a:r>
              <a:rPr lang="zh-TW" altLang="en-US" sz="1600" dirty="0">
                <a:latin typeface="DFYuanLight-B5" panose="020F0309000000000000" pitchFamily="49" charset="-120"/>
                <a:ea typeface="DFYuanLight-B5" panose="020F0309000000000000" pitchFamily="49" charset="-120"/>
              </a:rPr>
              <a:t>倍，人口卻非常稠密。</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在城市展覽館中，我們可以看到新加坡如何解決土地不足的問</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題。請問下列哪一項不屬於新加坡永續規劃的策略？</a:t>
            </a:r>
          </a:p>
          <a:p>
            <a:pPr marL="1563688" indent="-406400">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A) </a:t>
            </a:r>
            <a:r>
              <a:rPr lang="zh-TW" altLang="en-US" sz="1600" dirty="0">
                <a:latin typeface="DFYuanLight-B5" panose="020F0309000000000000" pitchFamily="49" charset="-120"/>
                <a:ea typeface="DFYuanLight-B5" panose="020F0309000000000000" pitchFamily="49" charset="-120"/>
              </a:rPr>
              <a:t>透過填海造陸增加國土面積</a:t>
            </a:r>
          </a:p>
          <a:p>
            <a:pPr marL="1563688" indent="-406400">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B) </a:t>
            </a:r>
            <a:r>
              <a:rPr lang="zh-TW" altLang="en-US" sz="1600" dirty="0">
                <a:latin typeface="DFYuanLight-B5" panose="020F0309000000000000" pitchFamily="49" charset="-120"/>
                <a:ea typeface="DFYuanLight-B5" panose="020F0309000000000000" pitchFamily="49" charset="-120"/>
              </a:rPr>
              <a:t>將交通樞紐、水庫甚至工業設施「往地下化」或「高空化」發展</a:t>
            </a:r>
          </a:p>
          <a:p>
            <a:pPr marL="1563688" indent="-406400">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C) </a:t>
            </a:r>
            <a:r>
              <a:rPr lang="zh-TW" altLang="en-US" sz="1600" dirty="0">
                <a:latin typeface="DFYuanLight-B5" panose="020F0309000000000000" pitchFamily="49" charset="-120"/>
                <a:ea typeface="DFYuanLight-B5" panose="020F0309000000000000" pitchFamily="49" charset="-120"/>
              </a:rPr>
              <a:t>為了蓋更多房子，全面砍伐森林並填平所有自然保護區</a:t>
            </a:r>
          </a:p>
          <a:p>
            <a:pPr marL="1563688" indent="-406400">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D) </a:t>
            </a:r>
            <a:r>
              <a:rPr lang="zh-TW" altLang="en-US" sz="1600" dirty="0">
                <a:latin typeface="DFYuanLight-B5" panose="020F0309000000000000" pitchFamily="49" charset="-120"/>
                <a:ea typeface="DFYuanLight-B5" panose="020F0309000000000000" pitchFamily="49" charset="-120"/>
              </a:rPr>
              <a:t>實施「垂直綠化」，讓建築物牆面也長滿植物</a:t>
            </a:r>
          </a:p>
          <a:p>
            <a:pPr>
              <a:lnSpc>
                <a:spcPts val="1800"/>
              </a:lnSpc>
            </a:pPr>
            <a:r>
              <a:rPr lang="zh-TW" altLang="en-US" sz="1600" b="1" dirty="0">
                <a:latin typeface="DFYuanLight-B5" panose="020F0309000000000000" pitchFamily="49" charset="-120"/>
                <a:ea typeface="DFYuanLight-B5" panose="020F0309000000000000" pitchFamily="49" charset="-120"/>
              </a:rPr>
              <a:t>Ａ</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答案：</a:t>
            </a:r>
            <a:r>
              <a:rPr lang="en-US" altLang="zh-TW" sz="1600" dirty="0">
                <a:highlight>
                  <a:srgbClr val="FFFF00"/>
                </a:highlight>
                <a:latin typeface="DFYuanLight-B5" panose="020F0309000000000000" pitchFamily="49" charset="-120"/>
                <a:ea typeface="DFYuanLight-B5" panose="020F0309000000000000" pitchFamily="49" charset="-120"/>
              </a:rPr>
              <a:t>(</a:t>
            </a:r>
            <a:r>
              <a:rPr lang="en" altLang="zh-TW" sz="1600" dirty="0">
                <a:highlight>
                  <a:srgbClr val="FFFF00"/>
                </a:highlight>
                <a:latin typeface="DFYuanLight-B5" panose="020F0309000000000000" pitchFamily="49" charset="-120"/>
                <a:ea typeface="DFYuanLight-B5" panose="020F0309000000000000" pitchFamily="49" charset="-120"/>
              </a:rPr>
              <a:t>C)</a:t>
            </a:r>
          </a:p>
          <a:p>
            <a:pPr marL="285750" indent="-285750">
              <a:lnSpc>
                <a:spcPts val="1800"/>
              </a:lnSpc>
              <a:buFont typeface="Wingdings" pitchFamily="2" charset="2"/>
              <a:buChar char="Ø"/>
            </a:pPr>
            <a:r>
              <a:rPr lang="zh-TW" altLang="en-US" sz="1600" b="1" dirty="0">
                <a:latin typeface="DFYuanLight-B5" panose="020F0309000000000000" pitchFamily="49" charset="-120"/>
                <a:ea typeface="DFYuanLight-B5" panose="020F0309000000000000" pitchFamily="49" charset="-120"/>
              </a:rPr>
              <a:t>解析： </a:t>
            </a:r>
            <a:r>
              <a:rPr lang="zh-TW" altLang="en-US" sz="1600" dirty="0">
                <a:latin typeface="DFYuanLight-B5" panose="020F0309000000000000" pitchFamily="49" charset="-120"/>
                <a:ea typeface="DFYuanLight-B5" panose="020F0309000000000000" pitchFamily="49" charset="-120"/>
              </a:rPr>
              <a:t>新加坡在發展城市的同時，堅持「花園中的城市」願景。他們</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規定發展商在蓋樓時，必須在建築內補回因開發而失去的綠地</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面積（如空中花園），絕不會為了開發而犧牲生物多樣性。這</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就是 </a:t>
            </a:r>
            <a:r>
              <a:rPr lang="en" altLang="zh-TW" sz="1600" dirty="0">
                <a:latin typeface="DFYuanLight-B5" panose="020F0309000000000000" pitchFamily="49" charset="-120"/>
                <a:ea typeface="DFYuanLight-B5" panose="020F0309000000000000" pitchFamily="49" charset="-120"/>
              </a:rPr>
              <a:t>SDG 11 </a:t>
            </a:r>
            <a:r>
              <a:rPr lang="zh-TW" altLang="en-US" sz="1600" dirty="0">
                <a:latin typeface="DFYuanLight-B5" panose="020F0309000000000000" pitchFamily="49" charset="-120"/>
                <a:ea typeface="DFYuanLight-B5" panose="020F0309000000000000" pitchFamily="49" charset="-120"/>
              </a:rPr>
              <a:t>追求的城市發展平衡！</a:t>
            </a:r>
            <a:endParaRPr lang="en-US" altLang="zh-TW" sz="1600" dirty="0">
              <a:latin typeface="DFYuanLight-B5" panose="020F0309000000000000" pitchFamily="49" charset="-120"/>
              <a:ea typeface="DFYuanLight-B5" panose="020F0309000000000000" pitchFamily="49" charset="-120"/>
            </a:endParaRPr>
          </a:p>
          <a:p>
            <a:pPr>
              <a:lnSpc>
                <a:spcPts val="1800"/>
              </a:lnSpc>
            </a:pPr>
            <a:endParaRPr lang="en-US" altLang="zh-TW" sz="1600" dirty="0">
              <a:latin typeface="DFYuanLight-B5" panose="020F0309000000000000" pitchFamily="49" charset="-120"/>
              <a:ea typeface="DFYuanLight-B5" panose="020F0309000000000000" pitchFamily="49" charset="-120"/>
            </a:endParaRPr>
          </a:p>
          <a:p>
            <a:pPr>
              <a:lnSpc>
                <a:spcPts val="1800"/>
              </a:lnSpc>
            </a:pPr>
            <a:r>
              <a:rPr lang="zh-TW" altLang="en-US" sz="1600" b="1" dirty="0">
                <a:latin typeface="DFYuanLight-B5" panose="020F0309000000000000" pitchFamily="49" charset="-120"/>
                <a:ea typeface="DFYuanLight-B5" panose="020F0309000000000000" pitchFamily="49" charset="-120"/>
              </a:rPr>
              <a:t>Ｑ</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問題： </a:t>
            </a:r>
            <a:r>
              <a:rPr lang="zh-TW" altLang="en-US" sz="1600" dirty="0">
                <a:latin typeface="DFYuanLight-B5" panose="020F0309000000000000" pitchFamily="49" charset="-120"/>
                <a:ea typeface="DFYuanLight-B5" panose="020F0309000000000000" pitchFamily="49" charset="-120"/>
              </a:rPr>
              <a:t>在城市展覽館中，我們可以看到新加坡未來的規劃藍圖。面對</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全球暖化帶來的「海平面上升」危機，身為地勢低窪島國的新</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加坡正面臨被淹沒的風險。請問新加坡政府目前採取了哪一項</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具體的「氣候行動」來保護國家？</a:t>
            </a:r>
          </a:p>
          <a:p>
            <a:pPr marL="1563688" indent="-446088">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A) </a:t>
            </a:r>
            <a:r>
              <a:rPr lang="zh-TW" altLang="en-US" sz="1600" dirty="0">
                <a:latin typeface="DFYuanLight-B5" panose="020F0309000000000000" pitchFamily="49" charset="-120"/>
                <a:ea typeface="DFYuanLight-B5" panose="020F0309000000000000" pitchFamily="49" charset="-120"/>
              </a:rPr>
              <a:t>準備買下其他國家的土地，隨時準備舉國搬遷</a:t>
            </a:r>
          </a:p>
          <a:p>
            <a:pPr marL="1563688" indent="-446088">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B) </a:t>
            </a:r>
            <a:r>
              <a:rPr lang="zh-TW" altLang="en-US" sz="1600" dirty="0">
                <a:latin typeface="DFYuanLight-B5" panose="020F0309000000000000" pitchFamily="49" charset="-120"/>
                <a:ea typeface="DFYuanLight-B5" panose="020F0309000000000000" pitchFamily="49" charset="-120"/>
              </a:rPr>
              <a:t>規定全國人民從小必須考取潛水執照</a:t>
            </a:r>
          </a:p>
          <a:p>
            <a:pPr marL="1563688" indent="-446088">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C) </a:t>
            </a:r>
            <a:r>
              <a:rPr lang="zh-TW" altLang="en-US" sz="1600" dirty="0">
                <a:latin typeface="DFYuanLight-B5" panose="020F0309000000000000" pitchFamily="49" charset="-120"/>
                <a:ea typeface="DFYuanLight-B5" panose="020F0309000000000000" pitchFamily="49" charset="-120"/>
              </a:rPr>
              <a:t>填海造陸時，將新土地的海拔高度標準大幅拉高至少 </a:t>
            </a:r>
            <a:r>
              <a:rPr lang="en-US" altLang="zh-TW" sz="1600" dirty="0">
                <a:latin typeface="DFYuanLight-B5" panose="020F0309000000000000" pitchFamily="49" charset="-120"/>
                <a:ea typeface="DFYuanLight-B5" panose="020F0309000000000000" pitchFamily="49" charset="-120"/>
              </a:rPr>
              <a:t>4 </a:t>
            </a:r>
            <a:r>
              <a:rPr lang="zh-TW" altLang="en-US" sz="1600" dirty="0">
                <a:latin typeface="DFYuanLight-B5" panose="020F0309000000000000" pitchFamily="49" charset="-120"/>
                <a:ea typeface="DFYuanLight-B5" panose="020F0309000000000000" pitchFamily="49" charset="-120"/>
              </a:rPr>
              <a:t>公尺以上</a:t>
            </a:r>
          </a:p>
          <a:p>
            <a:pPr marL="1563688" indent="-446088">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D) </a:t>
            </a:r>
            <a:r>
              <a:rPr lang="zh-TW" altLang="en-US" sz="1600" dirty="0">
                <a:latin typeface="DFYuanLight-B5" panose="020F0309000000000000" pitchFamily="49" charset="-120"/>
                <a:ea typeface="DFYuanLight-B5" panose="020F0309000000000000" pitchFamily="49" charset="-120"/>
              </a:rPr>
              <a:t>在整個國家上方蓋一個防水的巨大透明玻璃罩</a:t>
            </a:r>
          </a:p>
          <a:p>
            <a:pPr>
              <a:lnSpc>
                <a:spcPts val="1800"/>
              </a:lnSpc>
            </a:pPr>
            <a:r>
              <a:rPr lang="zh-TW" altLang="en-US" sz="1600" b="1" dirty="0">
                <a:latin typeface="DFYuanLight-B5" panose="020F0309000000000000" pitchFamily="49" charset="-120"/>
                <a:ea typeface="DFYuanLight-B5" panose="020F0309000000000000" pitchFamily="49" charset="-120"/>
              </a:rPr>
              <a:t>Ａ</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答案：</a:t>
            </a:r>
            <a:r>
              <a:rPr lang="en-US" altLang="zh-TW" sz="1600" dirty="0">
                <a:highlight>
                  <a:srgbClr val="FFFF00"/>
                </a:highlight>
                <a:latin typeface="DFYuanLight-B5" panose="020F0309000000000000" pitchFamily="49" charset="-120"/>
                <a:ea typeface="DFYuanLight-B5" panose="020F0309000000000000" pitchFamily="49" charset="-120"/>
              </a:rPr>
              <a:t>(</a:t>
            </a:r>
            <a:r>
              <a:rPr lang="en" altLang="zh-TW" sz="1600" dirty="0">
                <a:highlight>
                  <a:srgbClr val="FFFF00"/>
                </a:highlight>
                <a:latin typeface="DFYuanLight-B5" panose="020F0309000000000000" pitchFamily="49" charset="-120"/>
                <a:ea typeface="DFYuanLight-B5" panose="020F0309000000000000" pitchFamily="49" charset="-120"/>
              </a:rPr>
              <a:t>C)</a:t>
            </a:r>
          </a:p>
          <a:p>
            <a:pPr marL="285750" indent="-285750">
              <a:lnSpc>
                <a:spcPts val="1800"/>
              </a:lnSpc>
              <a:buFont typeface="Wingdings" pitchFamily="2" charset="2"/>
              <a:buChar char="Ø"/>
            </a:pPr>
            <a:r>
              <a:rPr lang="zh-TW" altLang="en-US" sz="1600" b="1" dirty="0">
                <a:latin typeface="DFYuanLight-B5" panose="020F0309000000000000" pitchFamily="49" charset="-120"/>
                <a:ea typeface="DFYuanLight-B5" panose="020F0309000000000000" pitchFamily="49" charset="-120"/>
              </a:rPr>
              <a:t>解析： </a:t>
            </a:r>
            <a:r>
              <a:rPr lang="zh-TW" altLang="en-US" sz="1600" dirty="0">
                <a:latin typeface="DFYuanLight-B5" panose="020F0309000000000000" pitchFamily="49" charset="-120"/>
                <a:ea typeface="DFYuanLight-B5" panose="020F0309000000000000" pitchFamily="49" charset="-120"/>
              </a:rPr>
              <a:t>面對 </a:t>
            </a:r>
            <a:r>
              <a:rPr lang="en" altLang="zh-TW" sz="1600" dirty="0">
                <a:latin typeface="DFYuanLight-B5" panose="020F0309000000000000" pitchFamily="49" charset="-120"/>
                <a:ea typeface="DFYuanLight-B5" panose="020F0309000000000000" pitchFamily="49" charset="-120"/>
              </a:rPr>
              <a:t>SDG 13 (</a:t>
            </a:r>
            <a:r>
              <a:rPr lang="zh-TW" altLang="en-US" sz="1600" dirty="0">
                <a:latin typeface="DFYuanLight-B5" panose="020F0309000000000000" pitchFamily="49" charset="-120"/>
                <a:ea typeface="DFYuanLight-B5" panose="020F0309000000000000" pitchFamily="49" charset="-120"/>
              </a:rPr>
              <a:t>氣候行動</a:t>
            </a: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的威脅，新加坡展現了極強的城市</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韌性 </a:t>
            </a: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SDG 11)</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他們未雨綢繆，不僅調高了新建道路和填海</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土地的高度標準，還正在東海岸規劃長達數十公里的「長島」</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計畫來抵禦海潮，是全球對抗海平面上升最積極的國家之一。</a:t>
            </a:r>
          </a:p>
          <a:p>
            <a:pPr>
              <a:lnSpc>
                <a:spcPts val="1800"/>
              </a:lnSpc>
            </a:pPr>
            <a:endParaRPr lang="zh-TW" altLang="en-US" sz="1600" dirty="0">
              <a:latin typeface="DFYuanLight-B5" panose="020F0309000000000000" pitchFamily="49" charset="-120"/>
              <a:ea typeface="DFYuanLight-B5" panose="020F0309000000000000" pitchFamily="49" charset="-120"/>
            </a:endParaRPr>
          </a:p>
          <a:p>
            <a:pPr marL="342900" indent="-342900">
              <a:lnSpc>
                <a:spcPts val="1800"/>
              </a:lnSpc>
              <a:buAutoNum type="arabicPeriod"/>
            </a:pPr>
            <a:endParaRPr lang="en" altLang="zh-TW" sz="1600" b="1" dirty="0">
              <a:latin typeface="DFYuanLight-B5" panose="020F0309000000000000" pitchFamily="49" charset="-120"/>
              <a:ea typeface="DFYuanLight-B5" panose="020F0309000000000000" pitchFamily="49" charset="-120"/>
            </a:endParaRPr>
          </a:p>
        </p:txBody>
      </p:sp>
    </p:spTree>
    <p:extLst>
      <p:ext uri="{BB962C8B-B14F-4D97-AF65-F5344CB8AC3E}">
        <p14:creationId xmlns:p14="http://schemas.microsoft.com/office/powerpoint/2010/main" val="3566323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5BABA-A241-8230-8AE1-536B1EC3F7DB}"/>
            </a:ext>
          </a:extLst>
        </p:cNvPr>
        <p:cNvGrpSpPr/>
        <p:nvPr/>
      </p:nvGrpSpPr>
      <p:grpSpPr>
        <a:xfrm>
          <a:off x="0" y="0"/>
          <a:ext cx="0" cy="0"/>
          <a:chOff x="0" y="0"/>
          <a:chExt cx="0" cy="0"/>
        </a:xfrm>
      </p:grpSpPr>
      <p:sp>
        <p:nvSpPr>
          <p:cNvPr id="8" name="圓角矩形 7">
            <a:extLst>
              <a:ext uri="{FF2B5EF4-FFF2-40B4-BE49-F238E27FC236}">
                <a16:creationId xmlns:a16="http://schemas.microsoft.com/office/drawing/2014/main" id="{7C302C25-98A6-1F70-577B-50C8D195880B}"/>
              </a:ext>
            </a:extLst>
          </p:cNvPr>
          <p:cNvSpPr/>
          <p:nvPr/>
        </p:nvSpPr>
        <p:spPr>
          <a:xfrm>
            <a:off x="0" y="5131868"/>
            <a:ext cx="1116000" cy="240632"/>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 name="圓角矩形 3">
            <a:extLst>
              <a:ext uri="{FF2B5EF4-FFF2-40B4-BE49-F238E27FC236}">
                <a16:creationId xmlns:a16="http://schemas.microsoft.com/office/drawing/2014/main" id="{8145CF7F-8B05-3525-20BD-42D36D95C14F}"/>
              </a:ext>
            </a:extLst>
          </p:cNvPr>
          <p:cNvSpPr/>
          <p:nvPr/>
        </p:nvSpPr>
        <p:spPr>
          <a:xfrm>
            <a:off x="0" y="2161939"/>
            <a:ext cx="1116000" cy="240632"/>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 name="圓角矩形 1">
            <a:extLst>
              <a:ext uri="{FF2B5EF4-FFF2-40B4-BE49-F238E27FC236}">
                <a16:creationId xmlns:a16="http://schemas.microsoft.com/office/drawing/2014/main" id="{271E632B-948A-9A37-180E-9EAE03035281}"/>
              </a:ext>
            </a:extLst>
          </p:cNvPr>
          <p:cNvSpPr/>
          <p:nvPr/>
        </p:nvSpPr>
        <p:spPr>
          <a:xfrm>
            <a:off x="1" y="320842"/>
            <a:ext cx="3930316" cy="240632"/>
          </a:xfrm>
          <a:prstGeom prst="roundRect">
            <a:avLst/>
          </a:prstGeom>
          <a:solidFill>
            <a:srgbClr val="FFF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 name="文字方塊 4">
            <a:extLst>
              <a:ext uri="{FF2B5EF4-FFF2-40B4-BE49-F238E27FC236}">
                <a16:creationId xmlns:a16="http://schemas.microsoft.com/office/drawing/2014/main" id="{C14CBD8B-CD9D-F253-3DE0-135FF0A4B984}"/>
              </a:ext>
            </a:extLst>
          </p:cNvPr>
          <p:cNvSpPr txBox="1"/>
          <p:nvPr/>
        </p:nvSpPr>
        <p:spPr>
          <a:xfrm>
            <a:off x="68179" y="64168"/>
            <a:ext cx="6721641" cy="8633133"/>
          </a:xfrm>
          <a:prstGeom prst="rect">
            <a:avLst/>
          </a:prstGeom>
          <a:noFill/>
        </p:spPr>
        <p:txBody>
          <a:bodyPr wrap="square">
            <a:spAutoFit/>
          </a:bodyPr>
          <a:lstStyle/>
          <a:p>
            <a:pPr>
              <a:lnSpc>
                <a:spcPts val="1800"/>
              </a:lnSpc>
            </a:pPr>
            <a:r>
              <a:rPr lang="en-US" altLang="zh-TW" sz="1600" b="1" dirty="0">
                <a:latin typeface="DFYuanBold-B5" panose="020F0709000000000000" pitchFamily="49" charset="-120"/>
                <a:ea typeface="DFYuanBold-B5" panose="020F0709000000000000" pitchFamily="49" charset="-120"/>
              </a:rPr>
              <a:t>[ Day2 ]</a:t>
            </a:r>
            <a:endParaRPr lang="zh-TW" altLang="en-US" sz="1600" b="1" dirty="0">
              <a:latin typeface="DFYuanBold-B5" panose="020F0709000000000000" pitchFamily="49" charset="-120"/>
              <a:ea typeface="DFYuanBold-B5" panose="020F0709000000000000" pitchFamily="49" charset="-120"/>
            </a:endParaRPr>
          </a:p>
          <a:p>
            <a:pPr marL="342900" indent="-342900">
              <a:lnSpc>
                <a:spcPts val="1800"/>
              </a:lnSpc>
              <a:buFont typeface="+mj-lt"/>
              <a:buAutoNum type="arabicPeriod" startAt="2"/>
            </a:pPr>
            <a:r>
              <a:rPr lang="zh-TW" altLang="en-US" sz="1600" b="1" dirty="0">
                <a:latin typeface="DFYuanLight-B5" panose="020F0309000000000000" pitchFamily="49" charset="-120"/>
                <a:ea typeface="DFYuanLight-B5" panose="020F0309000000000000" pitchFamily="49" charset="-120"/>
              </a:rPr>
              <a:t>牛車水 </a:t>
            </a:r>
            <a:r>
              <a:rPr lang="en-US" altLang="zh-TW" sz="1600" b="1" dirty="0">
                <a:latin typeface="DFYuanLight-B5" panose="020F0309000000000000" pitchFamily="49" charset="-120"/>
                <a:ea typeface="DFYuanLight-B5" panose="020F0309000000000000" pitchFamily="49" charset="-120"/>
              </a:rPr>
              <a:t>(</a:t>
            </a:r>
            <a:r>
              <a:rPr lang="en" altLang="zh-TW" sz="1600" b="1" dirty="0">
                <a:latin typeface="DFYuanLight-B5" panose="020F0309000000000000" pitchFamily="49" charset="-120"/>
                <a:ea typeface="DFYuanLight-B5" panose="020F0309000000000000" pitchFamily="49" charset="-120"/>
              </a:rPr>
              <a:t>Chinatown)</a:t>
            </a: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這裡展現了新加坡早期移民的生活縮影，以及如何在現代化大都市中</a:t>
            </a:r>
            <a:r>
              <a:rPr lang="en-US" altLang="zh-TW" sz="1600" dirty="0">
                <a:latin typeface="DFYuanLight-B5" panose="020F0309000000000000" pitchFamily="49" charset="-120"/>
                <a:ea typeface="DFYuanLight-B5" panose="020F0309000000000000" pitchFamily="49" charset="-120"/>
              </a:rPr>
              <a:t> </a:t>
            </a: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保留珍貴的文化遺產。</a:t>
            </a:r>
          </a:p>
          <a:p>
            <a:pPr marL="314325">
              <a:lnSpc>
                <a:spcPts val="1800"/>
              </a:lnSpc>
            </a:pPr>
            <a:r>
              <a:rPr lang="en-US" altLang="zh-TW" sz="1600" dirty="0"/>
              <a:t>【</a:t>
            </a:r>
            <a:r>
              <a:rPr lang="zh-TW" altLang="en-US" sz="1600" dirty="0">
                <a:latin typeface="DFYuanLight-B5" panose="020F0309000000000000" pitchFamily="49" charset="-120"/>
                <a:ea typeface="DFYuanLight-B5" panose="020F0309000000000000" pitchFamily="49" charset="-120"/>
              </a:rPr>
              <a:t>對應 </a:t>
            </a:r>
            <a:r>
              <a:rPr lang="en" altLang="zh-TW" sz="1600" dirty="0">
                <a:latin typeface="DFYuanLight-B5" panose="020F0309000000000000" pitchFamily="49" charset="-120"/>
                <a:ea typeface="DFYuanLight-B5" panose="020F0309000000000000" pitchFamily="49" charset="-120"/>
              </a:rPr>
              <a:t>SDGs </a:t>
            </a:r>
            <a:r>
              <a:rPr lang="zh-TW" altLang="en-US" sz="1600" dirty="0">
                <a:latin typeface="DFYuanLight-B5" panose="020F0309000000000000" pitchFamily="49" charset="-120"/>
                <a:ea typeface="DFYuanLight-B5" panose="020F0309000000000000" pitchFamily="49" charset="-120"/>
              </a:rPr>
              <a:t>目標</a:t>
            </a:r>
            <a:r>
              <a:rPr lang="en-US" altLang="zh-TW" sz="1600" dirty="0"/>
              <a:t>】</a:t>
            </a:r>
            <a:endParaRPr lang="zh-TW" altLang="en-US" sz="1600" dirty="0">
              <a:latin typeface="DFYuanLight-B5" panose="020F0309000000000000" pitchFamily="49" charset="-120"/>
              <a:ea typeface="DFYuanLight-B5" panose="020F0309000000000000" pitchFamily="49" charset="-120"/>
            </a:endParaRPr>
          </a:p>
          <a:p>
            <a:pPr marL="720725" indent="-274638">
              <a:lnSpc>
                <a:spcPts val="1800"/>
              </a:lnSpc>
              <a:buFont typeface="Arial" panose="020B0604020202020204" pitchFamily="34" charset="0"/>
              <a:buChar char="•"/>
            </a:pPr>
            <a:r>
              <a:rPr lang="en" altLang="zh-TW" sz="1600" dirty="0">
                <a:latin typeface="DFYuanLight-B5" panose="020F0309000000000000" pitchFamily="49" charset="-120"/>
                <a:ea typeface="DFYuanLight-B5" panose="020F0309000000000000" pitchFamily="49" charset="-120"/>
              </a:rPr>
              <a:t>SDG 11</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永續城市與社區（指標 </a:t>
            </a:r>
            <a:r>
              <a:rPr lang="en-US" altLang="zh-TW" sz="1600" dirty="0">
                <a:latin typeface="DFYuanLight-B5" panose="020F0309000000000000" pitchFamily="49" charset="-120"/>
                <a:ea typeface="DFYuanLight-B5" panose="020F0309000000000000" pitchFamily="49" charset="-120"/>
              </a:rPr>
              <a:t>11.4</a:t>
            </a:r>
            <a:r>
              <a:rPr lang="zh-TW" altLang="en-US" sz="1600" dirty="0">
                <a:latin typeface="DFYuanLight-B5" panose="020F0309000000000000" pitchFamily="49" charset="-120"/>
                <a:ea typeface="DFYuanLight-B5" panose="020F0309000000000000" pitchFamily="49" charset="-120"/>
              </a:rPr>
              <a:t>：保護全球文化與自然遺產）。</a:t>
            </a:r>
          </a:p>
          <a:p>
            <a:pPr marL="720725" indent="-274638">
              <a:lnSpc>
                <a:spcPts val="1800"/>
              </a:lnSpc>
              <a:buFont typeface="Arial" panose="020B0604020202020204" pitchFamily="34" charset="0"/>
              <a:buChar char="•"/>
            </a:pPr>
            <a:r>
              <a:rPr lang="en" altLang="zh-TW" sz="1600" dirty="0">
                <a:latin typeface="DFYuanLight-B5" panose="020F0309000000000000" pitchFamily="49" charset="-120"/>
                <a:ea typeface="DFYuanLight-B5" panose="020F0309000000000000" pitchFamily="49" charset="-120"/>
              </a:rPr>
              <a:t>SDG 10</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減少不平等（族群融合與文化多樣性的包容）。</a:t>
            </a:r>
          </a:p>
          <a:p>
            <a:pPr>
              <a:lnSpc>
                <a:spcPts val="1800"/>
              </a:lnSpc>
            </a:pPr>
            <a:r>
              <a:rPr lang="en"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機智問答時間</a:t>
            </a:r>
          </a:p>
          <a:p>
            <a:pPr>
              <a:lnSpc>
                <a:spcPts val="1800"/>
              </a:lnSpc>
            </a:pPr>
            <a:r>
              <a:rPr lang="zh-TW" altLang="en-US" sz="1600" b="1" dirty="0">
                <a:latin typeface="DFYuanLight-B5" panose="020F0309000000000000" pitchFamily="49" charset="-120"/>
                <a:ea typeface="DFYuanLight-B5" panose="020F0309000000000000" pitchFamily="49" charset="-120"/>
              </a:rPr>
              <a:t>Ｑ</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問題：</a:t>
            </a:r>
            <a:r>
              <a:rPr lang="en-US" altLang="zh-TW" sz="1600" b="1"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在牛車水，我們可以看到色彩繽紛的「店屋」</a:t>
            </a: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Shophouses) </a:t>
            </a:r>
          </a:p>
          <a:p>
            <a:pPr>
              <a:lnSpc>
                <a:spcPts val="1800"/>
              </a:lnSpc>
            </a:pPr>
            <a:r>
              <a:rPr lang="en"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被完好地保留下來，並改造成現代的餐廳或旅館。請問保留這</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些古老建築對於「永續城市」最大的意義是什麼？ </a:t>
            </a:r>
            <a:endParaRPr lang="en-US" altLang="zh-TW" sz="1600" dirty="0">
              <a:latin typeface="DFYuanLight-B5" panose="020F0309000000000000" pitchFamily="49" charset="-120"/>
              <a:ea typeface="DFYuanLight-B5" panose="020F0309000000000000" pitchFamily="49" charset="-120"/>
            </a:endParaRPr>
          </a:p>
          <a:p>
            <a:pPr marL="1563688" indent="-446088">
              <a:lnSpc>
                <a:spcPts val="1800"/>
              </a:lnSpc>
            </a:pPr>
            <a:r>
              <a:rPr lang="en-US" altLang="zh-TW" sz="1600" dirty="0">
                <a:latin typeface="DFYuanLight-B5" panose="020F0309000000000000" pitchFamily="49" charset="-120"/>
                <a:ea typeface="DFYuanLight-B5" panose="020F0309000000000000" pitchFamily="49" charset="-120"/>
              </a:rPr>
              <a:t>(A) </a:t>
            </a:r>
            <a:r>
              <a:rPr lang="zh-TW" altLang="en-US" sz="1600" dirty="0">
                <a:latin typeface="DFYuanLight-B5" panose="020F0309000000000000" pitchFamily="49" charset="-120"/>
                <a:ea typeface="DFYuanLight-B5" panose="020F0309000000000000" pitchFamily="49" charset="-120"/>
              </a:rPr>
              <a:t>因為拆掉它們需要花太多錢</a:t>
            </a:r>
          </a:p>
          <a:p>
            <a:pPr marL="1563688" indent="-446088">
              <a:lnSpc>
                <a:spcPts val="1800"/>
              </a:lnSpc>
            </a:pPr>
            <a:r>
              <a:rPr lang="en-US" altLang="zh-TW" sz="1600" dirty="0">
                <a:latin typeface="DFYuanLight-B5" panose="020F0309000000000000" pitchFamily="49" charset="-120"/>
                <a:ea typeface="DFYuanLight-B5" panose="020F0309000000000000" pitchFamily="49" charset="-120"/>
              </a:rPr>
              <a:t>(B) </a:t>
            </a:r>
            <a:r>
              <a:rPr lang="zh-TW" altLang="en-US" sz="1600" dirty="0">
                <a:latin typeface="DFYuanLight-B5" panose="020F0309000000000000" pitchFamily="49" charset="-120"/>
                <a:ea typeface="DFYuanLight-B5" panose="020F0309000000000000" pitchFamily="49" charset="-120"/>
              </a:rPr>
              <a:t>為了吸引更多觀光客來買紀念品</a:t>
            </a:r>
          </a:p>
          <a:p>
            <a:pPr marL="1563688" indent="-446088">
              <a:lnSpc>
                <a:spcPts val="1800"/>
              </a:lnSpc>
            </a:pPr>
            <a:r>
              <a:rPr lang="en-US" altLang="zh-TW" sz="1600" dirty="0">
                <a:latin typeface="DFYuanLight-B5" panose="020F0309000000000000" pitchFamily="49" charset="-120"/>
                <a:ea typeface="DFYuanLight-B5" panose="020F0309000000000000" pitchFamily="49" charset="-120"/>
              </a:rPr>
              <a:t>(C) </a:t>
            </a:r>
            <a:r>
              <a:rPr lang="zh-TW" altLang="en-US" sz="1600" dirty="0">
                <a:latin typeface="DFYuanLight-B5" panose="020F0309000000000000" pitchFamily="49" charset="-120"/>
                <a:ea typeface="DFYuanLight-B5" panose="020F0309000000000000" pitchFamily="49" charset="-120"/>
              </a:rPr>
              <a:t>保存城市的歷史記憶與文化認同，避免城市變得千篇一律</a:t>
            </a:r>
          </a:p>
          <a:p>
            <a:pPr marL="1563688" indent="-446088">
              <a:lnSpc>
                <a:spcPts val="1800"/>
              </a:lnSpc>
            </a:pPr>
            <a:r>
              <a:rPr lang="en-US" altLang="zh-TW" sz="1600" dirty="0">
                <a:latin typeface="DFYuanLight-B5" panose="020F0309000000000000" pitchFamily="49" charset="-120"/>
                <a:ea typeface="DFYuanLight-B5" panose="020F0309000000000000" pitchFamily="49" charset="-120"/>
              </a:rPr>
              <a:t>(D) </a:t>
            </a:r>
            <a:r>
              <a:rPr lang="zh-TW" altLang="en-US" sz="1600" dirty="0">
                <a:latin typeface="DFYuanLight-B5" panose="020F0309000000000000" pitchFamily="49" charset="-120"/>
                <a:ea typeface="DFYuanLight-B5" panose="020F0309000000000000" pitchFamily="49" charset="-120"/>
              </a:rPr>
              <a:t>因為新加坡法律規定老房子不能裝冷氣，可以省電</a:t>
            </a:r>
          </a:p>
          <a:p>
            <a:pPr>
              <a:lnSpc>
                <a:spcPts val="1800"/>
              </a:lnSpc>
            </a:pPr>
            <a:r>
              <a:rPr lang="zh-TW" altLang="en-US" sz="1600" b="1" dirty="0">
                <a:latin typeface="DFYuanLight-B5" panose="020F0309000000000000" pitchFamily="49" charset="-120"/>
                <a:ea typeface="DFYuanLight-B5" panose="020F0309000000000000" pitchFamily="49" charset="-120"/>
              </a:rPr>
              <a:t>Ａ</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答案：</a:t>
            </a:r>
            <a:r>
              <a:rPr lang="en-US" altLang="zh-TW" sz="1600" dirty="0">
                <a:highlight>
                  <a:srgbClr val="FFFF00"/>
                </a:highlight>
                <a:latin typeface="DFYuanLight-B5" panose="020F0309000000000000" pitchFamily="49" charset="-120"/>
                <a:ea typeface="DFYuanLight-B5" panose="020F0309000000000000" pitchFamily="49" charset="-120"/>
              </a:rPr>
              <a:t>(</a:t>
            </a:r>
            <a:r>
              <a:rPr lang="en" altLang="zh-TW" sz="1600" dirty="0">
                <a:highlight>
                  <a:srgbClr val="FFFF00"/>
                </a:highlight>
                <a:latin typeface="DFYuanLight-B5" panose="020F0309000000000000" pitchFamily="49" charset="-120"/>
                <a:ea typeface="DFYuanLight-B5" panose="020F0309000000000000" pitchFamily="49" charset="-120"/>
              </a:rPr>
              <a:t>C)</a:t>
            </a:r>
          </a:p>
          <a:p>
            <a:pPr marL="285750" indent="-285750">
              <a:lnSpc>
                <a:spcPts val="1800"/>
              </a:lnSpc>
              <a:buFont typeface="Wingdings" pitchFamily="2" charset="2"/>
              <a:buChar char="Ø"/>
            </a:pPr>
            <a:r>
              <a:rPr lang="zh-TW" altLang="en-US" sz="1600" b="1" dirty="0">
                <a:latin typeface="DFYuanLight-B5" panose="020F0309000000000000" pitchFamily="49" charset="-120"/>
                <a:ea typeface="DFYuanLight-B5" panose="020F0309000000000000" pitchFamily="49" charset="-120"/>
              </a:rPr>
              <a:t>解析： </a:t>
            </a:r>
            <a:r>
              <a:rPr lang="en" altLang="zh-TW" sz="1600" dirty="0">
                <a:latin typeface="DFYuanLight-B5" panose="020F0309000000000000" pitchFamily="49" charset="-120"/>
                <a:ea typeface="DFYuanLight-B5" panose="020F0309000000000000" pitchFamily="49" charset="-120"/>
              </a:rPr>
              <a:t>SDG 11 </a:t>
            </a:r>
            <a:r>
              <a:rPr lang="zh-TW" altLang="en-US" sz="1600" dirty="0">
                <a:latin typeface="DFYuanLight-B5" panose="020F0309000000000000" pitchFamily="49" charset="-120"/>
                <a:ea typeface="DFYuanLight-B5" panose="020F0309000000000000" pitchFamily="49" charset="-120"/>
              </a:rPr>
              <a:t>強調永續城市必須包含「文化保存」。牛車水的保育</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計劃讓現代的新加坡人仍能與祖先的歷史連結，這種「文化韌</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性」是社會永續發展的重要力量。</a:t>
            </a:r>
            <a:endParaRPr lang="en-US" altLang="zh-TW" sz="1600" dirty="0">
              <a:latin typeface="DFYuanLight-B5" panose="020F0309000000000000" pitchFamily="49" charset="-120"/>
              <a:ea typeface="DFYuanLight-B5" panose="020F0309000000000000" pitchFamily="49" charset="-120"/>
            </a:endParaRPr>
          </a:p>
          <a:p>
            <a:pPr>
              <a:lnSpc>
                <a:spcPts val="1800"/>
              </a:lnSpc>
            </a:pPr>
            <a:endParaRPr lang="en-US" altLang="zh-TW" sz="1600" b="1" dirty="0">
              <a:latin typeface="DFYuanLight-B5" panose="020F0309000000000000" pitchFamily="49" charset="-120"/>
              <a:ea typeface="DFYuanLight-B5" panose="020F0309000000000000" pitchFamily="49" charset="-120"/>
            </a:endParaRPr>
          </a:p>
          <a:p>
            <a:pPr>
              <a:lnSpc>
                <a:spcPts val="1800"/>
              </a:lnSpc>
            </a:pPr>
            <a:r>
              <a:rPr lang="zh-TW" altLang="en-US" sz="1600" b="1" dirty="0">
                <a:latin typeface="DFYuanLight-B5" panose="020F0309000000000000" pitchFamily="49" charset="-120"/>
                <a:ea typeface="DFYuanLight-B5" panose="020F0309000000000000" pitchFamily="49" charset="-120"/>
              </a:rPr>
              <a:t>Ｑ</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問題：</a:t>
            </a:r>
            <a:r>
              <a:rPr lang="zh-TW" altLang="en-US" sz="1600" dirty="0">
                <a:latin typeface="DFYuanLight-B5" panose="020F0309000000000000" pitchFamily="49" charset="-120"/>
                <a:ea typeface="DFYuanLight-B5" panose="020F0309000000000000" pitchFamily="49" charset="-120"/>
              </a:rPr>
              <a:t>「牛車水」這個名字聽起來很有趣，它的由來其實和聯合國永</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續目標中的 </a:t>
            </a:r>
            <a:r>
              <a:rPr lang="en" altLang="zh-TW" sz="1600" dirty="0">
                <a:latin typeface="DFYuanLight-B5" panose="020F0309000000000000" pitchFamily="49" charset="-120"/>
                <a:ea typeface="DFYuanLight-B5" panose="020F0309000000000000" pitchFamily="49" charset="-120"/>
              </a:rPr>
              <a:t>SDG 6</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清潔飲水與衛生） 有一段深刻的歷史淵</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源。請問早期這裡為什麼會被稱為「牛車水」？</a:t>
            </a:r>
          </a:p>
          <a:p>
            <a:pPr marL="1512888" indent="-395288">
              <a:lnSpc>
                <a:spcPts val="1800"/>
              </a:lnSpc>
              <a:tabLst>
                <a:tab pos="1106488" algn="l"/>
              </a:tabLst>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A) </a:t>
            </a:r>
            <a:r>
              <a:rPr lang="zh-TW" altLang="en-US" sz="1600" dirty="0">
                <a:latin typeface="DFYuanLight-B5" panose="020F0309000000000000" pitchFamily="49" charset="-120"/>
                <a:ea typeface="DFYuanLight-B5" panose="020F0309000000000000" pitchFamily="49" charset="-120"/>
              </a:rPr>
              <a:t>這裡以前是專門訓練牛隻游泳的水上樂園</a:t>
            </a:r>
          </a:p>
          <a:p>
            <a:pPr marL="1512888" indent="-395288">
              <a:lnSpc>
                <a:spcPts val="1800"/>
              </a:lnSpc>
              <a:tabLst>
                <a:tab pos="1106488" algn="l"/>
              </a:tabLst>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B) </a:t>
            </a:r>
            <a:r>
              <a:rPr lang="zh-TW" altLang="en-US" sz="1600" dirty="0">
                <a:latin typeface="DFYuanLight-B5" panose="020F0309000000000000" pitchFamily="49" charset="-120"/>
                <a:ea typeface="DFYuanLight-B5" panose="020F0309000000000000" pitchFamily="49" charset="-120"/>
              </a:rPr>
              <a:t>當地有一種用牛骨熬煮的特色湯品叫做「牛車水」</a:t>
            </a:r>
          </a:p>
          <a:p>
            <a:pPr marL="1512888" indent="-395288">
              <a:lnSpc>
                <a:spcPts val="1800"/>
              </a:lnSpc>
              <a:tabLst>
                <a:tab pos="1106488" algn="l"/>
              </a:tabLst>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C) </a:t>
            </a:r>
            <a:r>
              <a:rPr lang="zh-TW" altLang="en-US" sz="1600" dirty="0">
                <a:latin typeface="DFYuanLight-B5" panose="020F0309000000000000" pitchFamily="49" charset="-120"/>
                <a:ea typeface="DFYuanLight-B5" panose="020F0309000000000000" pitchFamily="49" charset="-120"/>
              </a:rPr>
              <a:t>因為早期這裡沒有自來水系統，居民必須每天用牛車從大老遠運送乾淨的淡水來使用</a:t>
            </a:r>
          </a:p>
          <a:p>
            <a:pPr marL="1512888" indent="-395288">
              <a:lnSpc>
                <a:spcPts val="1800"/>
              </a:lnSpc>
              <a:tabLst>
                <a:tab pos="1106488" algn="l"/>
              </a:tabLst>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D) </a:t>
            </a:r>
            <a:r>
              <a:rPr lang="zh-TW" altLang="en-US" sz="1600" dirty="0">
                <a:latin typeface="DFYuanLight-B5" panose="020F0309000000000000" pitchFamily="49" charset="-120"/>
                <a:ea typeface="DFYuanLight-B5" panose="020F0309000000000000" pitchFamily="49" charset="-120"/>
              </a:rPr>
              <a:t>為了紀念一隻在淹水時拯救了村莊的神牛</a:t>
            </a:r>
          </a:p>
          <a:p>
            <a:pPr>
              <a:lnSpc>
                <a:spcPts val="1800"/>
              </a:lnSpc>
            </a:pPr>
            <a:r>
              <a:rPr lang="zh-TW" altLang="en-US" sz="1600" b="1" dirty="0">
                <a:latin typeface="DFYuanLight-B5" panose="020F0309000000000000" pitchFamily="49" charset="-120"/>
                <a:ea typeface="DFYuanLight-B5" panose="020F0309000000000000" pitchFamily="49" charset="-120"/>
              </a:rPr>
              <a:t>Ａ</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答案：</a:t>
            </a:r>
            <a:r>
              <a:rPr lang="en-US" altLang="zh-TW" sz="1600" dirty="0">
                <a:highlight>
                  <a:srgbClr val="FFFF00"/>
                </a:highlight>
                <a:latin typeface="DFYuanLight-B5" panose="020F0309000000000000" pitchFamily="49" charset="-120"/>
                <a:ea typeface="DFYuanLight-B5" panose="020F0309000000000000" pitchFamily="49" charset="-120"/>
              </a:rPr>
              <a:t>(</a:t>
            </a:r>
            <a:r>
              <a:rPr lang="en" altLang="zh-TW" sz="1600" dirty="0">
                <a:highlight>
                  <a:srgbClr val="FFFF00"/>
                </a:highlight>
                <a:latin typeface="DFYuanLight-B5" panose="020F0309000000000000" pitchFamily="49" charset="-120"/>
                <a:ea typeface="DFYuanLight-B5" panose="020F0309000000000000" pitchFamily="49" charset="-120"/>
              </a:rPr>
              <a:t>C)</a:t>
            </a:r>
          </a:p>
          <a:p>
            <a:pPr marL="285750" indent="-285750">
              <a:lnSpc>
                <a:spcPts val="1800"/>
              </a:lnSpc>
              <a:buFont typeface="Wingdings" pitchFamily="2" charset="2"/>
              <a:buChar char="Ø"/>
            </a:pPr>
            <a:r>
              <a:rPr lang="zh-TW" altLang="en-US" sz="1600" b="1" dirty="0">
                <a:latin typeface="DFYuanLight-B5" panose="020F0309000000000000" pitchFamily="49" charset="-120"/>
                <a:ea typeface="DFYuanLight-B5" panose="020F0309000000000000" pitchFamily="49" charset="-120"/>
              </a:rPr>
              <a:t>解析： </a:t>
            </a:r>
            <a:r>
              <a:rPr lang="zh-TW" altLang="en-US" sz="1600" dirty="0">
                <a:latin typeface="DFYuanLight-B5" panose="020F0309000000000000" pitchFamily="49" charset="-120"/>
                <a:ea typeface="DFYuanLight-B5" panose="020F0309000000000000" pitchFamily="49" charset="-120"/>
              </a:rPr>
              <a:t>早期的新加坡缺乏完善的基礎設施和乾淨水源，當時的華人移</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民必須依靠牛車，每天到安祥山或遠處的井取水，因此得名。</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對比現在新加坡擁有世界頂尖的「新生水」淨水技術，這段歷</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史讓牛車水不僅是文化遺產，更是見證國家水資源進步的最佳</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活教材！</a:t>
            </a:r>
          </a:p>
        </p:txBody>
      </p:sp>
    </p:spTree>
    <p:extLst>
      <p:ext uri="{BB962C8B-B14F-4D97-AF65-F5344CB8AC3E}">
        <p14:creationId xmlns:p14="http://schemas.microsoft.com/office/powerpoint/2010/main" val="33614061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D8356-B7E1-AE06-1958-3B54CF2721C9}"/>
            </a:ext>
          </a:extLst>
        </p:cNvPr>
        <p:cNvGrpSpPr/>
        <p:nvPr/>
      </p:nvGrpSpPr>
      <p:grpSpPr>
        <a:xfrm>
          <a:off x="0" y="0"/>
          <a:ext cx="0" cy="0"/>
          <a:chOff x="0" y="0"/>
          <a:chExt cx="0" cy="0"/>
        </a:xfrm>
      </p:grpSpPr>
      <p:sp>
        <p:nvSpPr>
          <p:cNvPr id="3" name="圓角矩形 2">
            <a:extLst>
              <a:ext uri="{FF2B5EF4-FFF2-40B4-BE49-F238E27FC236}">
                <a16:creationId xmlns:a16="http://schemas.microsoft.com/office/drawing/2014/main" id="{66141B1A-D73E-0405-035D-69D26D6430C1}"/>
              </a:ext>
            </a:extLst>
          </p:cNvPr>
          <p:cNvSpPr/>
          <p:nvPr/>
        </p:nvSpPr>
        <p:spPr>
          <a:xfrm>
            <a:off x="0" y="4889099"/>
            <a:ext cx="5472000" cy="240632"/>
          </a:xfrm>
          <a:prstGeom prst="roundRect">
            <a:avLst/>
          </a:prstGeom>
          <a:solidFill>
            <a:srgbClr val="FFF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8" name="圓角矩形 7">
            <a:extLst>
              <a:ext uri="{FF2B5EF4-FFF2-40B4-BE49-F238E27FC236}">
                <a16:creationId xmlns:a16="http://schemas.microsoft.com/office/drawing/2014/main" id="{35B9EC2F-4295-2ED0-DA4F-A43FC7181E87}"/>
              </a:ext>
            </a:extLst>
          </p:cNvPr>
          <p:cNvSpPr/>
          <p:nvPr/>
        </p:nvSpPr>
        <p:spPr>
          <a:xfrm>
            <a:off x="0" y="6503468"/>
            <a:ext cx="1116000" cy="240632"/>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 name="圓角矩形 3">
            <a:extLst>
              <a:ext uri="{FF2B5EF4-FFF2-40B4-BE49-F238E27FC236}">
                <a16:creationId xmlns:a16="http://schemas.microsoft.com/office/drawing/2014/main" id="{8C3A287B-B447-E64C-126F-394B853B7806}"/>
              </a:ext>
            </a:extLst>
          </p:cNvPr>
          <p:cNvSpPr/>
          <p:nvPr/>
        </p:nvSpPr>
        <p:spPr>
          <a:xfrm>
            <a:off x="0" y="1704739"/>
            <a:ext cx="1116000" cy="240632"/>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 name="圓角矩形 1">
            <a:extLst>
              <a:ext uri="{FF2B5EF4-FFF2-40B4-BE49-F238E27FC236}">
                <a16:creationId xmlns:a16="http://schemas.microsoft.com/office/drawing/2014/main" id="{EF99FD16-8F16-BC7B-BA11-56B68936859C}"/>
              </a:ext>
            </a:extLst>
          </p:cNvPr>
          <p:cNvSpPr/>
          <p:nvPr/>
        </p:nvSpPr>
        <p:spPr>
          <a:xfrm>
            <a:off x="1" y="320842"/>
            <a:ext cx="3930316" cy="240632"/>
          </a:xfrm>
          <a:prstGeom prst="roundRect">
            <a:avLst/>
          </a:prstGeom>
          <a:solidFill>
            <a:srgbClr val="FFF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 name="文字方塊 4">
            <a:extLst>
              <a:ext uri="{FF2B5EF4-FFF2-40B4-BE49-F238E27FC236}">
                <a16:creationId xmlns:a16="http://schemas.microsoft.com/office/drawing/2014/main" id="{5DBCE760-55E6-3EB6-3263-36EEDA44BA05}"/>
              </a:ext>
            </a:extLst>
          </p:cNvPr>
          <p:cNvSpPr txBox="1"/>
          <p:nvPr/>
        </p:nvSpPr>
        <p:spPr>
          <a:xfrm>
            <a:off x="68179" y="64168"/>
            <a:ext cx="6721641" cy="9325630"/>
          </a:xfrm>
          <a:prstGeom prst="rect">
            <a:avLst/>
          </a:prstGeom>
          <a:noFill/>
        </p:spPr>
        <p:txBody>
          <a:bodyPr wrap="square">
            <a:spAutoFit/>
          </a:bodyPr>
          <a:lstStyle/>
          <a:p>
            <a:pPr>
              <a:lnSpc>
                <a:spcPts val="1800"/>
              </a:lnSpc>
            </a:pPr>
            <a:r>
              <a:rPr lang="en-US" altLang="zh-TW" sz="1600" b="1" dirty="0">
                <a:latin typeface="DFYuanBold-B5" panose="020F0709000000000000" pitchFamily="49" charset="-120"/>
                <a:ea typeface="DFYuanBold-B5" panose="020F0709000000000000" pitchFamily="49" charset="-120"/>
              </a:rPr>
              <a:t>[ Day2 ]</a:t>
            </a:r>
            <a:endParaRPr lang="zh-TW" altLang="en-US" sz="1600" b="1" dirty="0">
              <a:latin typeface="DFYuanBold-B5" panose="020F0709000000000000" pitchFamily="49" charset="-120"/>
              <a:ea typeface="DFYuanBold-B5" panose="020F0709000000000000" pitchFamily="49" charset="-120"/>
            </a:endParaRPr>
          </a:p>
          <a:p>
            <a:pPr marL="342900" indent="-342900">
              <a:lnSpc>
                <a:spcPts val="1800"/>
              </a:lnSpc>
              <a:buFont typeface="+mj-lt"/>
              <a:buAutoNum type="arabicPeriod" startAt="3"/>
            </a:pPr>
            <a:r>
              <a:rPr lang="zh-TW" altLang="en-US" sz="1600" b="1" dirty="0">
                <a:latin typeface="DFYuanLight-B5" panose="020F0309000000000000" pitchFamily="49" charset="-120"/>
                <a:ea typeface="DFYuanLight-B5" panose="020F0309000000000000" pitchFamily="49" charset="-120"/>
              </a:rPr>
              <a:t>夜間動物園 </a:t>
            </a:r>
            <a:r>
              <a:rPr lang="en-US" altLang="zh-TW" sz="1600" b="1" dirty="0">
                <a:latin typeface="DFYuanLight-B5" panose="020F0309000000000000" pitchFamily="49" charset="-120"/>
                <a:ea typeface="DFYuanLight-B5" panose="020F0309000000000000" pitchFamily="49" charset="-120"/>
              </a:rPr>
              <a:t>(</a:t>
            </a:r>
            <a:r>
              <a:rPr lang="en" altLang="zh-TW" sz="1600" b="1" dirty="0">
                <a:latin typeface="DFYuanLight-B5" panose="020F0309000000000000" pitchFamily="49" charset="-120"/>
                <a:ea typeface="DFYuanLight-B5" panose="020F0309000000000000" pitchFamily="49" charset="-120"/>
              </a:rPr>
              <a:t>Night Safari)</a:t>
            </a:r>
            <a:r>
              <a:rPr lang="en-US" altLang="zh-TW" sz="1600" dirty="0">
                <a:latin typeface="DFYuanLight-B5" panose="020F0309000000000000" pitchFamily="49" charset="-120"/>
                <a:ea typeface="DFYuanLight-B5" panose="020F0309000000000000" pitchFamily="49" charset="-120"/>
              </a:rPr>
              <a:t>   </a:t>
            </a:r>
          </a:p>
          <a:p>
            <a:pPr indent="314325">
              <a:lnSpc>
                <a:spcPts val="1800"/>
              </a:lnSpc>
            </a:pPr>
            <a:r>
              <a:rPr lang="zh-TW" altLang="en-US" sz="1600" dirty="0">
                <a:latin typeface="DFYuanLight-B5" panose="020F0309000000000000" pitchFamily="49" charset="-120"/>
                <a:ea typeface="DFYuanLight-B5" panose="020F0309000000000000" pitchFamily="49" charset="-120"/>
              </a:rPr>
              <a:t>全球首座為夜行性動物設計的野生動物園，重點在於保育與生命教育。</a:t>
            </a:r>
            <a:endParaRPr lang="en-US" altLang="zh-TW" sz="1600" dirty="0">
              <a:latin typeface="DFYuanLight-B5" panose="020F0309000000000000" pitchFamily="49" charset="-120"/>
              <a:ea typeface="DFYuanLight-B5" panose="020F0309000000000000" pitchFamily="49" charset="-120"/>
            </a:endParaRPr>
          </a:p>
          <a:p>
            <a:pPr indent="317500">
              <a:lnSpc>
                <a:spcPts val="1800"/>
              </a:lnSpc>
            </a:pPr>
            <a:r>
              <a:rPr lang="en-US" altLang="zh-TW" sz="1600" dirty="0"/>
              <a:t>【</a:t>
            </a:r>
            <a:r>
              <a:rPr lang="zh-TW" altLang="en-US" sz="1600" dirty="0">
                <a:latin typeface="DFYuanLight-B5" panose="020F0309000000000000" pitchFamily="49" charset="-120"/>
                <a:ea typeface="DFYuanLight-B5" panose="020F0309000000000000" pitchFamily="49" charset="-120"/>
              </a:rPr>
              <a:t>對應 </a:t>
            </a:r>
            <a:r>
              <a:rPr lang="en" altLang="zh-TW" sz="1600" dirty="0">
                <a:latin typeface="DFYuanLight-B5" panose="020F0309000000000000" pitchFamily="49" charset="-120"/>
                <a:ea typeface="DFYuanLight-B5" panose="020F0309000000000000" pitchFamily="49" charset="-120"/>
              </a:rPr>
              <a:t>SDGs </a:t>
            </a:r>
            <a:r>
              <a:rPr lang="zh-TW" altLang="en-US" sz="1600" dirty="0">
                <a:latin typeface="DFYuanLight-B5" panose="020F0309000000000000" pitchFamily="49" charset="-120"/>
                <a:ea typeface="DFYuanLight-B5" panose="020F0309000000000000" pitchFamily="49" charset="-120"/>
              </a:rPr>
              <a:t>目標</a:t>
            </a:r>
            <a:r>
              <a:rPr lang="en-US" altLang="zh-TW" sz="1600" dirty="0"/>
              <a:t>】</a:t>
            </a:r>
            <a:endParaRPr lang="zh-TW" altLang="en-US" sz="1600" dirty="0">
              <a:latin typeface="DFYuanLight-B5" panose="020F0309000000000000" pitchFamily="49" charset="-120"/>
              <a:ea typeface="DFYuanLight-B5" panose="020F0309000000000000" pitchFamily="49" charset="-120"/>
            </a:endParaRPr>
          </a:p>
          <a:p>
            <a:pPr marL="720725" indent="-274638">
              <a:lnSpc>
                <a:spcPts val="1800"/>
              </a:lnSpc>
              <a:buFont typeface="Arial" panose="020B0604020202020204" pitchFamily="34" charset="0"/>
              <a:buChar char="•"/>
            </a:pPr>
            <a:r>
              <a:rPr lang="en" altLang="zh-TW" sz="1600" dirty="0">
                <a:latin typeface="DFYuanLight-B5" panose="020F0309000000000000" pitchFamily="49" charset="-120"/>
                <a:ea typeface="DFYuanLight-B5" panose="020F0309000000000000" pitchFamily="49" charset="-120"/>
              </a:rPr>
              <a:t>SDG 15</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陸域生態（物種保育、棲息地維護）。</a:t>
            </a:r>
          </a:p>
          <a:p>
            <a:pPr marL="720725" indent="-274638">
              <a:lnSpc>
                <a:spcPts val="1800"/>
              </a:lnSpc>
              <a:buFont typeface="Arial" panose="020B0604020202020204" pitchFamily="34" charset="0"/>
              <a:buChar char="•"/>
            </a:pPr>
            <a:r>
              <a:rPr lang="en" altLang="zh-TW" sz="1600" dirty="0">
                <a:latin typeface="DFYuanLight-B5" panose="020F0309000000000000" pitchFamily="49" charset="-120"/>
                <a:ea typeface="DFYuanLight-B5" panose="020F0309000000000000" pitchFamily="49" charset="-120"/>
              </a:rPr>
              <a:t>SDG 12</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責任消費與生產（推廣環境保護意識的生態觀光）。</a:t>
            </a:r>
          </a:p>
          <a:p>
            <a:pPr>
              <a:lnSpc>
                <a:spcPts val="1800"/>
              </a:lnSpc>
            </a:pPr>
            <a:r>
              <a:rPr lang="en"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機智問答時間</a:t>
            </a:r>
          </a:p>
          <a:p>
            <a:pPr>
              <a:lnSpc>
                <a:spcPts val="1800"/>
              </a:lnSpc>
            </a:pPr>
            <a:r>
              <a:rPr lang="zh-TW" altLang="en-US" sz="1600" b="1" dirty="0">
                <a:latin typeface="DFYuanLight-B5" panose="020F0309000000000000" pitchFamily="49" charset="-120"/>
                <a:ea typeface="DFYuanLight-B5" panose="020F0309000000000000" pitchFamily="49" charset="-120"/>
              </a:rPr>
              <a:t>Ｑ</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問題：</a:t>
            </a:r>
            <a:r>
              <a:rPr lang="en-US" altLang="zh-TW" sz="1600" b="1"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夜間動物園不使用冰冷的鐵籠，而是用壕溝、溪流等自然屏障</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來隔開遊客與動物，且燈光模擬月光，非常昏暗。請問這樣設</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計的主要目的是什麼？ </a:t>
            </a:r>
            <a:endParaRPr lang="en-US" altLang="zh-TW" sz="1600" dirty="0">
              <a:latin typeface="DFYuanLight-B5" panose="020F0309000000000000" pitchFamily="49" charset="-120"/>
              <a:ea typeface="DFYuanLight-B5" panose="020F0309000000000000" pitchFamily="49" charset="-120"/>
            </a:endParaRPr>
          </a:p>
          <a:p>
            <a:pPr marL="1473200" indent="-355600">
              <a:lnSpc>
                <a:spcPts val="1800"/>
              </a:lnSpc>
            </a:pPr>
            <a:r>
              <a:rPr lang="en-US" altLang="zh-TW" sz="1600" dirty="0">
                <a:latin typeface="DFYuanLight-B5" panose="020F0309000000000000" pitchFamily="49" charset="-120"/>
                <a:ea typeface="DFYuanLight-B5" panose="020F0309000000000000" pitchFamily="49" charset="-120"/>
              </a:rPr>
              <a:t>(A) </a:t>
            </a:r>
            <a:r>
              <a:rPr lang="zh-TW" altLang="en-US" sz="1600" dirty="0">
                <a:latin typeface="DFYuanLight-B5" panose="020F0309000000000000" pitchFamily="49" charset="-120"/>
                <a:ea typeface="DFYuanLight-B5" panose="020F0309000000000000" pitchFamily="49" charset="-120"/>
              </a:rPr>
              <a:t>為了節省動物園的電費支出</a:t>
            </a:r>
          </a:p>
          <a:p>
            <a:pPr marL="1473200" indent="-355600">
              <a:lnSpc>
                <a:spcPts val="1800"/>
              </a:lnSpc>
            </a:pPr>
            <a:r>
              <a:rPr lang="en-US" altLang="zh-TW" sz="1600" dirty="0">
                <a:latin typeface="DFYuanLight-B5" panose="020F0309000000000000" pitchFamily="49" charset="-120"/>
                <a:ea typeface="DFYuanLight-B5" panose="020F0309000000000000" pitchFamily="49" charset="-120"/>
              </a:rPr>
              <a:t>(B) </a:t>
            </a:r>
            <a:r>
              <a:rPr lang="zh-TW" altLang="en-US" sz="1600" dirty="0">
                <a:latin typeface="DFYuanLight-B5" panose="020F0309000000000000" pitchFamily="49" charset="-120"/>
                <a:ea typeface="DFYuanLight-B5" panose="020F0309000000000000" pitchFamily="49" charset="-120"/>
              </a:rPr>
              <a:t>為了嚇唬遊客，增加刺激感</a:t>
            </a:r>
          </a:p>
          <a:p>
            <a:pPr marL="1473200" indent="-355600">
              <a:lnSpc>
                <a:spcPts val="1800"/>
              </a:lnSpc>
            </a:pPr>
            <a:r>
              <a:rPr lang="en-US" altLang="zh-TW" sz="1600" dirty="0">
                <a:latin typeface="DFYuanLight-B5" panose="020F0309000000000000" pitchFamily="49" charset="-120"/>
                <a:ea typeface="DFYuanLight-B5" panose="020F0309000000000000" pitchFamily="49" charset="-120"/>
              </a:rPr>
              <a:t>(C) </a:t>
            </a:r>
            <a:r>
              <a:rPr lang="zh-TW" altLang="en-US" sz="1600" dirty="0">
                <a:latin typeface="DFYuanLight-B5" panose="020F0309000000000000" pitchFamily="49" charset="-120"/>
                <a:ea typeface="DFYuanLight-B5" panose="020F0309000000000000" pitchFamily="49" charset="-120"/>
              </a:rPr>
              <a:t>尊重動物的自然本能與生活習性，降低人為干擾與動物</a:t>
            </a:r>
            <a:endParaRPr lang="en-US" altLang="zh-TW" sz="1600" dirty="0">
              <a:latin typeface="DFYuanLight-B5" panose="020F0309000000000000" pitchFamily="49" charset="-120"/>
              <a:ea typeface="DFYuanLight-B5" panose="020F0309000000000000" pitchFamily="49" charset="-120"/>
            </a:endParaRPr>
          </a:p>
          <a:p>
            <a:pPr marL="1473200" indent="-355600">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的壓力</a:t>
            </a:r>
          </a:p>
          <a:p>
            <a:pPr marL="1473200" indent="-355600">
              <a:lnSpc>
                <a:spcPts val="1800"/>
              </a:lnSpc>
            </a:pPr>
            <a:r>
              <a:rPr lang="en-US" altLang="zh-TW" sz="1600" dirty="0">
                <a:latin typeface="DFYuanLight-B5" panose="020F0309000000000000" pitchFamily="49" charset="-120"/>
                <a:ea typeface="DFYuanLight-B5" panose="020F0309000000000000" pitchFamily="49" charset="-120"/>
              </a:rPr>
              <a:t>(D) </a:t>
            </a:r>
            <a:r>
              <a:rPr lang="zh-TW" altLang="en-US" sz="1600" dirty="0">
                <a:latin typeface="DFYuanLight-B5" panose="020F0309000000000000" pitchFamily="49" charset="-120"/>
                <a:ea typeface="DFYuanLight-B5" panose="020F0309000000000000" pitchFamily="49" charset="-120"/>
              </a:rPr>
              <a:t>因為鐵籠在晚上會反光，拍照不好看</a:t>
            </a:r>
          </a:p>
          <a:p>
            <a:pPr>
              <a:lnSpc>
                <a:spcPts val="1800"/>
              </a:lnSpc>
            </a:pPr>
            <a:r>
              <a:rPr lang="zh-TW" altLang="en-US" sz="1600" b="1" dirty="0">
                <a:latin typeface="DFYuanLight-B5" panose="020F0309000000000000" pitchFamily="49" charset="-120"/>
                <a:ea typeface="DFYuanLight-B5" panose="020F0309000000000000" pitchFamily="49" charset="-120"/>
              </a:rPr>
              <a:t>Ａ</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答案：</a:t>
            </a:r>
            <a:r>
              <a:rPr lang="en-US" altLang="zh-TW" sz="1600" dirty="0">
                <a:highlight>
                  <a:srgbClr val="FFFF00"/>
                </a:highlight>
                <a:latin typeface="DFYuanLight-B5" panose="020F0309000000000000" pitchFamily="49" charset="-120"/>
                <a:ea typeface="DFYuanLight-B5" panose="020F0309000000000000" pitchFamily="49" charset="-120"/>
              </a:rPr>
              <a:t>(</a:t>
            </a:r>
            <a:r>
              <a:rPr lang="en" altLang="zh-TW" sz="1600" dirty="0">
                <a:highlight>
                  <a:srgbClr val="FFFF00"/>
                </a:highlight>
                <a:latin typeface="DFYuanLight-B5" panose="020F0309000000000000" pitchFamily="49" charset="-120"/>
                <a:ea typeface="DFYuanLight-B5" panose="020F0309000000000000" pitchFamily="49" charset="-120"/>
              </a:rPr>
              <a:t>C)</a:t>
            </a:r>
          </a:p>
          <a:p>
            <a:pPr marL="285750" indent="-285750">
              <a:lnSpc>
                <a:spcPts val="1800"/>
              </a:lnSpc>
              <a:buFont typeface="Wingdings" pitchFamily="2" charset="2"/>
              <a:buChar char="Ø"/>
            </a:pPr>
            <a:r>
              <a:rPr lang="zh-TW" altLang="en-US" sz="1600" b="1" dirty="0">
                <a:latin typeface="DFYuanLight-B5" panose="020F0309000000000000" pitchFamily="49" charset="-120"/>
                <a:ea typeface="DFYuanLight-B5" panose="020F0309000000000000" pitchFamily="49" charset="-120"/>
              </a:rPr>
              <a:t>解析：</a:t>
            </a:r>
            <a:r>
              <a:rPr lang="zh-TW" altLang="en-US" sz="1600" dirty="0">
                <a:latin typeface="DFYuanLight-B5" panose="020F0309000000000000" pitchFamily="49" charset="-120"/>
                <a:ea typeface="DFYuanLight-B5" panose="020F0309000000000000" pitchFamily="49" charset="-120"/>
              </a:rPr>
              <a:t>這正是 </a:t>
            </a:r>
            <a:r>
              <a:rPr lang="en" altLang="zh-TW" sz="1600" dirty="0">
                <a:latin typeface="DFYuanLight-B5" panose="020F0309000000000000" pitchFamily="49" charset="-120"/>
                <a:ea typeface="DFYuanLight-B5" panose="020F0309000000000000" pitchFamily="49" charset="-120"/>
              </a:rPr>
              <a:t>SDG 15 </a:t>
            </a:r>
            <a:r>
              <a:rPr lang="zh-TW" altLang="en-US" sz="1600" dirty="0">
                <a:latin typeface="DFYuanLight-B5" panose="020F0309000000000000" pitchFamily="49" charset="-120"/>
                <a:ea typeface="DFYuanLight-B5" panose="020F0309000000000000" pitchFamily="49" charset="-120"/>
              </a:rPr>
              <a:t>中提到的尊重與保護生物多樣性。透過「開放</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式設計」，動物能生活在接近自然的環境中，這不僅是保育，</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更是對生命的最高尊重。</a:t>
            </a:r>
            <a:endParaRPr lang="en-US" altLang="zh-TW" sz="1600" dirty="0">
              <a:latin typeface="DFYuanLight-B5" panose="020F0309000000000000" pitchFamily="49" charset="-120"/>
              <a:ea typeface="DFYuanLight-B5" panose="020F0309000000000000" pitchFamily="49" charset="-120"/>
            </a:endParaRPr>
          </a:p>
          <a:p>
            <a:pPr>
              <a:lnSpc>
                <a:spcPts val="1800"/>
              </a:lnSpc>
            </a:pPr>
            <a:endParaRPr lang="en-US" altLang="zh-TW" sz="1600" b="1" dirty="0">
              <a:latin typeface="DFYuanLight-B5" panose="020F0309000000000000" pitchFamily="49" charset="-120"/>
              <a:ea typeface="DFYuanLight-B5" panose="020F0309000000000000" pitchFamily="49" charset="-120"/>
            </a:endParaRPr>
          </a:p>
          <a:p>
            <a:pPr marL="342900" indent="-342900">
              <a:lnSpc>
                <a:spcPts val="1800"/>
              </a:lnSpc>
              <a:buFont typeface="+mj-lt"/>
              <a:buAutoNum type="arabicPeriod" startAt="4"/>
            </a:pPr>
            <a:r>
              <a:rPr lang="zh-TW" altLang="en-US" sz="1600" b="1" dirty="0">
                <a:latin typeface="DFYuanLight-B5" panose="020F0309000000000000" pitchFamily="49" charset="-120"/>
                <a:ea typeface="DFYuanLight-B5" panose="020F0309000000000000" pitchFamily="49" charset="-120"/>
              </a:rPr>
              <a:t>德明政府中學交流 </a:t>
            </a:r>
            <a:r>
              <a:rPr lang="en-US" altLang="zh-TW" sz="1600" b="1" dirty="0">
                <a:latin typeface="DFYuanLight-B5" panose="020F0309000000000000" pitchFamily="49" charset="-120"/>
                <a:ea typeface="DFYuanLight-B5" panose="020F0309000000000000" pitchFamily="49" charset="-120"/>
              </a:rPr>
              <a:t>(</a:t>
            </a:r>
            <a:r>
              <a:rPr lang="en" altLang="zh-TW" sz="1600" b="1" dirty="0">
                <a:latin typeface="DFYuanLight-B5" panose="020F0309000000000000" pitchFamily="49" charset="-120"/>
                <a:ea typeface="DFYuanLight-B5" panose="020F0309000000000000" pitchFamily="49" charset="-120"/>
              </a:rPr>
              <a:t>Dunman High School)⭐️</a:t>
            </a:r>
            <a:r>
              <a:rPr lang="en-US" altLang="zh-TW" sz="1600" dirty="0">
                <a:latin typeface="DFYuanLight-B5" panose="020F0309000000000000" pitchFamily="49" charset="-120"/>
                <a:ea typeface="DFYuanLight-B5" panose="020F0309000000000000" pitchFamily="49" charset="-120"/>
              </a:rPr>
              <a:t> ⭐️ ⭐️ ⭐️</a:t>
            </a:r>
            <a:endParaRPr lang="en" altLang="zh-TW" sz="1600" b="1" dirty="0">
              <a:latin typeface="DFYuanLight-B5" panose="020F0309000000000000" pitchFamily="49" charset="-120"/>
              <a:ea typeface="DFYuanLight-B5" panose="020F0309000000000000" pitchFamily="49" charset="-120"/>
            </a:endParaRPr>
          </a:p>
          <a:p>
            <a:pPr marL="314325">
              <a:lnSpc>
                <a:spcPts val="1800"/>
              </a:lnSpc>
            </a:pPr>
            <a:r>
              <a:rPr lang="zh-TW" altLang="en-US" sz="1600" dirty="0">
                <a:latin typeface="DFYuanLight-B5" panose="020F0309000000000000" pitchFamily="49" charset="-120"/>
                <a:ea typeface="DFYuanLight-B5" panose="020F0309000000000000" pitchFamily="49" charset="-120"/>
              </a:rPr>
              <a:t>透過學校交流，讓台灣與新加坡的學生建立連結，共同面對未來的全球挑戰。</a:t>
            </a:r>
            <a:endParaRPr lang="en-US" altLang="zh-TW" sz="1600" dirty="0">
              <a:latin typeface="DFYuanLight-B5" panose="020F0309000000000000" pitchFamily="49" charset="-120"/>
              <a:ea typeface="DFYuanLight-B5" panose="020F0309000000000000" pitchFamily="49" charset="-120"/>
            </a:endParaRPr>
          </a:p>
          <a:p>
            <a:pPr marL="314325">
              <a:lnSpc>
                <a:spcPts val="1800"/>
              </a:lnSpc>
            </a:pPr>
            <a:r>
              <a:rPr lang="en-US" altLang="zh-TW" sz="1600" dirty="0"/>
              <a:t>【</a:t>
            </a:r>
            <a:r>
              <a:rPr lang="zh-TW" altLang="en-US" sz="1600" dirty="0">
                <a:latin typeface="DFYuanLight-B5" panose="020F0309000000000000" pitchFamily="49" charset="-120"/>
                <a:ea typeface="DFYuanLight-B5" panose="020F0309000000000000" pitchFamily="49" charset="-120"/>
              </a:rPr>
              <a:t>對應 </a:t>
            </a:r>
            <a:r>
              <a:rPr lang="en" altLang="zh-TW" sz="1600" dirty="0">
                <a:latin typeface="DFYuanLight-B5" panose="020F0309000000000000" pitchFamily="49" charset="-120"/>
                <a:ea typeface="DFYuanLight-B5" panose="020F0309000000000000" pitchFamily="49" charset="-120"/>
              </a:rPr>
              <a:t>SDGs </a:t>
            </a:r>
            <a:r>
              <a:rPr lang="zh-TW" altLang="en-US" sz="1600" dirty="0">
                <a:latin typeface="DFYuanLight-B5" panose="020F0309000000000000" pitchFamily="49" charset="-120"/>
                <a:ea typeface="DFYuanLight-B5" panose="020F0309000000000000" pitchFamily="49" charset="-120"/>
              </a:rPr>
              <a:t>目標</a:t>
            </a:r>
            <a:r>
              <a:rPr lang="en-US" altLang="zh-TW" sz="1600" dirty="0"/>
              <a:t>】</a:t>
            </a:r>
            <a:endParaRPr lang="zh-TW" altLang="en-US" sz="1600" dirty="0">
              <a:latin typeface="DFYuanLight-B5" panose="020F0309000000000000" pitchFamily="49" charset="-120"/>
              <a:ea typeface="DFYuanLight-B5" panose="020F0309000000000000" pitchFamily="49" charset="-120"/>
            </a:endParaRPr>
          </a:p>
          <a:p>
            <a:pPr marL="720725" indent="-274638">
              <a:lnSpc>
                <a:spcPts val="1800"/>
              </a:lnSpc>
              <a:buFont typeface="Arial" panose="020B0604020202020204" pitchFamily="34" charset="0"/>
              <a:buChar char="•"/>
            </a:pPr>
            <a:r>
              <a:rPr lang="en" altLang="zh-TW" sz="1600" dirty="0">
                <a:latin typeface="DFYuanLight-B5" panose="020F0309000000000000" pitchFamily="49" charset="-120"/>
                <a:ea typeface="DFYuanLight-B5" panose="020F0309000000000000" pitchFamily="49" charset="-120"/>
              </a:rPr>
              <a:t>SDG 4</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優質教育（提升全球公民意識）。</a:t>
            </a:r>
          </a:p>
          <a:p>
            <a:pPr marL="720725" indent="-274638">
              <a:lnSpc>
                <a:spcPts val="1800"/>
              </a:lnSpc>
              <a:buFont typeface="Arial" panose="020B0604020202020204" pitchFamily="34" charset="0"/>
              <a:buChar char="•"/>
            </a:pPr>
            <a:r>
              <a:rPr lang="en" altLang="zh-TW" sz="1600" dirty="0">
                <a:latin typeface="DFYuanLight-B5" panose="020F0309000000000000" pitchFamily="49" charset="-120"/>
                <a:ea typeface="DFYuanLight-B5" panose="020F0309000000000000" pitchFamily="49" charset="-120"/>
              </a:rPr>
              <a:t>SDG 17</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夥伴關係（跨國教育合作與經驗交流）。</a:t>
            </a:r>
          </a:p>
          <a:p>
            <a:pPr>
              <a:lnSpc>
                <a:spcPts val="1800"/>
              </a:lnSpc>
            </a:pPr>
            <a:r>
              <a:rPr lang="en"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機智問答時間</a:t>
            </a:r>
          </a:p>
          <a:p>
            <a:pPr>
              <a:lnSpc>
                <a:spcPts val="1800"/>
              </a:lnSpc>
            </a:pPr>
            <a:r>
              <a:rPr lang="zh-TW" altLang="en-US" sz="1600" b="1" dirty="0">
                <a:latin typeface="DFYuanLight-B5" panose="020F0309000000000000" pitchFamily="49" charset="-120"/>
                <a:ea typeface="DFYuanLight-B5" panose="020F0309000000000000" pitchFamily="49" charset="-120"/>
              </a:rPr>
              <a:t>Ｑ</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問題： </a:t>
            </a:r>
            <a:r>
              <a:rPr lang="zh-TW" altLang="en-US" sz="1600" dirty="0">
                <a:latin typeface="DFYuanLight-B5" panose="020F0309000000000000" pitchFamily="49" charset="-120"/>
                <a:ea typeface="DFYuanLight-B5" panose="020F0309000000000000" pitchFamily="49" charset="-120"/>
              </a:rPr>
              <a:t>來到德明中學與新加坡同學交流，除了學習對方的英語能力</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外，最符合 </a:t>
            </a:r>
            <a:r>
              <a:rPr lang="en-US" altLang="zh-TW" sz="1600" dirty="0">
                <a:latin typeface="DFYuanLight-B5" panose="020F0309000000000000" pitchFamily="49" charset="-120"/>
                <a:ea typeface="DFYuanLight-B5" panose="020F0309000000000000" pitchFamily="49" charset="-120"/>
              </a:rPr>
              <a:t>SDG 17</a:t>
            </a:r>
            <a:r>
              <a:rPr lang="zh-TW" altLang="en-US" sz="1600" dirty="0">
                <a:latin typeface="DFYuanLight-B5" panose="020F0309000000000000" pitchFamily="49" charset="-120"/>
                <a:ea typeface="DFYuanLight-B5" panose="020F0309000000000000" pitchFamily="49" charset="-120"/>
              </a:rPr>
              <a:t>（夥伴關係） 的行為是什麼？</a:t>
            </a:r>
          </a:p>
          <a:p>
            <a:pPr marL="1512888" indent="-395288">
              <a:lnSpc>
                <a:spcPts val="1800"/>
              </a:lnSpc>
              <a:tabLst>
                <a:tab pos="1147763" algn="l"/>
              </a:tabLst>
            </a:pPr>
            <a:r>
              <a:rPr lang="en-US" altLang="zh-TW" sz="1600" dirty="0">
                <a:latin typeface="DFYuanLight-B5" panose="020F0309000000000000" pitchFamily="49" charset="-120"/>
                <a:ea typeface="DFYuanLight-B5" panose="020F0309000000000000" pitchFamily="49" charset="-120"/>
              </a:rPr>
              <a:t>(A) </a:t>
            </a:r>
            <a:r>
              <a:rPr lang="zh-TW" altLang="en-US" sz="1600" dirty="0">
                <a:latin typeface="DFYuanLight-B5" panose="020F0309000000000000" pitchFamily="49" charset="-120"/>
                <a:ea typeface="DFYuanLight-B5" panose="020F0309000000000000" pitchFamily="49" charset="-120"/>
              </a:rPr>
              <a:t>互相交換社群媒體帳號，回國後就再也不聯絡</a:t>
            </a:r>
          </a:p>
          <a:p>
            <a:pPr marL="1512888" indent="-395288">
              <a:lnSpc>
                <a:spcPts val="1800"/>
              </a:lnSpc>
              <a:tabLst>
                <a:tab pos="1147763" algn="l"/>
              </a:tabLst>
            </a:pPr>
            <a:r>
              <a:rPr lang="en-US" altLang="zh-TW" sz="1600" dirty="0">
                <a:latin typeface="DFYuanLight-B5" panose="020F0309000000000000" pitchFamily="49" charset="-120"/>
                <a:ea typeface="DFYuanLight-B5" panose="020F0309000000000000" pitchFamily="49" charset="-120"/>
              </a:rPr>
              <a:t>(B) </a:t>
            </a:r>
            <a:r>
              <a:rPr lang="zh-TW" altLang="en-US" sz="1600" dirty="0">
                <a:latin typeface="DFYuanLight-B5" panose="020F0309000000000000" pitchFamily="49" charset="-120"/>
                <a:ea typeface="DFYuanLight-B5" panose="020F0309000000000000" pitchFamily="49" charset="-120"/>
              </a:rPr>
              <a:t>共同討論雙方文化差異與全球性議題（如氣候變遷），攜手思考未來的解決方案</a:t>
            </a:r>
          </a:p>
          <a:p>
            <a:pPr marL="1512888" indent="-395288">
              <a:lnSpc>
                <a:spcPts val="1800"/>
              </a:lnSpc>
              <a:tabLst>
                <a:tab pos="1147763" algn="l"/>
              </a:tabLst>
            </a:pPr>
            <a:r>
              <a:rPr lang="en-US" altLang="zh-TW" sz="1600" dirty="0">
                <a:latin typeface="DFYuanLight-B5" panose="020F0309000000000000" pitchFamily="49" charset="-120"/>
                <a:ea typeface="DFYuanLight-B5" panose="020F0309000000000000" pitchFamily="49" charset="-120"/>
              </a:rPr>
              <a:t>(C) </a:t>
            </a:r>
            <a:r>
              <a:rPr lang="zh-TW" altLang="en-US" sz="1600" dirty="0">
                <a:latin typeface="DFYuanLight-B5" panose="020F0309000000000000" pitchFamily="49" charset="-120"/>
                <a:ea typeface="DFYuanLight-B5" panose="020F0309000000000000" pitchFamily="49" charset="-120"/>
              </a:rPr>
              <a:t>比較誰的學校午餐比較好吃</a:t>
            </a:r>
          </a:p>
          <a:p>
            <a:pPr marL="1512888" indent="-395288">
              <a:lnSpc>
                <a:spcPts val="1800"/>
              </a:lnSpc>
              <a:tabLst>
                <a:tab pos="1147763" algn="l"/>
              </a:tabLst>
            </a:pPr>
            <a:r>
              <a:rPr lang="en-US" altLang="zh-TW" sz="1600" dirty="0">
                <a:latin typeface="DFYuanLight-B5" panose="020F0309000000000000" pitchFamily="49" charset="-120"/>
                <a:ea typeface="DFYuanLight-B5" panose="020F0309000000000000" pitchFamily="49" charset="-120"/>
              </a:rPr>
              <a:t>(D) </a:t>
            </a:r>
            <a:r>
              <a:rPr lang="zh-TW" altLang="en-US" sz="1600" dirty="0">
                <a:latin typeface="DFYuanLight-B5" panose="020F0309000000000000" pitchFamily="49" charset="-120"/>
                <a:ea typeface="DFYuanLight-B5" panose="020F0309000000000000" pitchFamily="49" charset="-120"/>
              </a:rPr>
              <a:t>讓新加坡同學幫忙寫英文作業</a:t>
            </a:r>
          </a:p>
          <a:p>
            <a:pPr>
              <a:lnSpc>
                <a:spcPts val="1800"/>
              </a:lnSpc>
            </a:pPr>
            <a:r>
              <a:rPr lang="zh-TW" altLang="en-US" sz="1600" b="1" dirty="0">
                <a:latin typeface="DFYuanLight-B5" panose="020F0309000000000000" pitchFamily="49" charset="-120"/>
                <a:ea typeface="DFYuanLight-B5" panose="020F0309000000000000" pitchFamily="49" charset="-120"/>
              </a:rPr>
              <a:t>Ａ</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答案：</a:t>
            </a:r>
            <a:r>
              <a:rPr lang="en-US" altLang="zh-TW" sz="1600" dirty="0">
                <a:highlight>
                  <a:srgbClr val="FFFF00"/>
                </a:highlight>
                <a:latin typeface="DFYuanLight-B5" panose="020F0309000000000000" pitchFamily="49" charset="-120"/>
                <a:ea typeface="DFYuanLight-B5" panose="020F0309000000000000" pitchFamily="49" charset="-120"/>
              </a:rPr>
              <a:t>(B</a:t>
            </a:r>
            <a:r>
              <a:rPr lang="en" altLang="zh-TW" sz="1600" dirty="0">
                <a:highlight>
                  <a:srgbClr val="FFFF00"/>
                </a:highlight>
                <a:latin typeface="DFYuanLight-B5" panose="020F0309000000000000" pitchFamily="49" charset="-120"/>
                <a:ea typeface="DFYuanLight-B5" panose="020F0309000000000000" pitchFamily="49" charset="-120"/>
              </a:rPr>
              <a:t>)</a:t>
            </a:r>
          </a:p>
          <a:p>
            <a:pPr marL="285750" indent="-285750">
              <a:lnSpc>
                <a:spcPts val="1800"/>
              </a:lnSpc>
              <a:buFont typeface="Wingdings" pitchFamily="2" charset="2"/>
              <a:buChar char="Ø"/>
            </a:pPr>
            <a:r>
              <a:rPr lang="zh-TW" altLang="en-US" sz="1600" b="1" dirty="0">
                <a:latin typeface="DFYuanLight-B5" panose="020F0309000000000000" pitchFamily="49" charset="-120"/>
                <a:ea typeface="DFYuanLight-B5" panose="020F0309000000000000" pitchFamily="49" charset="-120"/>
              </a:rPr>
              <a:t>解析：</a:t>
            </a:r>
            <a:r>
              <a:rPr lang="en" altLang="zh-TW" sz="1600" b="1" dirty="0">
                <a:latin typeface="DFYuanLight-B5" panose="020F0309000000000000" pitchFamily="49" charset="-120"/>
                <a:ea typeface="DFYuanLight-B5" panose="020F0309000000000000" pitchFamily="49" charset="-120"/>
              </a:rPr>
              <a:t>SDG 17</a:t>
            </a:r>
            <a:r>
              <a:rPr lang="en"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強調要達成永續目標，需要全球性的合作。透過校際交</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流，學生能建立「世界公民」的視野，了解不同國家如何面對</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問題，並建立長遠的友誼與合作契機。</a:t>
            </a:r>
          </a:p>
        </p:txBody>
      </p:sp>
    </p:spTree>
    <p:extLst>
      <p:ext uri="{BB962C8B-B14F-4D97-AF65-F5344CB8AC3E}">
        <p14:creationId xmlns:p14="http://schemas.microsoft.com/office/powerpoint/2010/main" val="4195785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51AEE-FFCD-0EA6-62DF-7EB2E95936B5}"/>
            </a:ext>
          </a:extLst>
        </p:cNvPr>
        <p:cNvGrpSpPr/>
        <p:nvPr/>
      </p:nvGrpSpPr>
      <p:grpSpPr>
        <a:xfrm>
          <a:off x="0" y="0"/>
          <a:ext cx="0" cy="0"/>
          <a:chOff x="0" y="0"/>
          <a:chExt cx="0" cy="0"/>
        </a:xfrm>
      </p:grpSpPr>
      <p:sp>
        <p:nvSpPr>
          <p:cNvPr id="4" name="圓角矩形 3">
            <a:extLst>
              <a:ext uri="{FF2B5EF4-FFF2-40B4-BE49-F238E27FC236}">
                <a16:creationId xmlns:a16="http://schemas.microsoft.com/office/drawing/2014/main" id="{76C50113-F85F-326E-F4B4-5A68424A792D}"/>
              </a:ext>
            </a:extLst>
          </p:cNvPr>
          <p:cNvSpPr/>
          <p:nvPr/>
        </p:nvSpPr>
        <p:spPr>
          <a:xfrm>
            <a:off x="171651" y="355600"/>
            <a:ext cx="6514697" cy="568960"/>
          </a:xfrm>
          <a:prstGeom prst="roundRect">
            <a:avLst/>
          </a:prstGeom>
          <a:effectLst>
            <a:outerShdw blurRad="50800" dist="38100" dir="5400000" algn="t"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tlCol="0" anchor="ctr"/>
          <a:lstStyle/>
          <a:p>
            <a:pPr algn="ctr"/>
            <a:r>
              <a:rPr kumimoji="1" lang="zh-TW" altLang="en-US" sz="2400" dirty="0">
                <a:latin typeface="DFPYuanBold-B5" panose="020F0700000000000000" pitchFamily="34" charset="-120"/>
                <a:ea typeface="DFPYuanBold-B5" panose="020F0700000000000000" pitchFamily="34" charset="-120"/>
              </a:rPr>
              <a:t>第三天</a:t>
            </a:r>
            <a:r>
              <a:rPr kumimoji="1" lang="en-US" altLang="zh-TW" sz="2400" dirty="0">
                <a:latin typeface="DFPYuanBold-B5" panose="020F0700000000000000" pitchFamily="34" charset="-120"/>
                <a:ea typeface="DFPYuanBold-B5" panose="020F0700000000000000" pitchFamily="34" charset="-120"/>
              </a:rPr>
              <a:t>-</a:t>
            </a:r>
            <a:r>
              <a:rPr kumimoji="1" lang="zh-TW" altLang="en-US" sz="2400" dirty="0">
                <a:latin typeface="DFPYuanBold-B5" panose="020F0700000000000000" pitchFamily="34" charset="-120"/>
                <a:ea typeface="DFPYuanBold-B5" panose="020F0700000000000000" pitchFamily="34" charset="-120"/>
              </a:rPr>
              <a:t>景點</a:t>
            </a:r>
            <a:r>
              <a:rPr kumimoji="1" lang="en-US" altLang="zh-TW" sz="2400" dirty="0">
                <a:latin typeface="DFPYuanBold-B5" panose="020F0700000000000000" pitchFamily="34" charset="-120"/>
                <a:ea typeface="DFPYuanBold-B5" panose="020F0700000000000000" pitchFamily="34" charset="-120"/>
              </a:rPr>
              <a:t>SDGs</a:t>
            </a:r>
            <a:r>
              <a:rPr kumimoji="1" lang="zh-TW" altLang="en-US" sz="2400" dirty="0">
                <a:latin typeface="DFPYuanBold-B5" panose="020F0700000000000000" pitchFamily="34" charset="-120"/>
                <a:ea typeface="DFPYuanBold-B5" panose="020F0700000000000000" pitchFamily="34" charset="-120"/>
              </a:rPr>
              <a:t>介紹</a:t>
            </a:r>
          </a:p>
        </p:txBody>
      </p:sp>
      <p:pic>
        <p:nvPicPr>
          <p:cNvPr id="3" name="圖片 2">
            <a:extLst>
              <a:ext uri="{FF2B5EF4-FFF2-40B4-BE49-F238E27FC236}">
                <a16:creationId xmlns:a16="http://schemas.microsoft.com/office/drawing/2014/main" id="{97864FA4-47B2-59BB-2605-A925CE19B9E8}"/>
              </a:ext>
            </a:extLst>
          </p:cNvPr>
          <p:cNvPicPr>
            <a:picLocks noChangeAspect="1"/>
          </p:cNvPicPr>
          <p:nvPr/>
        </p:nvPicPr>
        <p:blipFill>
          <a:blip r:embed="rId2"/>
          <a:stretch>
            <a:fillRect/>
          </a:stretch>
        </p:blipFill>
        <p:spPr>
          <a:xfrm>
            <a:off x="284340" y="1091131"/>
            <a:ext cx="3031972" cy="4324149"/>
          </a:xfrm>
          <a:prstGeom prst="rect">
            <a:avLst/>
          </a:prstGeom>
        </p:spPr>
      </p:pic>
      <p:pic>
        <p:nvPicPr>
          <p:cNvPr id="7" name="圖片 6">
            <a:extLst>
              <a:ext uri="{FF2B5EF4-FFF2-40B4-BE49-F238E27FC236}">
                <a16:creationId xmlns:a16="http://schemas.microsoft.com/office/drawing/2014/main" id="{6CCDF805-B6E5-7587-02B2-B3CBFEF5A630}"/>
              </a:ext>
            </a:extLst>
          </p:cNvPr>
          <p:cNvPicPr>
            <a:picLocks noChangeAspect="1"/>
          </p:cNvPicPr>
          <p:nvPr/>
        </p:nvPicPr>
        <p:blipFill>
          <a:blip r:embed="rId3"/>
          <a:stretch>
            <a:fillRect/>
          </a:stretch>
        </p:blipFill>
        <p:spPr>
          <a:xfrm>
            <a:off x="3541688" y="1091131"/>
            <a:ext cx="3030269" cy="4321720"/>
          </a:xfrm>
          <a:prstGeom prst="rect">
            <a:avLst/>
          </a:prstGeom>
        </p:spPr>
      </p:pic>
    </p:spTree>
    <p:extLst>
      <p:ext uri="{BB962C8B-B14F-4D97-AF65-F5344CB8AC3E}">
        <p14:creationId xmlns:p14="http://schemas.microsoft.com/office/powerpoint/2010/main" val="20249928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653F6-7FCC-7EDA-7E12-68F38828D4EF}"/>
            </a:ext>
          </a:extLst>
        </p:cNvPr>
        <p:cNvGrpSpPr/>
        <p:nvPr/>
      </p:nvGrpSpPr>
      <p:grpSpPr>
        <a:xfrm>
          <a:off x="0" y="0"/>
          <a:ext cx="0" cy="0"/>
          <a:chOff x="0" y="0"/>
          <a:chExt cx="0" cy="0"/>
        </a:xfrm>
      </p:grpSpPr>
      <p:sp>
        <p:nvSpPr>
          <p:cNvPr id="8" name="圓角矩形 7">
            <a:extLst>
              <a:ext uri="{FF2B5EF4-FFF2-40B4-BE49-F238E27FC236}">
                <a16:creationId xmlns:a16="http://schemas.microsoft.com/office/drawing/2014/main" id="{EA18F9D4-FFC7-D51D-EF72-6300C82F4778}"/>
              </a:ext>
            </a:extLst>
          </p:cNvPr>
          <p:cNvSpPr/>
          <p:nvPr/>
        </p:nvSpPr>
        <p:spPr>
          <a:xfrm>
            <a:off x="0" y="4674668"/>
            <a:ext cx="1116000" cy="240632"/>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 name="圓角矩形 3">
            <a:extLst>
              <a:ext uri="{FF2B5EF4-FFF2-40B4-BE49-F238E27FC236}">
                <a16:creationId xmlns:a16="http://schemas.microsoft.com/office/drawing/2014/main" id="{9B77BE0B-D41C-6150-2AF5-D81DDF4AEDCA}"/>
              </a:ext>
            </a:extLst>
          </p:cNvPr>
          <p:cNvSpPr/>
          <p:nvPr/>
        </p:nvSpPr>
        <p:spPr>
          <a:xfrm>
            <a:off x="0" y="2176163"/>
            <a:ext cx="1116000" cy="240632"/>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 name="圓角矩形 1">
            <a:extLst>
              <a:ext uri="{FF2B5EF4-FFF2-40B4-BE49-F238E27FC236}">
                <a16:creationId xmlns:a16="http://schemas.microsoft.com/office/drawing/2014/main" id="{2DC037E2-C0AB-6C25-F2A9-11AAD93388A9}"/>
              </a:ext>
            </a:extLst>
          </p:cNvPr>
          <p:cNvSpPr/>
          <p:nvPr/>
        </p:nvSpPr>
        <p:spPr>
          <a:xfrm>
            <a:off x="1" y="339130"/>
            <a:ext cx="5724000" cy="240632"/>
          </a:xfrm>
          <a:prstGeom prst="roundRect">
            <a:avLst/>
          </a:prstGeom>
          <a:solidFill>
            <a:srgbClr val="FFF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 name="文字方塊 4">
            <a:extLst>
              <a:ext uri="{FF2B5EF4-FFF2-40B4-BE49-F238E27FC236}">
                <a16:creationId xmlns:a16="http://schemas.microsoft.com/office/drawing/2014/main" id="{86D7DAF7-09CE-A005-04E8-2ED3CB961196}"/>
              </a:ext>
            </a:extLst>
          </p:cNvPr>
          <p:cNvSpPr txBox="1"/>
          <p:nvPr/>
        </p:nvSpPr>
        <p:spPr>
          <a:xfrm>
            <a:off x="68179" y="64168"/>
            <a:ext cx="6721641" cy="7478970"/>
          </a:xfrm>
          <a:prstGeom prst="rect">
            <a:avLst/>
          </a:prstGeom>
          <a:noFill/>
        </p:spPr>
        <p:txBody>
          <a:bodyPr wrap="square">
            <a:spAutoFit/>
          </a:bodyPr>
          <a:lstStyle/>
          <a:p>
            <a:pPr>
              <a:lnSpc>
                <a:spcPts val="1800"/>
              </a:lnSpc>
            </a:pPr>
            <a:r>
              <a:rPr lang="en-US" altLang="zh-TW" sz="1600" b="1" dirty="0">
                <a:latin typeface="DFYuanBold-B5" panose="020F0709000000000000" pitchFamily="49" charset="-120"/>
                <a:ea typeface="DFYuanBold-B5" panose="020F0709000000000000" pitchFamily="49" charset="-120"/>
              </a:rPr>
              <a:t>[ Day3 ]</a:t>
            </a:r>
            <a:endParaRPr lang="zh-TW" altLang="en-US" sz="1600" b="1" dirty="0">
              <a:latin typeface="DFYuanBold-B5" panose="020F0709000000000000" pitchFamily="49" charset="-120"/>
              <a:ea typeface="DFYuanBold-B5" panose="020F0709000000000000" pitchFamily="49" charset="-120"/>
            </a:endParaRPr>
          </a:p>
          <a:p>
            <a:pPr marL="342900" indent="-342900">
              <a:lnSpc>
                <a:spcPts val="1800"/>
              </a:lnSpc>
              <a:buAutoNum type="arabicPeriod"/>
            </a:pPr>
            <a:r>
              <a:rPr lang="zh-TW" altLang="en-US" sz="1600" b="1" dirty="0">
                <a:latin typeface="DFYuanLight-B5" panose="020F0309000000000000" pitchFamily="49" charset="-120"/>
                <a:ea typeface="DFYuanLight-B5" panose="020F0309000000000000" pitchFamily="49" charset="-120"/>
              </a:rPr>
              <a:t>甘傍格南、阿拉伯街、彩繪哈之巷 </a:t>
            </a:r>
            <a:r>
              <a:rPr lang="en-US" altLang="zh-TW" sz="1600" b="1" dirty="0">
                <a:latin typeface="DFYuanLight-B5" panose="020F0309000000000000" pitchFamily="49" charset="-120"/>
                <a:ea typeface="DFYuanLight-B5" panose="020F0309000000000000" pitchFamily="49" charset="-120"/>
              </a:rPr>
              <a:t>(</a:t>
            </a:r>
            <a:r>
              <a:rPr lang="en" altLang="zh-TW" sz="1600" b="1" dirty="0">
                <a:latin typeface="DFYuanLight-B5" panose="020F0309000000000000" pitchFamily="49" charset="-120"/>
                <a:ea typeface="DFYuanLight-B5" panose="020F0309000000000000" pitchFamily="49" charset="-120"/>
              </a:rPr>
              <a:t>Kampong Glam Area)</a:t>
            </a:r>
            <a:r>
              <a:rPr lang="zh-TW" altLang="en-US" sz="1600" dirty="0">
                <a:latin typeface="DFYuanLight-B5" panose="020F0309000000000000" pitchFamily="49" charset="-120"/>
                <a:ea typeface="DFYuanLight-B5" panose="020F0309000000000000" pitchFamily="49" charset="-120"/>
              </a:rPr>
              <a:t>   </a:t>
            </a:r>
            <a:endParaRPr lang="en-US" altLang="zh-TW" sz="1600" dirty="0">
              <a:latin typeface="DFYuanLight-B5" panose="020F0309000000000000" pitchFamily="49" charset="-120"/>
              <a:ea typeface="DFYuanLight-B5" panose="020F0309000000000000" pitchFamily="49" charset="-120"/>
            </a:endParaRPr>
          </a:p>
          <a:p>
            <a:pPr marL="361950">
              <a:lnSpc>
                <a:spcPts val="1800"/>
              </a:lnSpc>
            </a:pPr>
            <a:r>
              <a:rPr lang="zh-TW" altLang="en-US" sz="1600" dirty="0">
                <a:latin typeface="DFYuanLight-B5" panose="020F0309000000000000" pitchFamily="49" charset="-120"/>
                <a:ea typeface="DFYuanLight-B5" panose="020F0309000000000000" pitchFamily="49" charset="-120"/>
              </a:rPr>
              <a:t>這裡是新加坡歷史最悠久的地區之一，展現了馬來與穆斯林文化的傳承，以及舊建築如何透過創意轉型。</a:t>
            </a:r>
            <a:endParaRPr lang="en-US" altLang="zh-TW" sz="1600" dirty="0">
              <a:latin typeface="DFYuanLight-B5" panose="020F0309000000000000" pitchFamily="49" charset="-120"/>
              <a:ea typeface="DFYuanLight-B5" panose="020F0309000000000000" pitchFamily="49" charset="-120"/>
            </a:endParaRPr>
          </a:p>
          <a:p>
            <a:pPr marL="317500">
              <a:lnSpc>
                <a:spcPts val="1800"/>
              </a:lnSpc>
            </a:pPr>
            <a:r>
              <a:rPr lang="en-US" altLang="zh-TW" sz="1600" dirty="0"/>
              <a:t>【</a:t>
            </a:r>
            <a:r>
              <a:rPr lang="zh-TW" altLang="en-US" sz="1600" dirty="0">
                <a:latin typeface="DFYuanLight-B5" panose="020F0309000000000000" pitchFamily="49" charset="-120"/>
                <a:ea typeface="DFYuanLight-B5" panose="020F0309000000000000" pitchFamily="49" charset="-120"/>
              </a:rPr>
              <a:t>對應 </a:t>
            </a:r>
            <a:r>
              <a:rPr lang="en" altLang="zh-TW" sz="1600" dirty="0">
                <a:latin typeface="DFYuanLight-B5" panose="020F0309000000000000" pitchFamily="49" charset="-120"/>
                <a:ea typeface="DFYuanLight-B5" panose="020F0309000000000000" pitchFamily="49" charset="-120"/>
              </a:rPr>
              <a:t>SDGs </a:t>
            </a:r>
            <a:r>
              <a:rPr lang="zh-TW" altLang="en-US" sz="1600" dirty="0">
                <a:latin typeface="DFYuanLight-B5" panose="020F0309000000000000" pitchFamily="49" charset="-120"/>
                <a:ea typeface="DFYuanLight-B5" panose="020F0309000000000000" pitchFamily="49" charset="-120"/>
              </a:rPr>
              <a:t>目標</a:t>
            </a:r>
            <a:r>
              <a:rPr lang="en-US" altLang="zh-TW" sz="1600" dirty="0"/>
              <a:t>】</a:t>
            </a:r>
            <a:endParaRPr lang="zh-TW" altLang="en-US" sz="1600" dirty="0">
              <a:latin typeface="DFYuanLight-B5" panose="020F0309000000000000" pitchFamily="49" charset="-120"/>
              <a:ea typeface="DFYuanLight-B5" panose="020F0309000000000000" pitchFamily="49" charset="-120"/>
            </a:endParaRPr>
          </a:p>
          <a:p>
            <a:pPr marL="720725" indent="-274638">
              <a:lnSpc>
                <a:spcPts val="1800"/>
              </a:lnSpc>
              <a:buFont typeface="Arial" panose="020B0604020202020204" pitchFamily="34" charset="0"/>
              <a:buChar char="•"/>
            </a:pPr>
            <a:r>
              <a:rPr lang="en" altLang="zh-TW" sz="1600" dirty="0">
                <a:latin typeface="DFYuanLight-B5" panose="020F0309000000000000" pitchFamily="49" charset="-120"/>
                <a:ea typeface="DFYuanLight-B5" panose="020F0309000000000000" pitchFamily="49" charset="-120"/>
              </a:rPr>
              <a:t>SDG 11</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永續城市與社區（保護全球文化與自然遺產）。</a:t>
            </a:r>
          </a:p>
          <a:p>
            <a:pPr marL="720725" indent="-274638">
              <a:lnSpc>
                <a:spcPts val="1800"/>
              </a:lnSpc>
              <a:buFont typeface="Arial" panose="020B0604020202020204" pitchFamily="34" charset="0"/>
              <a:buChar char="•"/>
            </a:pPr>
            <a:r>
              <a:rPr lang="en" altLang="zh-TW" sz="1600" dirty="0">
                <a:latin typeface="DFYuanLight-B5" panose="020F0309000000000000" pitchFamily="49" charset="-120"/>
                <a:ea typeface="DFYuanLight-B5" panose="020F0309000000000000" pitchFamily="49" charset="-120"/>
              </a:rPr>
              <a:t>SDG 8</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尊嚴就業與經濟成長（透過文創與精品手工藝促進地方發展）。</a:t>
            </a:r>
          </a:p>
          <a:p>
            <a:pPr>
              <a:lnSpc>
                <a:spcPts val="1800"/>
              </a:lnSpc>
            </a:pPr>
            <a:r>
              <a:rPr lang="en"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機智問答時間</a:t>
            </a:r>
          </a:p>
          <a:p>
            <a:pPr>
              <a:lnSpc>
                <a:spcPts val="1800"/>
              </a:lnSpc>
            </a:pPr>
            <a:r>
              <a:rPr lang="zh-TW" altLang="en-US" sz="1600" b="1" dirty="0">
                <a:latin typeface="DFYuanLight-B5" panose="020F0309000000000000" pitchFamily="49" charset="-120"/>
                <a:ea typeface="DFYuanLight-B5" panose="020F0309000000000000" pitchFamily="49" charset="-120"/>
              </a:rPr>
              <a:t>Ｑ</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問題： </a:t>
            </a:r>
            <a:r>
              <a:rPr lang="zh-TW" altLang="en-US" sz="1600" dirty="0">
                <a:latin typeface="DFYuanLight-B5" panose="020F0309000000000000" pitchFamily="49" charset="-120"/>
                <a:ea typeface="DFYuanLight-B5" panose="020F0309000000000000" pitchFamily="49" charset="-120"/>
              </a:rPr>
              <a:t>在甘傍格南的核心「蘇丹回教堂」，其金色圓頂下方有一圈由</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zh-TW" altLang="en-US" sz="1600" dirty="0">
                <a:latin typeface="DFYuanLight-B5" panose="020F0309000000000000" pitchFamily="49" charset="-120"/>
                <a:ea typeface="DFYuanLight-B5" panose="020F0309000000000000" pitchFamily="49" charset="-120"/>
              </a:rPr>
              <a:t>          「玻璃瓶底」組成的黑色裝飾，請問這些瓶底最初是誰捐贈的？   </a:t>
            </a:r>
            <a:endParaRPr lang="en-US" altLang="zh-TW" sz="1600" dirty="0">
              <a:latin typeface="DFYuanLight-B5" panose="020F0309000000000000" pitchFamily="49" charset="-120"/>
              <a:ea typeface="DFYuanLight-B5" panose="020F0309000000000000" pitchFamily="49" charset="-120"/>
            </a:endParaRPr>
          </a:p>
          <a:p>
            <a:pPr marL="1558925" indent="-398463">
              <a:lnSpc>
                <a:spcPts val="1800"/>
              </a:lnSpc>
            </a:pPr>
            <a:r>
              <a:rPr lang="en-US" altLang="zh-TW" sz="1600" dirty="0">
                <a:latin typeface="DFYuanLight-B5" panose="020F0309000000000000" pitchFamily="49" charset="-120"/>
                <a:ea typeface="DFYuanLight-B5" panose="020F0309000000000000" pitchFamily="49" charset="-120"/>
              </a:rPr>
              <a:t>(A) </a:t>
            </a:r>
            <a:r>
              <a:rPr lang="zh-TW" altLang="en-US" sz="1600" dirty="0">
                <a:latin typeface="DFYuanLight-B5" panose="020F0309000000000000" pitchFamily="49" charset="-120"/>
                <a:ea typeface="DFYuanLight-B5" panose="020F0309000000000000" pitchFamily="49" charset="-120"/>
              </a:rPr>
              <a:t>英國皇室</a:t>
            </a:r>
          </a:p>
          <a:p>
            <a:pPr marL="1558925" indent="-398463">
              <a:lnSpc>
                <a:spcPts val="1800"/>
              </a:lnSpc>
            </a:pPr>
            <a:r>
              <a:rPr lang="en-US" altLang="zh-TW" sz="1600" dirty="0">
                <a:latin typeface="DFYuanLight-B5" panose="020F0309000000000000" pitchFamily="49" charset="-120"/>
                <a:ea typeface="DFYuanLight-B5" panose="020F0309000000000000" pitchFamily="49" charset="-120"/>
              </a:rPr>
              <a:t>(B) </a:t>
            </a:r>
            <a:r>
              <a:rPr lang="zh-TW" altLang="en-US" sz="1600" dirty="0">
                <a:latin typeface="DFYuanLight-B5" panose="020F0309000000000000" pitchFamily="49" charset="-120"/>
                <a:ea typeface="DFYuanLight-B5" panose="020F0309000000000000" pitchFamily="49" charset="-120"/>
              </a:rPr>
              <a:t>當地的富商</a:t>
            </a:r>
          </a:p>
          <a:p>
            <a:pPr marL="1558925" indent="-398463">
              <a:lnSpc>
                <a:spcPts val="1800"/>
              </a:lnSpc>
            </a:pPr>
            <a:r>
              <a:rPr lang="en-US" altLang="zh-TW" sz="1600" dirty="0">
                <a:latin typeface="DFYuanLight-B5" panose="020F0309000000000000" pitchFamily="49" charset="-120"/>
                <a:ea typeface="DFYuanLight-B5" panose="020F0309000000000000" pitchFamily="49" charset="-120"/>
              </a:rPr>
              <a:t>(C) </a:t>
            </a:r>
            <a:r>
              <a:rPr lang="zh-TW" altLang="en-US" sz="1600" dirty="0">
                <a:latin typeface="DFYuanLight-B5" panose="020F0309000000000000" pitchFamily="49" charset="-120"/>
                <a:ea typeface="DFYuanLight-B5" panose="020F0309000000000000" pitchFamily="49" charset="-120"/>
              </a:rPr>
              <a:t>當時貧窮的信徒，為了表示每個人都能為信仰與社區盡一份心力</a:t>
            </a:r>
          </a:p>
          <a:p>
            <a:pPr marL="1558925" indent="-398463">
              <a:lnSpc>
                <a:spcPts val="1800"/>
              </a:lnSpc>
            </a:pPr>
            <a:r>
              <a:rPr lang="en-US" altLang="zh-TW" sz="1600" dirty="0">
                <a:latin typeface="DFYuanLight-B5" panose="020F0309000000000000" pitchFamily="49" charset="-120"/>
                <a:ea typeface="DFYuanLight-B5" panose="020F0309000000000000" pitchFamily="49" charset="-120"/>
              </a:rPr>
              <a:t>(D) </a:t>
            </a:r>
            <a:r>
              <a:rPr lang="zh-TW" altLang="en-US" sz="1600" dirty="0">
                <a:latin typeface="DFYuanLight-B5" panose="020F0309000000000000" pitchFamily="49" charset="-120"/>
                <a:ea typeface="DFYuanLight-B5" panose="020F0309000000000000" pitchFamily="49" charset="-120"/>
              </a:rPr>
              <a:t>荷蘭的玻璃工廠</a:t>
            </a:r>
          </a:p>
          <a:p>
            <a:pPr>
              <a:lnSpc>
                <a:spcPts val="1800"/>
              </a:lnSpc>
            </a:pPr>
            <a:r>
              <a:rPr lang="zh-TW" altLang="en-US" sz="1600" b="1" dirty="0">
                <a:latin typeface="DFYuanLight-B5" panose="020F0309000000000000" pitchFamily="49" charset="-120"/>
                <a:ea typeface="DFYuanLight-B5" panose="020F0309000000000000" pitchFamily="49" charset="-120"/>
              </a:rPr>
              <a:t>Ａ</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答案：</a:t>
            </a:r>
            <a:r>
              <a:rPr lang="en-US" altLang="zh-TW" sz="1600" dirty="0">
                <a:highlight>
                  <a:srgbClr val="FFFF00"/>
                </a:highlight>
                <a:latin typeface="DFYuanLight-B5" panose="020F0309000000000000" pitchFamily="49" charset="-120"/>
                <a:ea typeface="DFYuanLight-B5" panose="020F0309000000000000" pitchFamily="49" charset="-120"/>
              </a:rPr>
              <a:t>(</a:t>
            </a:r>
            <a:r>
              <a:rPr lang="en" altLang="zh-TW" sz="1600" dirty="0">
                <a:highlight>
                  <a:srgbClr val="FFFF00"/>
                </a:highlight>
                <a:latin typeface="DFYuanLight-B5" panose="020F0309000000000000" pitchFamily="49" charset="-120"/>
                <a:ea typeface="DFYuanLight-B5" panose="020F0309000000000000" pitchFamily="49" charset="-120"/>
              </a:rPr>
              <a:t>C)</a:t>
            </a:r>
          </a:p>
          <a:p>
            <a:pPr marL="285750" indent="-285750">
              <a:lnSpc>
                <a:spcPts val="1800"/>
              </a:lnSpc>
              <a:buFont typeface="Wingdings" pitchFamily="2" charset="2"/>
              <a:buChar char="Ø"/>
            </a:pPr>
            <a:r>
              <a:rPr lang="zh-TW" altLang="en-US" sz="1600" b="1" dirty="0">
                <a:latin typeface="DFYuanLight-B5" panose="020F0309000000000000" pitchFamily="49" charset="-120"/>
                <a:ea typeface="DFYuanLight-B5" panose="020F0309000000000000" pitchFamily="49" charset="-120"/>
              </a:rPr>
              <a:t>解析：</a:t>
            </a:r>
            <a:r>
              <a:rPr lang="zh-TW" altLang="en-US" sz="1600" dirty="0">
                <a:latin typeface="DFYuanLight-B5" panose="020F0309000000000000" pitchFamily="49" charset="-120"/>
                <a:ea typeface="DFYuanLight-B5" panose="020F0309000000000000" pitchFamily="49" charset="-120"/>
              </a:rPr>
              <a:t>這展現了 </a:t>
            </a:r>
            <a:r>
              <a:rPr lang="en" altLang="zh-TW" sz="1600" dirty="0">
                <a:latin typeface="DFYuanLight-B5" panose="020F0309000000000000" pitchFamily="49" charset="-120"/>
                <a:ea typeface="DFYuanLight-B5" panose="020F0309000000000000" pitchFamily="49" charset="-120"/>
              </a:rPr>
              <a:t>SDG 11 </a:t>
            </a:r>
            <a:r>
              <a:rPr lang="zh-TW" altLang="en-US" sz="1600" dirty="0">
                <a:latin typeface="DFYuanLight-B5" panose="020F0309000000000000" pitchFamily="49" charset="-120"/>
                <a:ea typeface="DFYuanLight-B5" panose="020F0309000000000000" pitchFamily="49" charset="-120"/>
              </a:rPr>
              <a:t>中強大的社區凝聚力與社會包容性。即便是</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zh-TW" altLang="en-US" sz="1600" dirty="0">
                <a:latin typeface="DFYuanLight-B5" panose="020F0309000000000000" pitchFamily="49" charset="-120"/>
                <a:ea typeface="DFYuanLight-B5" panose="020F0309000000000000" pitchFamily="49" charset="-120"/>
              </a:rPr>
              <a:t>         一文不值的瓶底，匯集起來也能成就輝煌的建築。</a:t>
            </a:r>
            <a:endParaRPr lang="en-US" altLang="zh-TW" sz="1600" dirty="0">
              <a:latin typeface="DFYuanLight-B5" panose="020F0309000000000000" pitchFamily="49" charset="-120"/>
              <a:ea typeface="DFYuanLight-B5" panose="020F0309000000000000" pitchFamily="49" charset="-120"/>
            </a:endParaRPr>
          </a:p>
          <a:p>
            <a:pPr>
              <a:lnSpc>
                <a:spcPts val="1800"/>
              </a:lnSpc>
            </a:pPr>
            <a:endParaRPr lang="en-US" altLang="zh-TW" sz="1600" dirty="0">
              <a:latin typeface="DFYuanLight-B5" panose="020F0309000000000000" pitchFamily="49" charset="-120"/>
              <a:ea typeface="DFYuanLight-B5" panose="020F0309000000000000" pitchFamily="49" charset="-120"/>
            </a:endParaRPr>
          </a:p>
          <a:p>
            <a:pPr>
              <a:lnSpc>
                <a:spcPts val="1800"/>
              </a:lnSpc>
            </a:pPr>
            <a:r>
              <a:rPr lang="zh-TW" altLang="en-US" sz="1600" b="1" dirty="0">
                <a:latin typeface="DFYuanLight-B5" panose="020F0309000000000000" pitchFamily="49" charset="-120"/>
                <a:ea typeface="DFYuanLight-B5" panose="020F0309000000000000" pitchFamily="49" charset="-120"/>
              </a:rPr>
              <a:t>Ｑ</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問題：</a:t>
            </a:r>
            <a:r>
              <a:rPr lang="en-US" altLang="zh-TW" sz="1600" b="1"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曾經是老舊排屋的「哈之巷」</a:t>
            </a: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Haji Lane)</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現在變成了世界</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知名的彩繪街與文創區。請問這種將老舊社區重新賦予新生命</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的作法，主要符合 </a:t>
            </a:r>
            <a:r>
              <a:rPr lang="en" altLang="zh-TW" sz="1600" dirty="0">
                <a:latin typeface="DFYuanLight-B5" panose="020F0309000000000000" pitchFamily="49" charset="-120"/>
                <a:ea typeface="DFYuanLight-B5" panose="020F0309000000000000" pitchFamily="49" charset="-120"/>
              </a:rPr>
              <a:t>SDGs </a:t>
            </a:r>
            <a:r>
              <a:rPr lang="zh-TW" altLang="en-US" sz="1600" dirty="0">
                <a:latin typeface="DFYuanLight-B5" panose="020F0309000000000000" pitchFamily="49" charset="-120"/>
                <a:ea typeface="DFYuanLight-B5" panose="020F0309000000000000" pitchFamily="49" charset="-120"/>
              </a:rPr>
              <a:t>的哪項精神？</a:t>
            </a:r>
            <a:r>
              <a:rPr lang="zh-TW" altLang="en-US" sz="1600" b="1" dirty="0">
                <a:latin typeface="DFYuanLight-B5" panose="020F0309000000000000" pitchFamily="49" charset="-120"/>
                <a:ea typeface="DFYuanLight-B5" panose="020F0309000000000000" pitchFamily="49" charset="-120"/>
              </a:rPr>
              <a:t> </a:t>
            </a:r>
            <a:endParaRPr lang="en-US" altLang="zh-TW" sz="1600" b="1" dirty="0">
              <a:latin typeface="DFYuanLight-B5" panose="020F0309000000000000" pitchFamily="49" charset="-120"/>
              <a:ea typeface="DFYuanLight-B5" panose="020F0309000000000000" pitchFamily="49" charset="-120"/>
            </a:endParaRPr>
          </a:p>
          <a:p>
            <a:pPr marL="1514475" indent="-400050">
              <a:lnSpc>
                <a:spcPts val="1800"/>
              </a:lnSpc>
            </a:pPr>
            <a:r>
              <a:rPr lang="en-US" altLang="zh-TW" sz="1600" dirty="0">
                <a:latin typeface="DFYuanLight-B5" panose="020F0309000000000000" pitchFamily="49" charset="-120"/>
                <a:ea typeface="DFYuanLight-B5" panose="020F0309000000000000" pitchFamily="49" charset="-120"/>
              </a:rPr>
              <a:t>(A) </a:t>
            </a:r>
            <a:r>
              <a:rPr lang="zh-TW" altLang="en-US" sz="1600" dirty="0">
                <a:latin typeface="DFYuanLight-B5" panose="020F0309000000000000" pitchFamily="49" charset="-120"/>
                <a:ea typeface="DFYuanLight-B5" panose="020F0309000000000000" pitchFamily="49" charset="-120"/>
              </a:rPr>
              <a:t>全部打掉重蓋</a:t>
            </a:r>
          </a:p>
          <a:p>
            <a:pPr marL="1514475" indent="-400050">
              <a:lnSpc>
                <a:spcPts val="1800"/>
              </a:lnSpc>
            </a:pPr>
            <a:r>
              <a:rPr lang="en-US" altLang="zh-TW" sz="1600" dirty="0">
                <a:latin typeface="DFYuanLight-B5" panose="020F0309000000000000" pitchFamily="49" charset="-120"/>
                <a:ea typeface="DFYuanLight-B5" panose="020F0309000000000000" pitchFamily="49" charset="-120"/>
              </a:rPr>
              <a:t>(B) </a:t>
            </a:r>
            <a:r>
              <a:rPr lang="zh-TW" altLang="en-US" sz="1600" dirty="0">
                <a:latin typeface="DFYuanLight-B5" panose="020F0309000000000000" pitchFamily="49" charset="-120"/>
                <a:ea typeface="DFYuanLight-B5" panose="020F0309000000000000" pitchFamily="49" charset="-120"/>
              </a:rPr>
              <a:t>文化遺產的保存與創新再利用 </a:t>
            </a:r>
            <a:r>
              <a:rPr lang="en-US" altLang="zh-TW" sz="1600" dirty="0">
                <a:latin typeface="DFYuanLight-B5" panose="020F0309000000000000" pitchFamily="49" charset="-120"/>
                <a:ea typeface="DFYuanLight-B5" panose="020F0309000000000000" pitchFamily="49" charset="-120"/>
              </a:rPr>
              <a:t>(Urban Revitalization)</a:t>
            </a:r>
          </a:p>
          <a:p>
            <a:pPr marL="1514475" indent="-400050">
              <a:lnSpc>
                <a:spcPts val="1800"/>
              </a:lnSpc>
            </a:pPr>
            <a:r>
              <a:rPr lang="en-US" altLang="zh-TW" sz="1600" dirty="0">
                <a:latin typeface="DFYuanLight-B5" panose="020F0309000000000000" pitchFamily="49" charset="-120"/>
                <a:ea typeface="DFYuanLight-B5" panose="020F0309000000000000" pitchFamily="49" charset="-120"/>
              </a:rPr>
              <a:t>(C) </a:t>
            </a:r>
            <a:r>
              <a:rPr lang="zh-TW" altLang="en-US" sz="1600" dirty="0">
                <a:latin typeface="DFYuanLight-B5" panose="020F0309000000000000" pitchFamily="49" charset="-120"/>
                <a:ea typeface="DFYuanLight-B5" panose="020F0309000000000000" pitchFamily="49" charset="-120"/>
              </a:rPr>
              <a:t>為了讓遊客多買一些紀念品</a:t>
            </a:r>
          </a:p>
          <a:p>
            <a:pPr marL="1514475" indent="-400050">
              <a:lnSpc>
                <a:spcPts val="1800"/>
              </a:lnSpc>
            </a:pPr>
            <a:r>
              <a:rPr lang="en-US" altLang="zh-TW" sz="1600" dirty="0">
                <a:latin typeface="DFYuanLight-B5" panose="020F0309000000000000" pitchFamily="49" charset="-120"/>
                <a:ea typeface="DFYuanLight-B5" panose="020F0309000000000000" pitchFamily="49" charset="-120"/>
              </a:rPr>
              <a:t>(D) </a:t>
            </a:r>
            <a:r>
              <a:rPr lang="zh-TW" altLang="en-US" sz="1600" dirty="0">
                <a:latin typeface="DFYuanLight-B5" panose="020F0309000000000000" pitchFamily="49" charset="-120"/>
                <a:ea typeface="DFYuanLight-B5" panose="020F0309000000000000" pitchFamily="49" charset="-120"/>
              </a:rPr>
              <a:t>增加街道的照明度</a:t>
            </a:r>
          </a:p>
          <a:p>
            <a:pPr>
              <a:lnSpc>
                <a:spcPts val="1800"/>
              </a:lnSpc>
            </a:pPr>
            <a:r>
              <a:rPr lang="zh-TW" altLang="en-US" sz="1600" b="1" dirty="0">
                <a:latin typeface="DFYuanLight-B5" panose="020F0309000000000000" pitchFamily="49" charset="-120"/>
                <a:ea typeface="DFYuanLight-B5" panose="020F0309000000000000" pitchFamily="49" charset="-120"/>
              </a:rPr>
              <a:t>Ａ</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答案：</a:t>
            </a:r>
            <a:r>
              <a:rPr lang="en-US" altLang="zh-TW" sz="1600" dirty="0">
                <a:highlight>
                  <a:srgbClr val="FFFF00"/>
                </a:highlight>
                <a:latin typeface="DFYuanLight-B5" panose="020F0309000000000000" pitchFamily="49" charset="-120"/>
                <a:ea typeface="DFYuanLight-B5" panose="020F0309000000000000" pitchFamily="49" charset="-120"/>
              </a:rPr>
              <a:t>(B</a:t>
            </a:r>
            <a:r>
              <a:rPr lang="en" altLang="zh-TW" sz="1600" dirty="0">
                <a:highlight>
                  <a:srgbClr val="FFFF00"/>
                </a:highlight>
                <a:latin typeface="DFYuanLight-B5" panose="020F0309000000000000" pitchFamily="49" charset="-120"/>
                <a:ea typeface="DFYuanLight-B5" panose="020F0309000000000000" pitchFamily="49" charset="-120"/>
              </a:rPr>
              <a:t>)</a:t>
            </a:r>
          </a:p>
          <a:p>
            <a:pPr marL="285750" indent="-285750">
              <a:lnSpc>
                <a:spcPts val="1800"/>
              </a:lnSpc>
              <a:buFont typeface="Wingdings" pitchFamily="2" charset="2"/>
              <a:buChar char="Ø"/>
            </a:pPr>
            <a:r>
              <a:rPr lang="zh-TW" altLang="en-US" sz="1600" b="1" dirty="0">
                <a:latin typeface="DFYuanLight-B5" panose="020F0309000000000000" pitchFamily="49" charset="-120"/>
                <a:ea typeface="DFYuanLight-B5" panose="020F0309000000000000" pitchFamily="49" charset="-120"/>
              </a:rPr>
              <a:t>解析：</a:t>
            </a:r>
            <a:r>
              <a:rPr lang="zh-TW" altLang="en-US" sz="1600" dirty="0">
                <a:latin typeface="DFYuanLight-B5" panose="020F0309000000000000" pitchFamily="49" charset="-120"/>
                <a:ea typeface="DFYuanLight-B5" panose="020F0309000000000000" pitchFamily="49" charset="-120"/>
              </a:rPr>
              <a:t>透過彩繪與文創入駐，哈之巷在保留歷史結構的同時也帶動了</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地方經濟，是城市永續發展的最佳案例。</a:t>
            </a:r>
          </a:p>
          <a:p>
            <a:pPr marL="342900" indent="-342900">
              <a:lnSpc>
                <a:spcPts val="1800"/>
              </a:lnSpc>
              <a:buAutoNum type="arabicPeriod"/>
            </a:pPr>
            <a:endParaRPr lang="en" altLang="zh-TW" sz="1600" b="1" dirty="0">
              <a:latin typeface="DFYuanLight-B5" panose="020F0309000000000000" pitchFamily="49" charset="-120"/>
              <a:ea typeface="DFYuanLight-B5" panose="020F0309000000000000" pitchFamily="49" charset="-120"/>
            </a:endParaRPr>
          </a:p>
        </p:txBody>
      </p:sp>
    </p:spTree>
    <p:extLst>
      <p:ext uri="{BB962C8B-B14F-4D97-AF65-F5344CB8AC3E}">
        <p14:creationId xmlns:p14="http://schemas.microsoft.com/office/powerpoint/2010/main" val="1704002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EDD99-D742-DDCA-F1FE-D66B93C2073F}"/>
            </a:ext>
          </a:extLst>
        </p:cNvPr>
        <p:cNvGrpSpPr/>
        <p:nvPr/>
      </p:nvGrpSpPr>
      <p:grpSpPr>
        <a:xfrm>
          <a:off x="0" y="0"/>
          <a:ext cx="0" cy="0"/>
          <a:chOff x="0" y="0"/>
          <a:chExt cx="0" cy="0"/>
        </a:xfrm>
      </p:grpSpPr>
      <p:sp>
        <p:nvSpPr>
          <p:cNvPr id="8" name="圓角矩形 7">
            <a:extLst>
              <a:ext uri="{FF2B5EF4-FFF2-40B4-BE49-F238E27FC236}">
                <a16:creationId xmlns:a16="http://schemas.microsoft.com/office/drawing/2014/main" id="{C312E8E4-349D-9F2A-F623-00682C85B1D0}"/>
              </a:ext>
            </a:extLst>
          </p:cNvPr>
          <p:cNvSpPr/>
          <p:nvPr/>
        </p:nvSpPr>
        <p:spPr>
          <a:xfrm>
            <a:off x="0" y="4683812"/>
            <a:ext cx="1116000" cy="240632"/>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 name="圓角矩形 3">
            <a:extLst>
              <a:ext uri="{FF2B5EF4-FFF2-40B4-BE49-F238E27FC236}">
                <a16:creationId xmlns:a16="http://schemas.microsoft.com/office/drawing/2014/main" id="{8489E930-D08C-2476-1681-34C7D07473AE}"/>
              </a:ext>
            </a:extLst>
          </p:cNvPr>
          <p:cNvSpPr/>
          <p:nvPr/>
        </p:nvSpPr>
        <p:spPr>
          <a:xfrm>
            <a:off x="0" y="1709819"/>
            <a:ext cx="1116000" cy="240632"/>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 name="圓角矩形 1">
            <a:extLst>
              <a:ext uri="{FF2B5EF4-FFF2-40B4-BE49-F238E27FC236}">
                <a16:creationId xmlns:a16="http://schemas.microsoft.com/office/drawing/2014/main" id="{EB7DF7BF-7936-9357-FEFD-A606BFA7E3B5}"/>
              </a:ext>
            </a:extLst>
          </p:cNvPr>
          <p:cNvSpPr/>
          <p:nvPr/>
        </p:nvSpPr>
        <p:spPr>
          <a:xfrm>
            <a:off x="1" y="339130"/>
            <a:ext cx="6480000" cy="240632"/>
          </a:xfrm>
          <a:prstGeom prst="roundRect">
            <a:avLst/>
          </a:prstGeom>
          <a:solidFill>
            <a:srgbClr val="FFF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 name="文字方塊 4">
            <a:extLst>
              <a:ext uri="{FF2B5EF4-FFF2-40B4-BE49-F238E27FC236}">
                <a16:creationId xmlns:a16="http://schemas.microsoft.com/office/drawing/2014/main" id="{F8B43C34-FA0F-2A50-0A27-4AD4943157B3}"/>
              </a:ext>
            </a:extLst>
          </p:cNvPr>
          <p:cNvSpPr txBox="1"/>
          <p:nvPr/>
        </p:nvSpPr>
        <p:spPr>
          <a:xfrm>
            <a:off x="68179" y="64168"/>
            <a:ext cx="6721641" cy="7263527"/>
          </a:xfrm>
          <a:prstGeom prst="rect">
            <a:avLst/>
          </a:prstGeom>
          <a:noFill/>
        </p:spPr>
        <p:txBody>
          <a:bodyPr wrap="square">
            <a:spAutoFit/>
          </a:bodyPr>
          <a:lstStyle/>
          <a:p>
            <a:pPr>
              <a:lnSpc>
                <a:spcPts val="1800"/>
              </a:lnSpc>
            </a:pPr>
            <a:r>
              <a:rPr lang="en-US" altLang="zh-TW" sz="1600" b="1" dirty="0">
                <a:latin typeface="DFYuanBold-B5" panose="020F0709000000000000" pitchFamily="49" charset="-120"/>
                <a:ea typeface="DFYuanBold-B5" panose="020F0709000000000000" pitchFamily="49" charset="-120"/>
              </a:rPr>
              <a:t>[ Day3 ]</a:t>
            </a:r>
            <a:endParaRPr lang="zh-TW" altLang="en-US" sz="1600" b="1" dirty="0">
              <a:latin typeface="DFYuanBold-B5" panose="020F0709000000000000" pitchFamily="49" charset="-120"/>
              <a:ea typeface="DFYuanBold-B5" panose="020F0709000000000000" pitchFamily="49" charset="-120"/>
            </a:endParaRPr>
          </a:p>
          <a:p>
            <a:pPr marL="342900" indent="-342900">
              <a:lnSpc>
                <a:spcPts val="1800"/>
              </a:lnSpc>
              <a:buFont typeface="+mj-lt"/>
              <a:buAutoNum type="arabicPeriod" startAt="2"/>
            </a:pPr>
            <a:r>
              <a:rPr lang="zh-TW" altLang="en-US" sz="1600" b="1" dirty="0">
                <a:latin typeface="DFYuanLight-B5" panose="020F0309000000000000" pitchFamily="49" charset="-120"/>
                <a:ea typeface="DFYuanLight-B5" panose="020F0309000000000000" pitchFamily="49" charset="-120"/>
              </a:rPr>
              <a:t>濱海灣花園：雲霧林 </a:t>
            </a:r>
            <a:r>
              <a:rPr lang="en-US" altLang="zh-TW" sz="1600" b="1" dirty="0">
                <a:latin typeface="DFYuanLight-B5" panose="020F0309000000000000" pitchFamily="49" charset="-120"/>
                <a:ea typeface="DFYuanLight-B5" panose="020F0309000000000000" pitchFamily="49" charset="-120"/>
              </a:rPr>
              <a:t>/ </a:t>
            </a:r>
            <a:r>
              <a:rPr lang="zh-TW" altLang="en-US" sz="1600" b="1" dirty="0">
                <a:latin typeface="DFYuanLight-B5" panose="020F0309000000000000" pitchFamily="49" charset="-120"/>
                <a:ea typeface="DFYuanLight-B5" panose="020F0309000000000000" pitchFamily="49" charset="-120"/>
              </a:rPr>
              <a:t>空中走廊 </a:t>
            </a:r>
            <a:r>
              <a:rPr lang="en-US" altLang="zh-TW" sz="1600" b="1" dirty="0">
                <a:latin typeface="DFYuanLight-B5" panose="020F0309000000000000" pitchFamily="49" charset="-120"/>
                <a:ea typeface="DFYuanLight-B5" panose="020F0309000000000000" pitchFamily="49" charset="-120"/>
              </a:rPr>
              <a:t>(</a:t>
            </a:r>
            <a:r>
              <a:rPr lang="en" altLang="zh-TW" sz="1600" b="1" dirty="0">
                <a:latin typeface="DFYuanLight-B5" panose="020F0309000000000000" pitchFamily="49" charset="-120"/>
                <a:ea typeface="DFYuanLight-B5" panose="020F0309000000000000" pitchFamily="49" charset="-120"/>
              </a:rPr>
              <a:t>Cloud Forest / OCBC Skyway)</a:t>
            </a:r>
            <a:endParaRPr lang="en-US" altLang="zh-TW" sz="1600" dirty="0">
              <a:latin typeface="DFYuanLight-B5" panose="020F0309000000000000" pitchFamily="49" charset="-120"/>
              <a:ea typeface="DFYuanLight-B5" panose="020F0309000000000000" pitchFamily="49" charset="-120"/>
            </a:endParaRPr>
          </a:p>
          <a:p>
            <a:pPr marL="361950">
              <a:lnSpc>
                <a:spcPts val="1800"/>
              </a:lnSpc>
            </a:pPr>
            <a:r>
              <a:rPr lang="zh-TW" altLang="en-US" sz="1600" dirty="0">
                <a:latin typeface="DFYuanLight-B5" panose="020F0309000000000000" pitchFamily="49" charset="-120"/>
                <a:ea typeface="DFYuanLight-B5" panose="020F0309000000000000" pitchFamily="49" charset="-120"/>
              </a:rPr>
              <a:t>這裡模擬了高山雲霧林生態系統，是一個巨大的氣候變遷教室。</a:t>
            </a:r>
            <a:endParaRPr lang="en-US" altLang="zh-TW" sz="1600" dirty="0">
              <a:latin typeface="DFYuanLight-B5" panose="020F0309000000000000" pitchFamily="49" charset="-120"/>
              <a:ea typeface="DFYuanLight-B5" panose="020F0309000000000000" pitchFamily="49" charset="-120"/>
            </a:endParaRPr>
          </a:p>
          <a:p>
            <a:pPr marL="361950">
              <a:lnSpc>
                <a:spcPts val="1800"/>
              </a:lnSpc>
            </a:pPr>
            <a:r>
              <a:rPr lang="en-US" altLang="zh-TW" sz="1600" dirty="0"/>
              <a:t>【</a:t>
            </a:r>
            <a:r>
              <a:rPr lang="zh-TW" altLang="en-US" sz="1600" dirty="0">
                <a:latin typeface="DFYuanLight-B5" panose="020F0309000000000000" pitchFamily="49" charset="-120"/>
                <a:ea typeface="DFYuanLight-B5" panose="020F0309000000000000" pitchFamily="49" charset="-120"/>
              </a:rPr>
              <a:t>對應 </a:t>
            </a:r>
            <a:r>
              <a:rPr lang="en" altLang="zh-TW" sz="1600" dirty="0">
                <a:latin typeface="DFYuanLight-B5" panose="020F0309000000000000" pitchFamily="49" charset="-120"/>
                <a:ea typeface="DFYuanLight-B5" panose="020F0309000000000000" pitchFamily="49" charset="-120"/>
              </a:rPr>
              <a:t>SDGs </a:t>
            </a:r>
            <a:r>
              <a:rPr lang="zh-TW" altLang="en-US" sz="1600" dirty="0">
                <a:latin typeface="DFYuanLight-B5" panose="020F0309000000000000" pitchFamily="49" charset="-120"/>
                <a:ea typeface="DFYuanLight-B5" panose="020F0309000000000000" pitchFamily="49" charset="-120"/>
              </a:rPr>
              <a:t>目標</a:t>
            </a:r>
            <a:r>
              <a:rPr lang="en-US" altLang="zh-TW" sz="1600" dirty="0"/>
              <a:t>】</a:t>
            </a:r>
            <a:endParaRPr lang="zh-TW" altLang="en-US" sz="1600" dirty="0">
              <a:latin typeface="DFYuanLight-B5" panose="020F0309000000000000" pitchFamily="49" charset="-120"/>
              <a:ea typeface="DFYuanLight-B5" panose="020F0309000000000000" pitchFamily="49" charset="-120"/>
            </a:endParaRPr>
          </a:p>
          <a:p>
            <a:pPr marL="720725" indent="-274638">
              <a:lnSpc>
                <a:spcPts val="1800"/>
              </a:lnSpc>
              <a:buFont typeface="Arial" panose="020B0604020202020204" pitchFamily="34" charset="0"/>
              <a:buChar char="•"/>
            </a:pPr>
            <a:r>
              <a:rPr lang="en" altLang="zh-TW" sz="1600" dirty="0">
                <a:latin typeface="DFYuanLight-B5" panose="020F0309000000000000" pitchFamily="49" charset="-120"/>
                <a:ea typeface="DFYuanLight-B5" panose="020F0309000000000000" pitchFamily="49" charset="-120"/>
              </a:rPr>
              <a:t>SDG 13</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氣候行動（提高大眾對氣候變遷影響的警覺）。</a:t>
            </a:r>
          </a:p>
          <a:p>
            <a:pPr marL="720725" indent="-274638">
              <a:lnSpc>
                <a:spcPts val="1800"/>
              </a:lnSpc>
              <a:buFont typeface="Arial" panose="020B0604020202020204" pitchFamily="34" charset="0"/>
              <a:buChar char="•"/>
            </a:pPr>
            <a:r>
              <a:rPr lang="en" altLang="zh-TW" sz="1600" dirty="0">
                <a:latin typeface="DFYuanLight-B5" panose="020F0309000000000000" pitchFamily="49" charset="-120"/>
                <a:ea typeface="DFYuanLight-B5" panose="020F0309000000000000" pitchFamily="49" charset="-120"/>
              </a:rPr>
              <a:t>SDG 15</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陸域生態（保護瀕危的高山植物與生物多樣性）。</a:t>
            </a:r>
          </a:p>
          <a:p>
            <a:pPr>
              <a:lnSpc>
                <a:spcPts val="1800"/>
              </a:lnSpc>
            </a:pPr>
            <a:r>
              <a:rPr lang="en"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機智問答時間</a:t>
            </a:r>
          </a:p>
          <a:p>
            <a:pPr>
              <a:lnSpc>
                <a:spcPts val="1800"/>
              </a:lnSpc>
            </a:pPr>
            <a:r>
              <a:rPr lang="zh-TW" altLang="en-US" sz="1600" b="1" dirty="0">
                <a:latin typeface="DFYuanLight-B5" panose="020F0309000000000000" pitchFamily="49" charset="-120"/>
                <a:ea typeface="DFYuanLight-B5" panose="020F0309000000000000" pitchFamily="49" charset="-120"/>
              </a:rPr>
              <a:t>Ｑ</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問題：</a:t>
            </a:r>
            <a:r>
              <a:rPr lang="en-US" altLang="zh-TW" sz="1600" b="1"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在「雲霧林」中，我們可以看到平時在熱帶平地看不見的高山</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植物。請問這座溫室之所以要維持在 </a:t>
            </a:r>
            <a:r>
              <a:rPr lang="en-US" altLang="zh-TW" sz="1600" dirty="0">
                <a:latin typeface="DFYuanLight-B5" panose="020F0309000000000000" pitchFamily="49" charset="-120"/>
                <a:ea typeface="DFYuanLight-B5" panose="020F0309000000000000" pitchFamily="49" charset="-120"/>
              </a:rPr>
              <a:t>23°</a:t>
            </a:r>
            <a:r>
              <a:rPr lang="en" altLang="zh-TW" sz="1600" dirty="0">
                <a:latin typeface="DFYuanLight-B5" panose="020F0309000000000000" pitchFamily="49" charset="-120"/>
                <a:ea typeface="DFYuanLight-B5" panose="020F0309000000000000" pitchFamily="49" charset="-120"/>
              </a:rPr>
              <a:t>C~25°C</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是為了提醒</a:t>
            </a:r>
            <a:endParaRPr lang="en-US" altLang="zh-TW" sz="1600" dirty="0">
              <a:latin typeface="DFYuanLight-B5" panose="020F0309000000000000" pitchFamily="49" charset="-120"/>
              <a:ea typeface="DFYuanLight-B5" panose="020F0309000000000000" pitchFamily="49" charset="-120"/>
            </a:endParaRPr>
          </a:p>
          <a:p>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我們什麼？</a:t>
            </a:r>
            <a:endParaRPr lang="en-US" altLang="zh-TW" sz="1600" dirty="0">
              <a:latin typeface="DFYuanLight-B5" panose="020F0309000000000000" pitchFamily="49" charset="-120"/>
              <a:ea typeface="DFYuanLight-B5" panose="020F0309000000000000" pitchFamily="49" charset="-120"/>
            </a:endParaRPr>
          </a:p>
          <a:p>
            <a:pPr marL="1558925" indent="-398463">
              <a:lnSpc>
                <a:spcPts val="1800"/>
              </a:lnSpc>
            </a:pPr>
            <a:r>
              <a:rPr lang="en" altLang="zh-TW" sz="1600" dirty="0">
                <a:latin typeface="DFYuanLight-B5" panose="020F0309000000000000" pitchFamily="49" charset="-120"/>
                <a:ea typeface="DFYuanLight-B5" panose="020F0309000000000000" pitchFamily="49" charset="-120"/>
              </a:rPr>
              <a:t>(A) </a:t>
            </a:r>
            <a:r>
              <a:rPr lang="zh-TW" altLang="en-US" sz="1600" dirty="0">
                <a:latin typeface="DFYuanLight-B5" panose="020F0309000000000000" pitchFamily="49" charset="-120"/>
                <a:ea typeface="DFYuanLight-B5" panose="020F0309000000000000" pitchFamily="49" charset="-120"/>
              </a:rPr>
              <a:t>新加坡人很怕熱</a:t>
            </a:r>
          </a:p>
          <a:p>
            <a:pPr marL="1558925" indent="-398463">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B) </a:t>
            </a:r>
            <a:r>
              <a:rPr lang="zh-TW" altLang="en-US" sz="1600" dirty="0">
                <a:latin typeface="DFYuanLight-B5" panose="020F0309000000000000" pitchFamily="49" charset="-120"/>
                <a:ea typeface="DFYuanLight-B5" panose="020F0309000000000000" pitchFamily="49" charset="-120"/>
              </a:rPr>
              <a:t>為了讓遊客在參觀時覺得很涼爽</a:t>
            </a:r>
          </a:p>
          <a:p>
            <a:pPr marL="1558925" indent="-398463">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C) </a:t>
            </a:r>
            <a:r>
              <a:rPr lang="zh-TW" altLang="en-US" sz="1600" dirty="0">
                <a:latin typeface="DFYuanLight-B5" panose="020F0309000000000000" pitchFamily="49" charset="-120"/>
                <a:ea typeface="DFYuanLight-B5" panose="020F0309000000000000" pitchFamily="49" charset="-120"/>
              </a:rPr>
              <a:t>模擬高山環境，並警示如果全球升溫（氣候變遷），這些珍稀的高山植物將面臨滅絕</a:t>
            </a:r>
          </a:p>
          <a:p>
            <a:pPr marL="1558925" indent="-398463">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D) </a:t>
            </a:r>
            <a:r>
              <a:rPr lang="zh-TW" altLang="en-US" sz="1600" dirty="0">
                <a:latin typeface="DFYuanLight-B5" panose="020F0309000000000000" pitchFamily="49" charset="-120"/>
                <a:ea typeface="DFYuanLight-B5" panose="020F0309000000000000" pitchFamily="49" charset="-120"/>
              </a:rPr>
              <a:t>為了節省冷氣費</a:t>
            </a:r>
          </a:p>
          <a:p>
            <a:pPr>
              <a:lnSpc>
                <a:spcPts val="1800"/>
              </a:lnSpc>
            </a:pPr>
            <a:r>
              <a:rPr lang="zh-TW" altLang="en-US" sz="1600" b="1" dirty="0">
                <a:latin typeface="DFYuanLight-B5" panose="020F0309000000000000" pitchFamily="49" charset="-120"/>
                <a:ea typeface="DFYuanLight-B5" panose="020F0309000000000000" pitchFamily="49" charset="-120"/>
              </a:rPr>
              <a:t>Ａ</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答案：</a:t>
            </a:r>
            <a:r>
              <a:rPr lang="en-US" altLang="zh-TW" sz="1600" dirty="0">
                <a:highlight>
                  <a:srgbClr val="FFFF00"/>
                </a:highlight>
                <a:latin typeface="DFYuanLight-B5" panose="020F0309000000000000" pitchFamily="49" charset="-120"/>
                <a:ea typeface="DFYuanLight-B5" panose="020F0309000000000000" pitchFamily="49" charset="-120"/>
              </a:rPr>
              <a:t>(</a:t>
            </a:r>
            <a:r>
              <a:rPr lang="en" altLang="zh-TW" sz="1600" dirty="0">
                <a:highlight>
                  <a:srgbClr val="FFFF00"/>
                </a:highlight>
                <a:latin typeface="DFYuanLight-B5" panose="020F0309000000000000" pitchFamily="49" charset="-120"/>
                <a:ea typeface="DFYuanLight-B5" panose="020F0309000000000000" pitchFamily="49" charset="-120"/>
              </a:rPr>
              <a:t>C)</a:t>
            </a:r>
          </a:p>
          <a:p>
            <a:pPr marL="285750" indent="-285750">
              <a:lnSpc>
                <a:spcPts val="1800"/>
              </a:lnSpc>
              <a:buFont typeface="Wingdings" pitchFamily="2" charset="2"/>
              <a:buChar char="Ø"/>
            </a:pPr>
            <a:r>
              <a:rPr lang="zh-TW" altLang="en-US" sz="1600" b="1" dirty="0">
                <a:latin typeface="DFYuanLight-B5" panose="020F0309000000000000" pitchFamily="49" charset="-120"/>
                <a:ea typeface="DFYuanLight-B5" panose="020F0309000000000000" pitchFamily="49" charset="-120"/>
              </a:rPr>
              <a:t>解析：</a:t>
            </a:r>
            <a:r>
              <a:rPr lang="zh-TW" altLang="en-US" sz="1600" dirty="0">
                <a:latin typeface="DFYuanLight-B5" panose="020F0309000000000000" pitchFamily="49" charset="-120"/>
                <a:ea typeface="DFYuanLight-B5" panose="020F0309000000000000" pitchFamily="49" charset="-120"/>
              </a:rPr>
              <a:t>這對應了 </a:t>
            </a:r>
            <a:r>
              <a:rPr lang="en" altLang="zh-TW" sz="1600" dirty="0">
                <a:latin typeface="DFYuanLight-B5" panose="020F0309000000000000" pitchFamily="49" charset="-120"/>
                <a:ea typeface="DFYuanLight-B5" panose="020F0309000000000000" pitchFamily="49" charset="-120"/>
              </a:rPr>
              <a:t>SDG 13 </a:t>
            </a:r>
            <a:r>
              <a:rPr lang="zh-TW" altLang="en-US" sz="1600" dirty="0">
                <a:latin typeface="DFYuanLight-B5" panose="020F0309000000000000" pitchFamily="49" charset="-120"/>
                <a:ea typeface="DFYuanLight-B5" panose="020F0309000000000000" pitchFamily="49" charset="-120"/>
              </a:rPr>
              <a:t>與 </a:t>
            </a:r>
            <a:r>
              <a:rPr lang="en" altLang="zh-TW" sz="1600" dirty="0">
                <a:latin typeface="DFYuanLight-B5" panose="020F0309000000000000" pitchFamily="49" charset="-120"/>
                <a:ea typeface="DFYuanLight-B5" panose="020F0309000000000000" pitchFamily="49" charset="-120"/>
              </a:rPr>
              <a:t>SDG 15</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高山生態系對溫度極為敏感，雲</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霧林讓同學親身感受植物對氣候的依賴，理解環境保護的迫切</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性。</a:t>
            </a:r>
            <a:endParaRPr lang="en-US" altLang="zh-TW" sz="1600" dirty="0">
              <a:latin typeface="DFYuanLight-B5" panose="020F0309000000000000" pitchFamily="49" charset="-120"/>
              <a:ea typeface="DFYuanLight-B5" panose="020F0309000000000000" pitchFamily="49" charset="-120"/>
            </a:endParaRPr>
          </a:p>
          <a:p>
            <a:pPr>
              <a:lnSpc>
                <a:spcPts val="1800"/>
              </a:lnSpc>
            </a:pPr>
            <a:endParaRPr lang="en-US" altLang="zh-TW" sz="1600" dirty="0">
              <a:latin typeface="DFYuanLight-B5" panose="020F0309000000000000" pitchFamily="49" charset="-120"/>
              <a:ea typeface="DFYuanLight-B5" panose="020F0309000000000000" pitchFamily="49" charset="-120"/>
            </a:endParaRPr>
          </a:p>
          <a:p>
            <a:pPr>
              <a:lnSpc>
                <a:spcPts val="1800"/>
              </a:lnSpc>
            </a:pPr>
            <a:r>
              <a:rPr lang="zh-TW" altLang="en-US" sz="1600" b="1" dirty="0">
                <a:latin typeface="DFYuanLight-B5" panose="020F0309000000000000" pitchFamily="49" charset="-120"/>
                <a:ea typeface="DFYuanLight-B5" panose="020F0309000000000000" pitchFamily="49" charset="-120"/>
              </a:rPr>
              <a:t>Ｑ</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問題：</a:t>
            </a:r>
            <a:r>
              <a:rPr lang="en-US" altLang="zh-TW" sz="1600" b="1"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當你走在 </a:t>
            </a:r>
            <a:r>
              <a:rPr lang="en-US" altLang="zh-TW" sz="1600" dirty="0">
                <a:latin typeface="DFYuanLight-B5" panose="020F0309000000000000" pitchFamily="49" charset="-120"/>
                <a:ea typeface="DFYuanLight-B5" panose="020F0309000000000000" pitchFamily="49" charset="-120"/>
              </a:rPr>
              <a:t>22 </a:t>
            </a:r>
            <a:r>
              <a:rPr lang="zh-TW" altLang="en-US" sz="1600" dirty="0">
                <a:latin typeface="DFYuanLight-B5" panose="020F0309000000000000" pitchFamily="49" charset="-120"/>
                <a:ea typeface="DFYuanLight-B5" panose="020F0309000000000000" pitchFamily="49" charset="-120"/>
              </a:rPr>
              <a:t>公尺高的「</a:t>
            </a:r>
            <a:r>
              <a:rPr lang="en-US" altLang="zh-TW" sz="1600" dirty="0">
                <a:latin typeface="DFYuanLight-B5" panose="020F0309000000000000" pitchFamily="49" charset="-120"/>
                <a:ea typeface="DFYuanLight-B5" panose="020F0309000000000000" pitchFamily="49" charset="-120"/>
              </a:rPr>
              <a:t>OCBC </a:t>
            </a:r>
            <a:r>
              <a:rPr lang="zh-TW" altLang="en-US" sz="1600" dirty="0">
                <a:latin typeface="DFYuanLight-B5" panose="020F0309000000000000" pitchFamily="49" charset="-120"/>
                <a:ea typeface="DFYuanLight-B5" panose="020F0309000000000000" pitchFamily="49" charset="-120"/>
              </a:rPr>
              <a:t>空中走廊」俯瞰花園時，可以</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看見擎天樹上長滿了植物。請問這種「垂直綠化」的設計對城</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市有什麼好處？</a:t>
            </a:r>
            <a:r>
              <a:rPr lang="zh-TW" altLang="en-US" sz="1600" b="1" dirty="0">
                <a:latin typeface="DFYuanLight-B5" panose="020F0309000000000000" pitchFamily="49" charset="-120"/>
                <a:ea typeface="DFYuanLight-B5" panose="020F0309000000000000" pitchFamily="49" charset="-120"/>
              </a:rPr>
              <a:t> </a:t>
            </a:r>
            <a:endParaRPr lang="en-US" altLang="zh-TW" sz="1600" b="1" dirty="0">
              <a:latin typeface="DFYuanLight-B5" panose="020F0309000000000000" pitchFamily="49" charset="-120"/>
              <a:ea typeface="DFYuanLight-B5" panose="020F0309000000000000" pitchFamily="49" charset="-120"/>
            </a:endParaRPr>
          </a:p>
          <a:p>
            <a:pPr marL="1514475" indent="-400050">
              <a:lnSpc>
                <a:spcPts val="1800"/>
              </a:lnSpc>
            </a:pPr>
            <a:r>
              <a:rPr lang="en-US" altLang="zh-TW" sz="1600" dirty="0">
                <a:latin typeface="DFYuanLight-B5" panose="020F0309000000000000" pitchFamily="49" charset="-120"/>
                <a:ea typeface="DFYuanLight-B5" panose="020F0309000000000000" pitchFamily="49" charset="-120"/>
              </a:rPr>
              <a:t>(A) </a:t>
            </a:r>
            <a:r>
              <a:rPr lang="zh-TW" altLang="en-US" sz="1600" dirty="0">
                <a:latin typeface="DFYuanLight-B5" panose="020F0309000000000000" pitchFamily="49" charset="-120"/>
                <a:ea typeface="DFYuanLight-B5" panose="020F0309000000000000" pitchFamily="49" charset="-120"/>
              </a:rPr>
              <a:t>減少都市熱島效應，降低環境溫度</a:t>
            </a:r>
          </a:p>
          <a:p>
            <a:pPr marL="1514475" indent="-400050">
              <a:lnSpc>
                <a:spcPts val="1800"/>
              </a:lnSpc>
            </a:pPr>
            <a:r>
              <a:rPr lang="en-US" altLang="zh-TW" sz="1600" dirty="0">
                <a:latin typeface="DFYuanLight-B5" panose="020F0309000000000000" pitchFamily="49" charset="-120"/>
                <a:ea typeface="DFYuanLight-B5" panose="020F0309000000000000" pitchFamily="49" charset="-120"/>
              </a:rPr>
              <a:t>(B) </a:t>
            </a:r>
            <a:r>
              <a:rPr lang="zh-TW" altLang="en-US" sz="1600" dirty="0">
                <a:latin typeface="DFYuanLight-B5" panose="020F0309000000000000" pitchFamily="49" charset="-120"/>
                <a:ea typeface="DFYuanLight-B5" panose="020F0309000000000000" pitchFamily="49" charset="-120"/>
              </a:rPr>
              <a:t>讓鳥類可以住在更高的地方</a:t>
            </a:r>
          </a:p>
          <a:p>
            <a:pPr marL="1514475" indent="-400050">
              <a:lnSpc>
                <a:spcPts val="1800"/>
              </a:lnSpc>
            </a:pPr>
            <a:r>
              <a:rPr lang="en-US" altLang="zh-TW" sz="1600" dirty="0">
                <a:latin typeface="DFYuanLight-B5" panose="020F0309000000000000" pitchFamily="49" charset="-120"/>
                <a:ea typeface="DFYuanLight-B5" panose="020F0309000000000000" pitchFamily="49" charset="-120"/>
              </a:rPr>
              <a:t>(C) </a:t>
            </a:r>
            <a:r>
              <a:rPr lang="zh-TW" altLang="en-US" sz="1600" dirty="0">
                <a:latin typeface="DFYuanLight-B5" panose="020F0309000000000000" pitchFamily="49" charset="-120"/>
                <a:ea typeface="DFYuanLight-B5" panose="020F0309000000000000" pitchFamily="49" charset="-120"/>
              </a:rPr>
              <a:t>增加清潔人員的工作難度</a:t>
            </a:r>
          </a:p>
          <a:p>
            <a:pPr marL="1514475" indent="-400050">
              <a:lnSpc>
                <a:spcPts val="1800"/>
              </a:lnSpc>
            </a:pPr>
            <a:r>
              <a:rPr lang="en-US" altLang="zh-TW" sz="1600" dirty="0">
                <a:latin typeface="DFYuanLight-B5" panose="020F0309000000000000" pitchFamily="49" charset="-120"/>
                <a:ea typeface="DFYuanLight-B5" panose="020F0309000000000000" pitchFamily="49" charset="-120"/>
              </a:rPr>
              <a:t>(D) </a:t>
            </a:r>
            <a:r>
              <a:rPr lang="zh-TW" altLang="en-US" sz="1600" dirty="0">
                <a:latin typeface="DFYuanLight-B5" panose="020F0309000000000000" pitchFamily="49" charset="-120"/>
                <a:ea typeface="DFYuanLight-B5" panose="020F0309000000000000" pitchFamily="49" charset="-120"/>
              </a:rPr>
              <a:t>只是為了遮住後面的建築物</a:t>
            </a:r>
          </a:p>
          <a:p>
            <a:pPr>
              <a:lnSpc>
                <a:spcPts val="1800"/>
              </a:lnSpc>
            </a:pPr>
            <a:r>
              <a:rPr lang="zh-TW" altLang="en-US" sz="1600" b="1" dirty="0">
                <a:latin typeface="DFYuanLight-B5" panose="020F0309000000000000" pitchFamily="49" charset="-120"/>
                <a:ea typeface="DFYuanLight-B5" panose="020F0309000000000000" pitchFamily="49" charset="-120"/>
              </a:rPr>
              <a:t>Ａ</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答案：</a:t>
            </a:r>
            <a:r>
              <a:rPr lang="en-US" altLang="zh-TW" sz="1600" dirty="0">
                <a:highlight>
                  <a:srgbClr val="FFFF00"/>
                </a:highlight>
                <a:latin typeface="DFYuanLight-B5" panose="020F0309000000000000" pitchFamily="49" charset="-120"/>
                <a:ea typeface="DFYuanLight-B5" panose="020F0309000000000000" pitchFamily="49" charset="-120"/>
              </a:rPr>
              <a:t>(A</a:t>
            </a:r>
            <a:r>
              <a:rPr lang="en" altLang="zh-TW" sz="1600" dirty="0">
                <a:highlight>
                  <a:srgbClr val="FFFF00"/>
                </a:highlight>
                <a:latin typeface="DFYuanLight-B5" panose="020F0309000000000000" pitchFamily="49" charset="-120"/>
                <a:ea typeface="DFYuanLight-B5" panose="020F0309000000000000" pitchFamily="49" charset="-120"/>
              </a:rPr>
              <a:t>)</a:t>
            </a:r>
          </a:p>
          <a:p>
            <a:pPr marL="285750" indent="-285750">
              <a:lnSpc>
                <a:spcPts val="1800"/>
              </a:lnSpc>
              <a:buFont typeface="Wingdings" pitchFamily="2" charset="2"/>
              <a:buChar char="Ø"/>
            </a:pPr>
            <a:r>
              <a:rPr lang="zh-TW" altLang="en-US" sz="1600" b="1" dirty="0">
                <a:latin typeface="DFYuanLight-B5" panose="020F0309000000000000" pitchFamily="49" charset="-120"/>
                <a:ea typeface="DFYuanLight-B5" panose="020F0309000000000000" pitchFamily="49" charset="-120"/>
              </a:rPr>
              <a:t>解析：</a:t>
            </a:r>
            <a:r>
              <a:rPr lang="en" altLang="zh-TW" sz="1600" b="1" dirty="0">
                <a:latin typeface="DFYuanLight-B5" panose="020F0309000000000000" pitchFamily="49" charset="-120"/>
                <a:ea typeface="DFYuanLight-B5" panose="020F0309000000000000" pitchFamily="49" charset="-120"/>
              </a:rPr>
              <a:t>SDG 11</a:t>
            </a:r>
            <a:r>
              <a:rPr lang="en"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強調城市的永續性，垂直綠化能有效降溫並過濾空氣，</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是現代高密度城市解決氣候問題的重要策略。</a:t>
            </a:r>
            <a:endParaRPr lang="en" altLang="zh-TW" sz="1600" b="1" dirty="0">
              <a:latin typeface="DFYuanLight-B5" panose="020F0309000000000000" pitchFamily="49" charset="-120"/>
              <a:ea typeface="DFYuanLight-B5" panose="020F0309000000000000" pitchFamily="49" charset="-120"/>
            </a:endParaRPr>
          </a:p>
        </p:txBody>
      </p:sp>
    </p:spTree>
    <p:extLst>
      <p:ext uri="{BB962C8B-B14F-4D97-AF65-F5344CB8AC3E}">
        <p14:creationId xmlns:p14="http://schemas.microsoft.com/office/powerpoint/2010/main" val="112966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B2756-7FC8-E0B8-61D9-37D9EEB35918}"/>
            </a:ext>
          </a:extLst>
        </p:cNvPr>
        <p:cNvGrpSpPr/>
        <p:nvPr/>
      </p:nvGrpSpPr>
      <p:grpSpPr>
        <a:xfrm>
          <a:off x="0" y="0"/>
          <a:ext cx="0" cy="0"/>
          <a:chOff x="0" y="0"/>
          <a:chExt cx="0" cy="0"/>
        </a:xfrm>
      </p:grpSpPr>
      <p:sp>
        <p:nvSpPr>
          <p:cNvPr id="4" name="圓角矩形 3">
            <a:extLst>
              <a:ext uri="{FF2B5EF4-FFF2-40B4-BE49-F238E27FC236}">
                <a16:creationId xmlns:a16="http://schemas.microsoft.com/office/drawing/2014/main" id="{C6905482-C895-0F42-050E-5A39872631A0}"/>
              </a:ext>
            </a:extLst>
          </p:cNvPr>
          <p:cNvSpPr/>
          <p:nvPr/>
        </p:nvSpPr>
        <p:spPr>
          <a:xfrm>
            <a:off x="171651" y="355600"/>
            <a:ext cx="6514697" cy="568960"/>
          </a:xfrm>
          <a:prstGeom prst="roundRect">
            <a:avLst/>
          </a:prstGeom>
          <a:effectLst>
            <a:outerShdw blurRad="50800" dist="38100" dir="5400000" algn="t"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tlCol="0" anchor="ctr"/>
          <a:lstStyle/>
          <a:p>
            <a:pPr algn="ctr"/>
            <a:r>
              <a:rPr kumimoji="1" lang="zh-TW" altLang="en-US" sz="2400" dirty="0">
                <a:latin typeface="DFPYuanBold-B5" panose="020F0700000000000000" pitchFamily="34" charset="-120"/>
                <a:ea typeface="DFPYuanBold-B5" panose="020F0700000000000000" pitchFamily="34" charset="-120"/>
              </a:rPr>
              <a:t>第四天</a:t>
            </a:r>
            <a:r>
              <a:rPr kumimoji="1" lang="en-US" altLang="zh-TW" sz="2400" dirty="0">
                <a:latin typeface="DFPYuanBold-B5" panose="020F0700000000000000" pitchFamily="34" charset="-120"/>
                <a:ea typeface="DFPYuanBold-B5" panose="020F0700000000000000" pitchFamily="34" charset="-120"/>
              </a:rPr>
              <a:t>-</a:t>
            </a:r>
            <a:r>
              <a:rPr kumimoji="1" lang="zh-TW" altLang="en-US" sz="2400" dirty="0">
                <a:latin typeface="DFPYuanBold-B5" panose="020F0700000000000000" pitchFamily="34" charset="-120"/>
                <a:ea typeface="DFPYuanBold-B5" panose="020F0700000000000000" pitchFamily="34" charset="-120"/>
              </a:rPr>
              <a:t>景點</a:t>
            </a:r>
            <a:r>
              <a:rPr kumimoji="1" lang="en-US" altLang="zh-TW" sz="2400" dirty="0">
                <a:latin typeface="DFPYuanBold-B5" panose="020F0700000000000000" pitchFamily="34" charset="-120"/>
                <a:ea typeface="DFPYuanBold-B5" panose="020F0700000000000000" pitchFamily="34" charset="-120"/>
              </a:rPr>
              <a:t>SDGs</a:t>
            </a:r>
            <a:r>
              <a:rPr kumimoji="1" lang="zh-TW" altLang="en-US" sz="2400" dirty="0">
                <a:latin typeface="DFPYuanBold-B5" panose="020F0700000000000000" pitchFamily="34" charset="-120"/>
                <a:ea typeface="DFPYuanBold-B5" panose="020F0700000000000000" pitchFamily="34" charset="-120"/>
              </a:rPr>
              <a:t>介紹</a:t>
            </a:r>
          </a:p>
        </p:txBody>
      </p:sp>
      <p:pic>
        <p:nvPicPr>
          <p:cNvPr id="5" name="圖片 4">
            <a:extLst>
              <a:ext uri="{FF2B5EF4-FFF2-40B4-BE49-F238E27FC236}">
                <a16:creationId xmlns:a16="http://schemas.microsoft.com/office/drawing/2014/main" id="{90D120CC-2A1B-7B5E-D3FE-87F9FC1DB6F4}"/>
              </a:ext>
            </a:extLst>
          </p:cNvPr>
          <p:cNvPicPr>
            <a:picLocks noChangeAspect="1"/>
          </p:cNvPicPr>
          <p:nvPr/>
        </p:nvPicPr>
        <p:blipFill>
          <a:blip r:embed="rId2"/>
          <a:stretch>
            <a:fillRect/>
          </a:stretch>
        </p:blipFill>
        <p:spPr>
          <a:xfrm>
            <a:off x="600800" y="1205411"/>
            <a:ext cx="5656399" cy="8067065"/>
          </a:xfrm>
          <a:prstGeom prst="rect">
            <a:avLst/>
          </a:prstGeom>
        </p:spPr>
      </p:pic>
    </p:spTree>
    <p:extLst>
      <p:ext uri="{BB962C8B-B14F-4D97-AF65-F5344CB8AC3E}">
        <p14:creationId xmlns:p14="http://schemas.microsoft.com/office/powerpoint/2010/main" val="40033524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95914-6035-8027-8ACF-C7D7660835DE}"/>
            </a:ext>
          </a:extLst>
        </p:cNvPr>
        <p:cNvGrpSpPr/>
        <p:nvPr/>
      </p:nvGrpSpPr>
      <p:grpSpPr>
        <a:xfrm>
          <a:off x="0" y="0"/>
          <a:ext cx="0" cy="0"/>
          <a:chOff x="0" y="0"/>
          <a:chExt cx="0" cy="0"/>
        </a:xfrm>
      </p:grpSpPr>
      <p:sp>
        <p:nvSpPr>
          <p:cNvPr id="8" name="圓角矩形 7">
            <a:extLst>
              <a:ext uri="{FF2B5EF4-FFF2-40B4-BE49-F238E27FC236}">
                <a16:creationId xmlns:a16="http://schemas.microsoft.com/office/drawing/2014/main" id="{2E610884-FB91-FC65-4416-F06B64E0347D}"/>
              </a:ext>
            </a:extLst>
          </p:cNvPr>
          <p:cNvSpPr/>
          <p:nvPr/>
        </p:nvSpPr>
        <p:spPr>
          <a:xfrm>
            <a:off x="0" y="5589068"/>
            <a:ext cx="1116000" cy="240632"/>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4" name="圓角矩形 3">
            <a:extLst>
              <a:ext uri="{FF2B5EF4-FFF2-40B4-BE49-F238E27FC236}">
                <a16:creationId xmlns:a16="http://schemas.microsoft.com/office/drawing/2014/main" id="{9659D5BB-9E45-ADFD-5568-B634BF450F4E}"/>
              </a:ext>
            </a:extLst>
          </p:cNvPr>
          <p:cNvSpPr/>
          <p:nvPr/>
        </p:nvSpPr>
        <p:spPr>
          <a:xfrm>
            <a:off x="0" y="2855433"/>
            <a:ext cx="1116000" cy="240632"/>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2" name="圓角矩形 1">
            <a:extLst>
              <a:ext uri="{FF2B5EF4-FFF2-40B4-BE49-F238E27FC236}">
                <a16:creationId xmlns:a16="http://schemas.microsoft.com/office/drawing/2014/main" id="{883E245E-0A1A-A6C5-AFF7-12D967F2BB07}"/>
              </a:ext>
            </a:extLst>
          </p:cNvPr>
          <p:cNvSpPr/>
          <p:nvPr/>
        </p:nvSpPr>
        <p:spPr>
          <a:xfrm>
            <a:off x="1" y="339130"/>
            <a:ext cx="5940000" cy="240632"/>
          </a:xfrm>
          <a:prstGeom prst="roundRect">
            <a:avLst/>
          </a:prstGeom>
          <a:solidFill>
            <a:srgbClr val="FFFBD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
        <p:nvSpPr>
          <p:cNvPr id="5" name="文字方塊 4">
            <a:extLst>
              <a:ext uri="{FF2B5EF4-FFF2-40B4-BE49-F238E27FC236}">
                <a16:creationId xmlns:a16="http://schemas.microsoft.com/office/drawing/2014/main" id="{B2E26943-34EB-5E4E-C1A3-017A65E0DB40}"/>
              </a:ext>
            </a:extLst>
          </p:cNvPr>
          <p:cNvSpPr txBox="1"/>
          <p:nvPr/>
        </p:nvSpPr>
        <p:spPr>
          <a:xfrm>
            <a:off x="68179" y="64168"/>
            <a:ext cx="6721641" cy="8637365"/>
          </a:xfrm>
          <a:prstGeom prst="rect">
            <a:avLst/>
          </a:prstGeom>
          <a:noFill/>
        </p:spPr>
        <p:txBody>
          <a:bodyPr wrap="square">
            <a:spAutoFit/>
          </a:bodyPr>
          <a:lstStyle/>
          <a:p>
            <a:pPr>
              <a:lnSpc>
                <a:spcPts val="1800"/>
              </a:lnSpc>
            </a:pPr>
            <a:r>
              <a:rPr lang="en-US" altLang="zh-TW" sz="1600" b="1" dirty="0">
                <a:latin typeface="DFYuanBold-B5" panose="020F0709000000000000" pitchFamily="49" charset="-120"/>
                <a:ea typeface="DFYuanBold-B5" panose="020F0709000000000000" pitchFamily="49" charset="-120"/>
              </a:rPr>
              <a:t>[ Day4 ]</a:t>
            </a:r>
            <a:endParaRPr lang="zh-TW" altLang="en-US" sz="1600" b="1" dirty="0">
              <a:latin typeface="DFYuanBold-B5" panose="020F0709000000000000" pitchFamily="49" charset="-120"/>
              <a:ea typeface="DFYuanBold-B5" panose="020F0709000000000000" pitchFamily="49" charset="-120"/>
            </a:endParaRPr>
          </a:p>
          <a:p>
            <a:pPr marL="342900" indent="-342900">
              <a:lnSpc>
                <a:spcPts val="1800"/>
              </a:lnSpc>
              <a:buFontTx/>
              <a:buAutoNum type="arabicPeriod"/>
            </a:pPr>
            <a:r>
              <a:rPr lang="zh-TW" altLang="en-US" sz="1600" b="1" dirty="0">
                <a:latin typeface="DFYuanLight-B5" panose="020F0309000000000000" pitchFamily="49" charset="-120"/>
                <a:ea typeface="DFYuanLight-B5" panose="020F0309000000000000" pitchFamily="49" charset="-120"/>
              </a:rPr>
              <a:t>聖淘沙</a:t>
            </a:r>
            <a:r>
              <a:rPr lang="en-US" altLang="zh-TW" sz="1600" b="1" dirty="0">
                <a:latin typeface="DFYuanLight-B5" panose="020F0309000000000000" pitchFamily="49" charset="-120"/>
                <a:ea typeface="DFYuanLight-B5" panose="020F0309000000000000" pitchFamily="49" charset="-120"/>
              </a:rPr>
              <a:t> - </a:t>
            </a:r>
            <a:r>
              <a:rPr lang="zh-TW" altLang="en-US" sz="1600" b="1" dirty="0">
                <a:latin typeface="DFYuanLight-B5" panose="020F0309000000000000" pitchFamily="49" charset="-120"/>
                <a:ea typeface="DFYuanLight-B5" panose="020F0309000000000000" pitchFamily="49" charset="-120"/>
              </a:rPr>
              <a:t>新加坡環球影城 </a:t>
            </a:r>
            <a:r>
              <a:rPr lang="en-US" altLang="zh-TW" sz="1600" b="1" dirty="0">
                <a:latin typeface="DFYuanLight-B5" panose="020F0309000000000000" pitchFamily="49" charset="-120"/>
                <a:ea typeface="DFYuanLight-B5" panose="020F0309000000000000" pitchFamily="49" charset="-120"/>
              </a:rPr>
              <a:t>(</a:t>
            </a:r>
            <a:r>
              <a:rPr lang="en" altLang="zh-TW" sz="1600" b="1" dirty="0">
                <a:latin typeface="DFYuanLight-B5" panose="020F0309000000000000" pitchFamily="49" charset="-120"/>
                <a:ea typeface="DFYuanLight-B5" panose="020F0309000000000000" pitchFamily="49" charset="-120"/>
              </a:rPr>
              <a:t>Universal Studios Singapore)</a:t>
            </a:r>
            <a:endParaRPr lang="en-US" altLang="zh-TW" sz="1600" dirty="0">
              <a:latin typeface="DFYuanLight-B5" panose="020F0309000000000000" pitchFamily="49" charset="-120"/>
              <a:ea typeface="DFYuanLight-B5" panose="020F0309000000000000" pitchFamily="49" charset="-120"/>
            </a:endParaRPr>
          </a:p>
          <a:p>
            <a:pPr marL="361950">
              <a:lnSpc>
                <a:spcPts val="1800"/>
              </a:lnSpc>
            </a:pPr>
            <a:r>
              <a:rPr lang="zh-TW" altLang="en-US" sz="1600" dirty="0">
                <a:latin typeface="DFYuanLight-B5" panose="020F0309000000000000" pitchFamily="49" charset="-120"/>
                <a:ea typeface="DFYuanLight-B5" panose="020F0309000000000000" pitchFamily="49" charset="-120"/>
              </a:rPr>
              <a:t>聖淘沙的新加坡環球影城（</a:t>
            </a:r>
            <a:r>
              <a:rPr lang="en" altLang="zh-TW" sz="1600" dirty="0">
                <a:latin typeface="DFYuanLight-B5" panose="020F0309000000000000" pitchFamily="49" charset="-120"/>
                <a:ea typeface="DFYuanLight-B5" panose="020F0309000000000000" pitchFamily="49" charset="-120"/>
              </a:rPr>
              <a:t>Universal Studios Singapore, USS</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雖然是頂尖的娛樂園區，但在其母公司「聖淘沙名勝世界（</a:t>
            </a:r>
            <a:r>
              <a:rPr lang="en" altLang="zh-TW" sz="1600" dirty="0">
                <a:latin typeface="DFYuanLight-B5" panose="020F0309000000000000" pitchFamily="49" charset="-120"/>
                <a:ea typeface="DFYuanLight-B5" panose="020F0309000000000000" pitchFamily="49" charset="-120"/>
              </a:rPr>
              <a:t>RWS</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的推動下，其實是落實永續旅遊（</a:t>
            </a:r>
            <a:r>
              <a:rPr lang="en" altLang="zh-TW" sz="1600" dirty="0">
                <a:latin typeface="DFYuanLight-B5" panose="020F0309000000000000" pitchFamily="49" charset="-120"/>
                <a:ea typeface="DFYuanLight-B5" panose="020F0309000000000000" pitchFamily="49" charset="-120"/>
              </a:rPr>
              <a:t>Sustainable Tourism</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的指標性場所。</a:t>
            </a:r>
            <a:endParaRPr lang="en-US" altLang="zh-TW" sz="1600" dirty="0">
              <a:latin typeface="DFYuanLight-B5" panose="020F0309000000000000" pitchFamily="49" charset="-120"/>
              <a:ea typeface="DFYuanLight-B5" panose="020F0309000000000000" pitchFamily="49" charset="-120"/>
            </a:endParaRPr>
          </a:p>
          <a:p>
            <a:pPr marL="361950">
              <a:lnSpc>
                <a:spcPts val="1800"/>
              </a:lnSpc>
            </a:pPr>
            <a:r>
              <a:rPr lang="en-US" altLang="zh-TW" sz="1600" dirty="0"/>
              <a:t>【</a:t>
            </a:r>
            <a:r>
              <a:rPr lang="zh-TW" altLang="en-US" sz="1600" dirty="0">
                <a:latin typeface="DFYuanLight-B5" panose="020F0309000000000000" pitchFamily="49" charset="-120"/>
                <a:ea typeface="DFYuanLight-B5" panose="020F0309000000000000" pitchFamily="49" charset="-120"/>
              </a:rPr>
              <a:t>對應 </a:t>
            </a:r>
            <a:r>
              <a:rPr lang="en" altLang="zh-TW" sz="1600" dirty="0">
                <a:latin typeface="DFYuanLight-B5" panose="020F0309000000000000" pitchFamily="49" charset="-120"/>
                <a:ea typeface="DFYuanLight-B5" panose="020F0309000000000000" pitchFamily="49" charset="-120"/>
              </a:rPr>
              <a:t>SDGs </a:t>
            </a:r>
            <a:r>
              <a:rPr lang="zh-TW" altLang="en-US" sz="1600" dirty="0">
                <a:latin typeface="DFYuanLight-B5" panose="020F0309000000000000" pitchFamily="49" charset="-120"/>
                <a:ea typeface="DFYuanLight-B5" panose="020F0309000000000000" pitchFamily="49" charset="-120"/>
              </a:rPr>
              <a:t>目標</a:t>
            </a:r>
            <a:r>
              <a:rPr lang="en-US" altLang="zh-TW" sz="1600" dirty="0"/>
              <a:t>】</a:t>
            </a:r>
            <a:endParaRPr lang="zh-TW" altLang="en-US" sz="1600" dirty="0">
              <a:latin typeface="DFYuanLight-B5" panose="020F0309000000000000" pitchFamily="49" charset="-120"/>
              <a:ea typeface="DFYuanLight-B5" panose="020F0309000000000000" pitchFamily="49" charset="-120"/>
            </a:endParaRPr>
          </a:p>
          <a:p>
            <a:pPr marL="720725" indent="-274638">
              <a:lnSpc>
                <a:spcPts val="1800"/>
              </a:lnSpc>
              <a:buFont typeface="Arial" panose="020B0604020202020204" pitchFamily="34" charset="0"/>
              <a:buChar char="•"/>
            </a:pPr>
            <a:r>
              <a:rPr lang="en" altLang="zh-TW" sz="1600" dirty="0">
                <a:latin typeface="DFYuanLight-B5" panose="020F0309000000000000" pitchFamily="49" charset="-120"/>
                <a:ea typeface="DFYuanLight-B5" panose="020F0309000000000000" pitchFamily="49" charset="-120"/>
              </a:rPr>
              <a:t>SDG 7</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可負擔的潔淨能源（園區擁有大規模太陽能發電系統）。</a:t>
            </a:r>
          </a:p>
          <a:p>
            <a:pPr marL="720725" indent="-274638">
              <a:lnSpc>
                <a:spcPts val="1800"/>
              </a:lnSpc>
              <a:buFont typeface="Arial" panose="020B0604020202020204" pitchFamily="34" charset="0"/>
              <a:buChar char="•"/>
            </a:pPr>
            <a:r>
              <a:rPr lang="en" altLang="zh-TW" sz="1600" dirty="0">
                <a:latin typeface="DFYuanLight-B5" panose="020F0309000000000000" pitchFamily="49" charset="-120"/>
                <a:ea typeface="DFYuanLight-B5" panose="020F0309000000000000" pitchFamily="49" charset="-120"/>
              </a:rPr>
              <a:t>SDG 12</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責任消費與生產（推動減塑政策與廢棄物管理）。</a:t>
            </a:r>
          </a:p>
          <a:p>
            <a:pPr marL="720725" indent="-274638">
              <a:lnSpc>
                <a:spcPts val="1800"/>
              </a:lnSpc>
              <a:buFont typeface="Arial" panose="020B0604020202020204" pitchFamily="34" charset="0"/>
              <a:buChar char="•"/>
            </a:pPr>
            <a:r>
              <a:rPr lang="en" altLang="zh-TW" sz="1600" dirty="0">
                <a:latin typeface="DFYuanLight-B5" panose="020F0309000000000000" pitchFamily="49" charset="-120"/>
                <a:ea typeface="DFYuanLight-B5" panose="020F0309000000000000" pitchFamily="49" charset="-120"/>
              </a:rPr>
              <a:t>SDG 9</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產業、創新與基礎建設（利用節能技術營運大型遊樂設施）。</a:t>
            </a:r>
          </a:p>
          <a:p>
            <a:pPr>
              <a:lnSpc>
                <a:spcPts val="1800"/>
              </a:lnSpc>
            </a:pPr>
            <a:r>
              <a:rPr lang="en"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機智問答時間</a:t>
            </a:r>
          </a:p>
          <a:p>
            <a:pPr>
              <a:lnSpc>
                <a:spcPts val="1800"/>
              </a:lnSpc>
            </a:pPr>
            <a:r>
              <a:rPr lang="zh-TW" altLang="en-US" sz="1600" b="1" dirty="0">
                <a:latin typeface="DFYuanLight-B5" panose="020F0309000000000000" pitchFamily="49" charset="-120"/>
                <a:ea typeface="DFYuanLight-B5" panose="020F0309000000000000" pitchFamily="49" charset="-120"/>
              </a:rPr>
              <a:t>Ｑ</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問題：</a:t>
            </a:r>
            <a:r>
              <a:rPr lang="en-US" altLang="zh-TW" sz="1600" b="1"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當你在環球影城盡情尖叫、搭乘刺激的變形金剛或雲霄飛車時，</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這些設施需要消耗龐大的電力。請問聖淘沙名勝世界（</a:t>
            </a:r>
            <a:r>
              <a:rPr lang="en" altLang="zh-TW" sz="1600" dirty="0">
                <a:latin typeface="DFYuanLight-B5" panose="020F0309000000000000" pitchFamily="49" charset="-120"/>
                <a:ea typeface="DFYuanLight-B5" panose="020F0309000000000000" pitchFamily="49" charset="-120"/>
              </a:rPr>
              <a:t>RWS</a:t>
            </a:r>
            <a:r>
              <a:rPr lang="zh-TW" altLang="en" sz="1600" dirty="0">
                <a:latin typeface="DFYuanLight-B5" panose="020F0309000000000000" pitchFamily="49" charset="-120"/>
                <a:ea typeface="DFYuanLight-B5" panose="020F0309000000000000" pitchFamily="49" charset="-120"/>
              </a:rPr>
              <a:t>）</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是如何獲取部分綠色能源來支持園區運作的？</a:t>
            </a:r>
            <a:endParaRPr lang="en-US" altLang="zh-TW" sz="1600" dirty="0">
              <a:latin typeface="DFYuanLight-B5" panose="020F0309000000000000" pitchFamily="49" charset="-120"/>
              <a:ea typeface="DFYuanLight-B5" panose="020F0309000000000000" pitchFamily="49" charset="-120"/>
            </a:endParaRPr>
          </a:p>
          <a:p>
            <a:pPr marL="1566863" indent="-401638">
              <a:lnSpc>
                <a:spcPts val="1800"/>
              </a:lnSpc>
            </a:pPr>
            <a:r>
              <a:rPr lang="en" altLang="zh-TW" sz="1600" dirty="0">
                <a:latin typeface="DFYuanLight-B5" panose="020F0309000000000000" pitchFamily="49" charset="-120"/>
                <a:ea typeface="DFYuanLight-B5" panose="020F0309000000000000" pitchFamily="49" charset="-120"/>
              </a:rPr>
              <a:t>(A) </a:t>
            </a:r>
            <a:r>
              <a:rPr lang="zh-TW" altLang="en-US" sz="1600" dirty="0">
                <a:latin typeface="DFYuanLight-B5" panose="020F0309000000000000" pitchFamily="49" charset="-120"/>
                <a:ea typeface="DFYuanLight-B5" panose="020F0309000000000000" pitchFamily="49" charset="-120"/>
              </a:rPr>
              <a:t>在雲霄飛車軌道上裝設風力發電機</a:t>
            </a:r>
          </a:p>
          <a:p>
            <a:pPr marL="1566863" indent="-401638">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B) </a:t>
            </a:r>
            <a:r>
              <a:rPr lang="zh-TW" altLang="en-US" sz="1600" dirty="0">
                <a:latin typeface="DFYuanLight-B5" panose="020F0309000000000000" pitchFamily="49" charset="-120"/>
                <a:ea typeface="DFYuanLight-B5" panose="020F0309000000000000" pitchFamily="49" charset="-120"/>
              </a:rPr>
              <a:t>在園區建築的屋頂安裝了超過 </a:t>
            </a:r>
            <a:r>
              <a:rPr lang="en-US" altLang="zh-TW" sz="1600" dirty="0">
                <a:latin typeface="DFYuanLight-B5" panose="020F0309000000000000" pitchFamily="49" charset="-120"/>
                <a:ea typeface="DFYuanLight-B5" panose="020F0309000000000000" pitchFamily="49" charset="-120"/>
              </a:rPr>
              <a:t>2 </a:t>
            </a:r>
            <a:r>
              <a:rPr lang="zh-TW" altLang="en-US" sz="1600" dirty="0">
                <a:latin typeface="DFYuanLight-B5" panose="020F0309000000000000" pitchFamily="49" charset="-120"/>
                <a:ea typeface="DFYuanLight-B5" panose="020F0309000000000000" pitchFamily="49" charset="-120"/>
              </a:rPr>
              <a:t>萬片「太陽能光伏板」</a:t>
            </a:r>
          </a:p>
          <a:p>
            <a:pPr marL="1566863" indent="-401638">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C) </a:t>
            </a:r>
            <a:r>
              <a:rPr lang="zh-TW" altLang="en-US" sz="1600" dirty="0">
                <a:latin typeface="DFYuanLight-B5" panose="020F0309000000000000" pitchFamily="49" charset="-120"/>
                <a:ea typeface="DFYuanLight-B5" panose="020F0309000000000000" pitchFamily="49" charset="-120"/>
              </a:rPr>
              <a:t>讓遊客在排隊時踩腳踏車發電</a:t>
            </a:r>
          </a:p>
          <a:p>
            <a:pPr marL="1566863" indent="-401638">
              <a:lnSpc>
                <a:spcPts val="1800"/>
              </a:lnSpc>
            </a:pPr>
            <a:r>
              <a:rPr lang="en-US" altLang="zh-TW"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D) </a:t>
            </a:r>
            <a:r>
              <a:rPr lang="zh-TW" altLang="en-US" sz="1600" dirty="0">
                <a:latin typeface="DFYuanLight-B5" panose="020F0309000000000000" pitchFamily="49" charset="-120"/>
                <a:ea typeface="DFYuanLight-B5" panose="020F0309000000000000" pitchFamily="49" charset="-120"/>
              </a:rPr>
              <a:t>收集遊客尖叫聲的能量轉化為電力</a:t>
            </a:r>
          </a:p>
          <a:p>
            <a:pPr>
              <a:lnSpc>
                <a:spcPts val="1800"/>
              </a:lnSpc>
            </a:pPr>
            <a:r>
              <a:rPr lang="zh-TW" altLang="en-US" sz="1600" b="1" dirty="0">
                <a:latin typeface="DFYuanLight-B5" panose="020F0309000000000000" pitchFamily="49" charset="-120"/>
                <a:ea typeface="DFYuanLight-B5" panose="020F0309000000000000" pitchFamily="49" charset="-120"/>
              </a:rPr>
              <a:t>Ａ</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答案：</a:t>
            </a:r>
            <a:r>
              <a:rPr lang="en-US" altLang="zh-TW" sz="1600" dirty="0">
                <a:highlight>
                  <a:srgbClr val="FFFF00"/>
                </a:highlight>
                <a:latin typeface="DFYuanLight-B5" panose="020F0309000000000000" pitchFamily="49" charset="-120"/>
                <a:ea typeface="DFYuanLight-B5" panose="020F0309000000000000" pitchFamily="49" charset="-120"/>
              </a:rPr>
              <a:t>(</a:t>
            </a:r>
            <a:r>
              <a:rPr lang="en" altLang="zh-TW" sz="1600" dirty="0">
                <a:highlight>
                  <a:srgbClr val="FFFF00"/>
                </a:highlight>
                <a:latin typeface="DFYuanLight-B5" panose="020F0309000000000000" pitchFamily="49" charset="-120"/>
                <a:ea typeface="DFYuanLight-B5" panose="020F0309000000000000" pitchFamily="49" charset="-120"/>
              </a:rPr>
              <a:t>B)</a:t>
            </a:r>
          </a:p>
          <a:p>
            <a:pPr marL="285750" indent="-285750">
              <a:lnSpc>
                <a:spcPts val="1800"/>
              </a:lnSpc>
              <a:buFont typeface="Wingdings" pitchFamily="2" charset="2"/>
              <a:buChar char="Ø"/>
            </a:pPr>
            <a:r>
              <a:rPr lang="zh-TW" altLang="en-US" sz="1600" b="1" dirty="0">
                <a:latin typeface="DFYuanLight-B5" panose="020F0309000000000000" pitchFamily="49" charset="-120"/>
                <a:ea typeface="DFYuanLight-B5" panose="020F0309000000000000" pitchFamily="49" charset="-120"/>
              </a:rPr>
              <a:t>解析：</a:t>
            </a:r>
            <a:r>
              <a:rPr lang="zh-TW" altLang="en-US" sz="1600" dirty="0">
                <a:latin typeface="DFYuanLight-B5" panose="020F0309000000000000" pitchFamily="49" charset="-120"/>
                <a:ea typeface="DFYuanLight-B5" panose="020F0309000000000000" pitchFamily="49" charset="-120"/>
              </a:rPr>
              <a:t>這對應了 </a:t>
            </a:r>
            <a:r>
              <a:rPr lang="en" altLang="zh-TW" sz="1600" dirty="0">
                <a:latin typeface="DFYuanLight-B5" panose="020F0309000000000000" pitchFamily="49" charset="-120"/>
                <a:ea typeface="DFYuanLight-B5" panose="020F0309000000000000" pitchFamily="49" charset="-120"/>
              </a:rPr>
              <a:t>SDG 7</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聖淘沙名勝世界擁有新加坡最大規模的太陽能板裝置之一，面積相當於好幾個足球場，產出的潔淨電力能直接供應給園區設施，減少對化石燃料的依賴。</a:t>
            </a:r>
            <a:endParaRPr lang="en-US" altLang="zh-TW" sz="1600" dirty="0">
              <a:latin typeface="DFYuanLight-B5" panose="020F0309000000000000" pitchFamily="49" charset="-120"/>
              <a:ea typeface="DFYuanLight-B5" panose="020F0309000000000000" pitchFamily="49" charset="-120"/>
            </a:endParaRPr>
          </a:p>
          <a:p>
            <a:pPr marL="285750" indent="-285750">
              <a:lnSpc>
                <a:spcPts val="1800"/>
              </a:lnSpc>
              <a:buFont typeface="Wingdings" pitchFamily="2" charset="2"/>
              <a:buChar char="Ø"/>
            </a:pPr>
            <a:endParaRPr lang="en-US" altLang="zh-TW" sz="1600" dirty="0">
              <a:latin typeface="DFYuanLight-B5" panose="020F0309000000000000" pitchFamily="49" charset="-120"/>
              <a:ea typeface="DFYuanLight-B5" panose="020F0309000000000000" pitchFamily="49" charset="-120"/>
            </a:endParaRPr>
          </a:p>
          <a:p>
            <a:pPr>
              <a:lnSpc>
                <a:spcPts val="1800"/>
              </a:lnSpc>
            </a:pPr>
            <a:r>
              <a:rPr lang="zh-TW" altLang="en-US" sz="1600" b="1" dirty="0">
                <a:latin typeface="DFYuanLight-B5" panose="020F0309000000000000" pitchFamily="49" charset="-120"/>
                <a:ea typeface="DFYuanLight-B5" panose="020F0309000000000000" pitchFamily="49" charset="-120"/>
              </a:rPr>
              <a:t>Ｑ</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問題：</a:t>
            </a:r>
            <a:r>
              <a:rPr lang="en-US" altLang="zh-TW" sz="1600" b="1"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在環球影城購買紀念品或是用餐時，你會發現園區非常強調</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「減塑」。請問下列哪一項是 </a:t>
            </a:r>
            <a:r>
              <a:rPr lang="en" altLang="zh-TW" sz="1600" dirty="0">
                <a:latin typeface="DFYuanLight-B5" panose="020F0309000000000000" pitchFamily="49" charset="-120"/>
                <a:ea typeface="DFYuanLight-B5" panose="020F0309000000000000" pitchFamily="49" charset="-120"/>
              </a:rPr>
              <a:t>USS </a:t>
            </a:r>
            <a:r>
              <a:rPr lang="zh-TW" altLang="en-US" sz="1600" dirty="0">
                <a:latin typeface="DFYuanLight-B5" panose="020F0309000000000000" pitchFamily="49" charset="-120"/>
                <a:ea typeface="DFYuanLight-B5" panose="020F0309000000000000" pitchFamily="49" charset="-120"/>
              </a:rPr>
              <a:t>為了達成 </a:t>
            </a:r>
            <a:r>
              <a:rPr lang="en" altLang="zh-TW" sz="1600" dirty="0">
                <a:latin typeface="DFYuanLight-B5" panose="020F0309000000000000" pitchFamily="49" charset="-120"/>
                <a:ea typeface="DFYuanLight-B5" panose="020F0309000000000000" pitchFamily="49" charset="-120"/>
              </a:rPr>
              <a:t>SDG 12</a:t>
            </a:r>
            <a:r>
              <a:rPr lang="zh-TW" altLang="en" sz="1600" dirty="0">
                <a:latin typeface="DFYuanLight-B5" panose="020F0309000000000000" pitchFamily="49" charset="-120"/>
                <a:ea typeface="DFYuanLight-B5" panose="020F0309000000000000" pitchFamily="49" charset="-120"/>
              </a:rPr>
              <a:t>（</a:t>
            </a:r>
            <a:r>
              <a:rPr lang="zh-TW" altLang="en-US" sz="1600" dirty="0">
                <a:latin typeface="DFYuanLight-B5" panose="020F0309000000000000" pitchFamily="49" charset="-120"/>
                <a:ea typeface="DFYuanLight-B5" panose="020F0309000000000000" pitchFamily="49" charset="-120"/>
              </a:rPr>
              <a:t>責任消</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費與生產） 所做的具體改變？ </a:t>
            </a:r>
            <a:endParaRPr lang="en-US" altLang="zh-TW" sz="1600" dirty="0">
              <a:latin typeface="DFYuanLight-B5" panose="020F0309000000000000" pitchFamily="49" charset="-120"/>
              <a:ea typeface="DFYuanLight-B5" panose="020F0309000000000000" pitchFamily="49" charset="-120"/>
            </a:endParaRPr>
          </a:p>
          <a:p>
            <a:pPr marL="1516063" indent="-401638">
              <a:lnSpc>
                <a:spcPts val="1800"/>
              </a:lnSpc>
            </a:pPr>
            <a:r>
              <a:rPr lang="en-US" altLang="zh-TW" sz="1600" dirty="0">
                <a:latin typeface="DFYuanLight-B5" panose="020F0309000000000000" pitchFamily="49" charset="-120"/>
                <a:ea typeface="DFYuanLight-B5" panose="020F0309000000000000" pitchFamily="49" charset="-120"/>
              </a:rPr>
              <a:t>(A) </a:t>
            </a:r>
            <a:r>
              <a:rPr lang="zh-TW" altLang="en-US" sz="1600" dirty="0">
                <a:latin typeface="DFYuanLight-B5" panose="020F0309000000000000" pitchFamily="49" charset="-120"/>
                <a:ea typeface="DFYuanLight-B5" panose="020F0309000000000000" pitchFamily="49" charset="-120"/>
              </a:rPr>
              <a:t>規定所有遊客必須自帶碗筷進入園區</a:t>
            </a:r>
          </a:p>
          <a:p>
            <a:pPr marL="1516063" indent="-401638">
              <a:lnSpc>
                <a:spcPts val="1800"/>
              </a:lnSpc>
            </a:pPr>
            <a:r>
              <a:rPr lang="en-US" altLang="zh-TW" sz="1600" dirty="0">
                <a:latin typeface="DFYuanLight-B5" panose="020F0309000000000000" pitchFamily="49" charset="-120"/>
                <a:ea typeface="DFYuanLight-B5" panose="020F0309000000000000" pitchFamily="49" charset="-120"/>
              </a:rPr>
              <a:t>(B) </a:t>
            </a:r>
            <a:r>
              <a:rPr lang="zh-TW" altLang="en-US" sz="1600" dirty="0">
                <a:latin typeface="DFYuanLight-B5" panose="020F0309000000000000" pitchFamily="49" charset="-120"/>
                <a:ea typeface="DFYuanLight-B5" panose="020F0309000000000000" pitchFamily="49" charset="-120"/>
              </a:rPr>
              <a:t>所有的紀念品只能用手拿，不提供任何包裝</a:t>
            </a:r>
          </a:p>
          <a:p>
            <a:pPr marL="1516063" indent="-401638">
              <a:lnSpc>
                <a:spcPts val="1800"/>
              </a:lnSpc>
            </a:pPr>
            <a:r>
              <a:rPr lang="en-US" altLang="zh-TW" sz="1600" dirty="0">
                <a:latin typeface="DFYuanLight-B5" panose="020F0309000000000000" pitchFamily="49" charset="-120"/>
                <a:ea typeface="DFYuanLight-B5" panose="020F0309000000000000" pitchFamily="49" charset="-120"/>
              </a:rPr>
              <a:t>(C) </a:t>
            </a:r>
            <a:r>
              <a:rPr lang="zh-TW" altLang="en-US" sz="1600" dirty="0">
                <a:latin typeface="DFYuanLight-B5" panose="020F0309000000000000" pitchFamily="49" charset="-120"/>
                <a:ea typeface="DFYuanLight-B5" panose="020F0309000000000000" pitchFamily="49" charset="-120"/>
              </a:rPr>
              <a:t>停止提供一次性塑膠吸管，並將外帶包裝換成可生物分解的材料</a:t>
            </a:r>
          </a:p>
          <a:p>
            <a:pPr marL="1516063" indent="-401638">
              <a:lnSpc>
                <a:spcPts val="1800"/>
              </a:lnSpc>
            </a:pPr>
            <a:r>
              <a:rPr lang="en-US" altLang="zh-TW" sz="1600" dirty="0">
                <a:latin typeface="DFYuanLight-B5" panose="020F0309000000000000" pitchFamily="49" charset="-120"/>
                <a:ea typeface="DFYuanLight-B5" panose="020F0309000000000000" pitchFamily="49" charset="-120"/>
              </a:rPr>
              <a:t>(D) </a:t>
            </a:r>
            <a:r>
              <a:rPr lang="zh-TW" altLang="en-US" sz="1600" dirty="0">
                <a:latin typeface="DFYuanLight-B5" panose="020F0309000000000000" pitchFamily="49" charset="-120"/>
                <a:ea typeface="DFYuanLight-B5" panose="020F0309000000000000" pitchFamily="49" charset="-120"/>
              </a:rPr>
              <a:t>規定遊客離開時必須帶走一公斤的園區垃圾</a:t>
            </a:r>
          </a:p>
          <a:p>
            <a:pPr>
              <a:lnSpc>
                <a:spcPts val="1800"/>
              </a:lnSpc>
            </a:pPr>
            <a:r>
              <a:rPr lang="zh-TW" altLang="en-US" sz="1600" b="1" dirty="0">
                <a:latin typeface="DFYuanLight-B5" panose="020F0309000000000000" pitchFamily="49" charset="-120"/>
                <a:ea typeface="DFYuanLight-B5" panose="020F0309000000000000" pitchFamily="49" charset="-120"/>
              </a:rPr>
              <a:t>Ａ</a:t>
            </a:r>
            <a:r>
              <a:rPr lang="en-US" altLang="zh-TW" sz="1600" b="1" dirty="0">
                <a:latin typeface="DFYuanLight-B5" panose="020F0309000000000000" pitchFamily="49" charset="-120"/>
                <a:ea typeface="DFYuanLight-B5" panose="020F0309000000000000" pitchFamily="49" charset="-120"/>
              </a:rPr>
              <a:t>.</a:t>
            </a:r>
            <a:r>
              <a:rPr lang="zh-TW" altLang="en-US" sz="1600" b="1" dirty="0">
                <a:latin typeface="DFYuanLight-B5" panose="020F0309000000000000" pitchFamily="49" charset="-120"/>
                <a:ea typeface="DFYuanLight-B5" panose="020F0309000000000000" pitchFamily="49" charset="-120"/>
              </a:rPr>
              <a:t>答案：</a:t>
            </a:r>
            <a:r>
              <a:rPr lang="en-US" altLang="zh-TW" sz="1600" dirty="0">
                <a:highlight>
                  <a:srgbClr val="FFFF00"/>
                </a:highlight>
                <a:latin typeface="DFYuanLight-B5" panose="020F0309000000000000" pitchFamily="49" charset="-120"/>
                <a:ea typeface="DFYuanLight-B5" panose="020F0309000000000000" pitchFamily="49" charset="-120"/>
              </a:rPr>
              <a:t>(C</a:t>
            </a:r>
            <a:r>
              <a:rPr lang="en" altLang="zh-TW" sz="1600" dirty="0">
                <a:highlight>
                  <a:srgbClr val="FFFF00"/>
                </a:highlight>
                <a:latin typeface="DFYuanLight-B5" panose="020F0309000000000000" pitchFamily="49" charset="-120"/>
                <a:ea typeface="DFYuanLight-B5" panose="020F0309000000000000" pitchFamily="49" charset="-120"/>
              </a:rPr>
              <a:t>)</a:t>
            </a:r>
          </a:p>
          <a:p>
            <a:pPr marL="285750" indent="-285750">
              <a:lnSpc>
                <a:spcPts val="1800"/>
              </a:lnSpc>
              <a:buFont typeface="Wingdings" pitchFamily="2" charset="2"/>
              <a:buChar char="Ø"/>
            </a:pPr>
            <a:r>
              <a:rPr lang="zh-TW" altLang="en-US" sz="1600" b="1" dirty="0">
                <a:latin typeface="DFYuanLight-B5" panose="020F0309000000000000" pitchFamily="49" charset="-120"/>
                <a:ea typeface="DFYuanLight-B5" panose="020F0309000000000000" pitchFamily="49" charset="-120"/>
              </a:rPr>
              <a:t>解析：</a:t>
            </a:r>
            <a:r>
              <a:rPr lang="zh-TW" altLang="en-US" sz="1600" dirty="0">
                <a:latin typeface="DFYuanLight-B5" panose="020F0309000000000000" pitchFamily="49" charset="-120"/>
                <a:ea typeface="DFYuanLight-B5" panose="020F0309000000000000" pitchFamily="49" charset="-120"/>
              </a:rPr>
              <a:t>為了落實 </a:t>
            </a:r>
            <a:r>
              <a:rPr lang="en" altLang="zh-TW" sz="1600" dirty="0">
                <a:latin typeface="DFYuanLight-B5" panose="020F0309000000000000" pitchFamily="49" charset="-120"/>
                <a:ea typeface="DFYuanLight-B5" panose="020F0309000000000000" pitchFamily="49" charset="-120"/>
              </a:rPr>
              <a:t>SDG 12</a:t>
            </a:r>
            <a:r>
              <a:rPr lang="zh-TW" altLang="en" sz="1600" dirty="0">
                <a:latin typeface="DFYuanLight-B5" panose="020F0309000000000000" pitchFamily="49" charset="-120"/>
                <a:ea typeface="DFYuanLight-B5" panose="020F0309000000000000" pitchFamily="49" charset="-120"/>
              </a:rPr>
              <a:t>，</a:t>
            </a:r>
            <a:r>
              <a:rPr lang="en" altLang="zh-TW" sz="1600" dirty="0">
                <a:latin typeface="DFYuanLight-B5" panose="020F0309000000000000" pitchFamily="49" charset="-120"/>
                <a:ea typeface="DFYuanLight-B5" panose="020F0309000000000000" pitchFamily="49" charset="-120"/>
              </a:rPr>
              <a:t>USS </a:t>
            </a:r>
            <a:r>
              <a:rPr lang="zh-TW" altLang="en-US" sz="1600" dirty="0">
                <a:latin typeface="DFYuanLight-B5" panose="020F0309000000000000" pitchFamily="49" charset="-120"/>
                <a:ea typeface="DFYuanLight-B5" panose="020F0309000000000000" pitchFamily="49" charset="-120"/>
              </a:rPr>
              <a:t>與聖淘沙各景點同步推動「減塑行動」。</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透過取消自動提供塑膠吸管以及更換環保餐具，每年減少了數</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百萬件的一次性塑膠垃圾，保護了聖淘沙周邊的海洋生態（也</a:t>
            </a:r>
            <a:endParaRPr lang="en-US" altLang="zh-TW" sz="1600" dirty="0">
              <a:latin typeface="DFYuanLight-B5" panose="020F0309000000000000" pitchFamily="49" charset="-120"/>
              <a:ea typeface="DFYuanLight-B5" panose="020F0309000000000000" pitchFamily="49" charset="-120"/>
            </a:endParaRPr>
          </a:p>
          <a:p>
            <a:pPr>
              <a:lnSpc>
                <a:spcPts val="1800"/>
              </a:lnSpc>
            </a:pPr>
            <a:r>
              <a:rPr lang="en-US" altLang="zh-TW" sz="1600" dirty="0">
                <a:latin typeface="DFYuanLight-B5" panose="020F0309000000000000" pitchFamily="49" charset="-120"/>
                <a:ea typeface="DFYuanLight-B5" panose="020F0309000000000000" pitchFamily="49" charset="-120"/>
              </a:rPr>
              <a:t>         </a:t>
            </a:r>
            <a:r>
              <a:rPr lang="zh-TW" altLang="en-US" sz="1600" dirty="0">
                <a:latin typeface="DFYuanLight-B5" panose="020F0309000000000000" pitchFamily="49" charset="-120"/>
                <a:ea typeface="DFYuanLight-B5" panose="020F0309000000000000" pitchFamily="49" charset="-120"/>
              </a:rPr>
              <a:t>連帶支持了 </a:t>
            </a:r>
            <a:r>
              <a:rPr lang="en" altLang="zh-TW" sz="1600" dirty="0">
                <a:latin typeface="DFYuanLight-B5" panose="020F0309000000000000" pitchFamily="49" charset="-120"/>
                <a:ea typeface="DFYuanLight-B5" panose="020F0309000000000000" pitchFamily="49" charset="-120"/>
              </a:rPr>
              <a:t>SDG 14 </a:t>
            </a:r>
            <a:r>
              <a:rPr lang="zh-TW" altLang="en-US" sz="1600" dirty="0">
                <a:latin typeface="DFYuanLight-B5" panose="020F0309000000000000" pitchFamily="49" charset="-120"/>
                <a:ea typeface="DFYuanLight-B5" panose="020F0309000000000000" pitchFamily="49" charset="-120"/>
              </a:rPr>
              <a:t>海洋生態）。</a:t>
            </a:r>
            <a:endParaRPr lang="en" altLang="zh-TW" sz="1600" b="1" dirty="0">
              <a:latin typeface="DFYuanLight-B5" panose="020F0309000000000000" pitchFamily="49" charset="-120"/>
              <a:ea typeface="DFYuanLight-B5" panose="020F0309000000000000" pitchFamily="49" charset="-120"/>
            </a:endParaRPr>
          </a:p>
        </p:txBody>
      </p:sp>
    </p:spTree>
    <p:extLst>
      <p:ext uri="{BB962C8B-B14F-4D97-AF65-F5344CB8AC3E}">
        <p14:creationId xmlns:p14="http://schemas.microsoft.com/office/powerpoint/2010/main" val="3618013646"/>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佈景主題">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320</TotalTime>
  <Words>4882</Words>
  <Application>Microsoft Macintosh PowerPoint</Application>
  <PresentationFormat>A4 紙張 (210x297 公釐)</PresentationFormat>
  <Paragraphs>382</Paragraphs>
  <Slides>13</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13</vt:i4>
      </vt:variant>
    </vt:vector>
  </HeadingPairs>
  <TitlesOfParts>
    <vt:vector size="21" baseType="lpstr">
      <vt:lpstr>DFPYuanBold-B5</vt:lpstr>
      <vt:lpstr>DFYuanBold-B5</vt:lpstr>
      <vt:lpstr>DFYuanLight-B5</vt:lpstr>
      <vt:lpstr>Aptos</vt:lpstr>
      <vt:lpstr>Aptos Display</vt:lpstr>
      <vt:lpstr>Arial</vt:lpstr>
      <vt:lpstr>Wingdings</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Beatrice Chen</dc:creator>
  <cp:lastModifiedBy>Beatrice Chen</cp:lastModifiedBy>
  <cp:revision>1</cp:revision>
  <dcterms:created xsi:type="dcterms:W3CDTF">2026-05-12T03:08:38Z</dcterms:created>
  <dcterms:modified xsi:type="dcterms:W3CDTF">2026-05-12T08:28:58Z</dcterms:modified>
</cp:coreProperties>
</file>